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6.xml" ContentType="application/vnd.openxmlformats-officedocument.theme+xml"/>
  <Override PartName="/ppt/slideLayouts/slideLayout9.xml" ContentType="application/vnd.openxmlformats-officedocument.presentationml.slideLayout+xml"/>
  <Override PartName="/ppt/theme/theme7.xml" ContentType="application/vnd.openxmlformats-officedocument.theme+xml"/>
  <Override PartName="/ppt/slideLayouts/slideLayout1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Lst>
  <p:notesMasterIdLst>
    <p:notesMasterId r:id="rId74"/>
  </p:notesMasterIdLst>
  <p:sldIdLst>
    <p:sldId id="256" r:id="rId9"/>
    <p:sldId id="257" r:id="rId10"/>
    <p:sldId id="258" r:id="rId11"/>
    <p:sldId id="259" r:id="rId12"/>
    <p:sldId id="323" r:id="rId13"/>
    <p:sldId id="305" r:id="rId14"/>
    <p:sldId id="262" r:id="rId15"/>
    <p:sldId id="265" r:id="rId16"/>
    <p:sldId id="263" r:id="rId17"/>
    <p:sldId id="264" r:id="rId18"/>
    <p:sldId id="272" r:id="rId19"/>
    <p:sldId id="306" r:id="rId20"/>
    <p:sldId id="267" r:id="rId21"/>
    <p:sldId id="307" r:id="rId22"/>
    <p:sldId id="308" r:id="rId23"/>
    <p:sldId id="309" r:id="rId24"/>
    <p:sldId id="310" r:id="rId25"/>
    <p:sldId id="311" r:id="rId26"/>
    <p:sldId id="315" r:id="rId27"/>
    <p:sldId id="312" r:id="rId28"/>
    <p:sldId id="313" r:id="rId29"/>
    <p:sldId id="314" r:id="rId30"/>
    <p:sldId id="316" r:id="rId31"/>
    <p:sldId id="317" r:id="rId32"/>
    <p:sldId id="318" r:id="rId33"/>
    <p:sldId id="319" r:id="rId34"/>
    <p:sldId id="320" r:id="rId35"/>
    <p:sldId id="324" r:id="rId36"/>
    <p:sldId id="325" r:id="rId37"/>
    <p:sldId id="268" r:id="rId38"/>
    <p:sldId id="269" r:id="rId39"/>
    <p:sldId id="270" r:id="rId40"/>
    <p:sldId id="271" r:id="rId41"/>
    <p:sldId id="273" r:id="rId42"/>
    <p:sldId id="274" r:id="rId43"/>
    <p:sldId id="275" r:id="rId44"/>
    <p:sldId id="276" r:id="rId45"/>
    <p:sldId id="277" r:id="rId46"/>
    <p:sldId id="278" r:id="rId47"/>
    <p:sldId id="279" r:id="rId48"/>
    <p:sldId id="280" r:id="rId49"/>
    <p:sldId id="281" r:id="rId50"/>
    <p:sldId id="282" r:id="rId51"/>
    <p:sldId id="283" r:id="rId52"/>
    <p:sldId id="284" r:id="rId53"/>
    <p:sldId id="285" r:id="rId54"/>
    <p:sldId id="286" r:id="rId55"/>
    <p:sldId id="287" r:id="rId56"/>
    <p:sldId id="288" r:id="rId57"/>
    <p:sldId id="289" r:id="rId58"/>
    <p:sldId id="290" r:id="rId59"/>
    <p:sldId id="291" r:id="rId60"/>
    <p:sldId id="292" r:id="rId61"/>
    <p:sldId id="293" r:id="rId62"/>
    <p:sldId id="294" r:id="rId63"/>
    <p:sldId id="295" r:id="rId64"/>
    <p:sldId id="296" r:id="rId65"/>
    <p:sldId id="297" r:id="rId66"/>
    <p:sldId id="298" r:id="rId67"/>
    <p:sldId id="299" r:id="rId68"/>
    <p:sldId id="300" r:id="rId69"/>
    <p:sldId id="301" r:id="rId70"/>
    <p:sldId id="302" r:id="rId71"/>
    <p:sldId id="303" r:id="rId72"/>
    <p:sldId id="304" r:id="rId7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5" roundtripDataSignature="AMtx7mjgw/QRYvm2huyqgLzeY5E+Og3XZ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AB51536-194C-4DF1-BF3E-D65146005E30}">
  <a:tblStyle styleId="{BAB51536-194C-4DF1-BF3E-D65146005E30}" styleName="Table_0">
    <a:wholeTbl>
      <a:tcTxStyle>
        <a:font>
          <a:latin typeface="Arial"/>
          <a:ea typeface="Arial"/>
          <a:cs typeface="Arial"/>
        </a:font>
        <a:srgbClr val="000000"/>
      </a:tcTxStyle>
      <a:tcStyle>
        <a:tcBdr>
          <a:left>
            <a:ln w="6350" cap="flat" cmpd="sng">
              <a:solidFill>
                <a:srgbClr val="000000"/>
              </a:solidFill>
              <a:prstDash val="solid"/>
              <a:round/>
              <a:headEnd type="none" w="sm" len="sm"/>
              <a:tailEnd type="none" w="sm" len="sm"/>
            </a:ln>
          </a:left>
          <a:right>
            <a:ln w="6350" cap="flat" cmpd="sng">
              <a:solidFill>
                <a:srgbClr val="000000"/>
              </a:solidFill>
              <a:prstDash val="solid"/>
              <a:round/>
              <a:headEnd type="none" w="sm" len="sm"/>
              <a:tailEnd type="none" w="sm" len="sm"/>
            </a:ln>
          </a:right>
          <a:top>
            <a:ln w="6350" cap="flat" cmpd="sng">
              <a:solidFill>
                <a:srgbClr val="000000"/>
              </a:solidFill>
              <a:prstDash val="solid"/>
              <a:round/>
              <a:headEnd type="none" w="sm" len="sm"/>
              <a:tailEnd type="none" w="sm" len="sm"/>
            </a:ln>
          </a:top>
          <a:bottom>
            <a:ln w="6350" cap="flat" cmpd="sng">
              <a:solidFill>
                <a:srgbClr val="000000"/>
              </a:solidFill>
              <a:prstDash val="solid"/>
              <a:round/>
              <a:headEnd type="none" w="sm" len="sm"/>
              <a:tailEnd type="none" w="sm" len="sm"/>
            </a:ln>
          </a:bottom>
          <a:insideH>
            <a:ln w="6350" cap="flat" cmpd="sng">
              <a:solidFill>
                <a:srgbClr val="000000"/>
              </a:solidFill>
              <a:prstDash val="solid"/>
              <a:round/>
              <a:headEnd type="none" w="sm" len="sm"/>
              <a:tailEnd type="none" w="sm" len="sm"/>
            </a:ln>
          </a:insideH>
          <a:insideV>
            <a:ln w="635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p:scale>
          <a:sx n="75" d="100"/>
          <a:sy n="75" d="100"/>
        </p:scale>
        <p:origin x="1230" y="77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16" Type="http://schemas.openxmlformats.org/officeDocument/2006/relationships/slide" Target="slides/slide8.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slide" Target="slides/slide58.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slide" Target="slides/slide63.xml"/><Relationship Id="rId2" Type="http://schemas.openxmlformats.org/officeDocument/2006/relationships/slideMaster" Target="slideMasters/slideMaster2.xml"/><Relationship Id="rId29" Type="http://schemas.openxmlformats.org/officeDocument/2006/relationships/slide" Target="slides/slide2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Kuantitas</c:v>
                </c:pt>
              </c:strCache>
            </c:strRef>
          </c:tx>
          <c:spPr>
            <a:solidFill>
              <a:schemeClr val="accent2"/>
            </a:solidFill>
            <a:ln>
              <a:noFill/>
            </a:ln>
            <a:effectLst/>
          </c:spPr>
          <c:invertIfNegative val="0"/>
          <c:cat>
            <c:strRef>
              <c:f>Sheet1!$A$2:$A$14</c:f>
              <c:strCache>
                <c:ptCount val="13"/>
                <c:pt idx="0">
                  <c:v>1-ball</c:v>
                </c:pt>
                <c:pt idx="1">
                  <c:v>2-ball</c:v>
                </c:pt>
                <c:pt idx="2">
                  <c:v>3-ball</c:v>
                </c:pt>
                <c:pt idx="3">
                  <c:v>4-ball</c:v>
                </c:pt>
                <c:pt idx="4">
                  <c:v>5-ball</c:v>
                </c:pt>
                <c:pt idx="5">
                  <c:v>6-ball</c:v>
                </c:pt>
                <c:pt idx="6">
                  <c:v>7-ball</c:v>
                </c:pt>
                <c:pt idx="7">
                  <c:v>8-ball</c:v>
                </c:pt>
                <c:pt idx="8">
                  <c:v>9-ball</c:v>
                </c:pt>
                <c:pt idx="9">
                  <c:v>cue_ball</c:v>
                </c:pt>
                <c:pt idx="10">
                  <c:v>cue_stick</c:v>
                </c:pt>
                <c:pt idx="11">
                  <c:v>pocket</c:v>
                </c:pt>
                <c:pt idx="12">
                  <c:v>rack</c:v>
                </c:pt>
              </c:strCache>
            </c:strRef>
          </c:cat>
          <c:val>
            <c:numRef>
              <c:f>Sheet1!$B$2:$B$14</c:f>
              <c:numCache>
                <c:formatCode>General</c:formatCode>
                <c:ptCount val="13"/>
                <c:pt idx="0">
                  <c:v>607</c:v>
                </c:pt>
                <c:pt idx="1">
                  <c:v>650</c:v>
                </c:pt>
                <c:pt idx="2">
                  <c:v>896</c:v>
                </c:pt>
                <c:pt idx="3">
                  <c:v>950</c:v>
                </c:pt>
                <c:pt idx="4">
                  <c:v>854</c:v>
                </c:pt>
                <c:pt idx="5">
                  <c:v>889</c:v>
                </c:pt>
                <c:pt idx="6">
                  <c:v>954</c:v>
                </c:pt>
                <c:pt idx="7">
                  <c:v>1065</c:v>
                </c:pt>
                <c:pt idx="8">
                  <c:v>1169</c:v>
                </c:pt>
                <c:pt idx="9">
                  <c:v>1254</c:v>
                </c:pt>
                <c:pt idx="10">
                  <c:v>237</c:v>
                </c:pt>
                <c:pt idx="11">
                  <c:v>7016</c:v>
                </c:pt>
                <c:pt idx="12">
                  <c:v>46</c:v>
                </c:pt>
              </c:numCache>
            </c:numRef>
          </c:val>
          <c:extLst>
            <c:ext xmlns:c16="http://schemas.microsoft.com/office/drawing/2014/chart" uri="{C3380CC4-5D6E-409C-BE32-E72D297353CC}">
              <c16:uniqueId val="{00000000-3F50-414F-BA95-AB629B8FBE93}"/>
            </c:ext>
          </c:extLst>
        </c:ser>
        <c:dLbls>
          <c:showLegendKey val="0"/>
          <c:showVal val="0"/>
          <c:showCatName val="0"/>
          <c:showSerName val="0"/>
          <c:showPercent val="0"/>
          <c:showBubbleSize val="0"/>
        </c:dLbls>
        <c:gapWidth val="150"/>
        <c:overlap val="100"/>
        <c:axId val="1618462127"/>
        <c:axId val="1618457967"/>
      </c:barChart>
      <c:catAx>
        <c:axId val="16184621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d-ID"/>
          </a:p>
        </c:txPr>
        <c:crossAx val="1618457967"/>
        <c:crosses val="autoZero"/>
        <c:auto val="1"/>
        <c:lblAlgn val="ctr"/>
        <c:lblOffset val="100"/>
        <c:noMultiLvlLbl val="0"/>
      </c:catAx>
      <c:valAx>
        <c:axId val="16184579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d-ID"/>
          </a:p>
        </c:txPr>
        <c:crossAx val="1618462127"/>
        <c:crosses val="autoZero"/>
        <c:crossBetween val="between"/>
      </c:valAx>
      <c:spPr>
        <a:noFill/>
        <a:ln>
          <a:noFill/>
        </a:ln>
        <a:effectLst/>
      </c:spPr>
    </c:plotArea>
    <c:legend>
      <c:legendPos val="b"/>
      <c:layout>
        <c:manualLayout>
          <c:xMode val="edge"/>
          <c:yMode val="edge"/>
          <c:x val="0.41509571099597009"/>
          <c:y val="0.8986647454069423"/>
          <c:w val="0.16980857800805985"/>
          <c:h val="4.705570999897722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d-ID"/>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id-ID"/>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712c87365b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712c87365b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6f42a3f60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g36f42a3f6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6f42a3f609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36f42a3f609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70ce3e83a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370ce3e83a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59668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3" name="Google Shape;47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928705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70bcdc0c5d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g370bcdc0c5d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70ce3e83ae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370ce3e83a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70ce3e83ae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g370ce3e83ae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70ce3e83a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370ce3e83a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70f4e648af_0_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g370f4e648af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70ce3e83ae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370ce3e83a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370566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711bd63d4f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711bd63d4f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70ce3e83ae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370ce3e83a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8661080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3" name="Google Shape;47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8701116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3" name="Google Shape;47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126250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3" name="Google Shape;47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037186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70f4e648af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370f4e648a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3631554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70f4e648af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370f4e648a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7519374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70f4e648af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370f4e648a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1734219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70f4e648af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370f4e648a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6760009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70f4e648af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370f4e648a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8862608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3" name="Google Shape;47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5903472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3" name="Google Shape;47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8301390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3" name="Google Shape;47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1487530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3" name="Google Shape;47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9391128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3" name="Google Shape;47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1231244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370f4e648af_0_1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g370f4e648af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1878422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370f4e648af_0_1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g370f4e648af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3061678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70f4e648a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g370f4e648a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70f4e648af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g370f4e648a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70f4e648af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370f4e648a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70f4e648af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g370f4e648a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70f4e648af_0_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g370f4e648af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70ce3e83ae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g370ce3e83ae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70f4e648af_0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g370f4e648af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70f4e648af_0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g370f4e648af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70f4e648af_0_1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g370f4e648af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70ce3e83ae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1" name="Google Shape;331;g370ce3e83ae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f4e648af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370f4e648af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70f4e648af_0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 name="Google Shape;345;g370f4e648a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70f4e648af_0_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g370f4e648af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70f4e648af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370f4e648af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70f4e648af_0_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 name="Google Shape;371;g370f4e648af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711bd63d4f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g3711bd63d4f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711bd63d4f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g3711bd63d4f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711bd63d4f_0_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2" name="Google Shape;392;g3711bd63d4f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711bd63d4f_0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2" name="Google Shape;402;g3711bd63d4f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711bd63d4f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8" name="Google Shape;408;g3711bd63d4f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70ce3e83ae_0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6" name="Google Shape;416;g370ce3e83ae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70f4e648af_0_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3" name="Google Shape;423;g370f4e648af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70f4e648af_0_1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g370f4e648af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70ce3e83ae_0_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9" name="Google Shape;439;g370ce3e83ae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70ce3e83ae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g370ce3e83ae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70ce3e83ae_0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4" name="Google Shape;454;g370ce3e83ae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3711bd63d4f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1" name="Google Shape;461;g3711bd63d4f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3711bd63d4f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g3711bd63d4f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3" name="Google Shape;47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70f4e648af_0_1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Mengapa Model lainnya seperti </a:t>
            </a:r>
            <a:r>
              <a:rPr lang="en-US" sz="1400">
                <a:solidFill>
                  <a:schemeClr val="dk1"/>
                </a:solidFill>
              </a:rPr>
              <a:t>EfficientNetV2 atau Vision Transformer (ViT) lebih canggih?</a:t>
            </a:r>
            <a:endParaRPr/>
          </a:p>
        </p:txBody>
      </p:sp>
      <p:sp>
        <p:nvSpPr>
          <p:cNvPr id="480" name="Google Shape;480;g370f4e648af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9" name="Google Shape;48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370f4e648af_0_1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g370f4e648af_0_1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2" name="Google Shape;50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9" name="Google Shape;50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6" name="Google Shape;51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2" name="Google Shape;52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4"/>
        <p:cNvGrpSpPr/>
        <p:nvPr/>
      </p:nvGrpSpPr>
      <p:grpSpPr>
        <a:xfrm>
          <a:off x="0" y="0"/>
          <a:ext cx="0" cy="0"/>
          <a:chOff x="0" y="0"/>
          <a:chExt cx="0" cy="0"/>
        </a:xfrm>
      </p:grpSpPr>
      <p:sp>
        <p:nvSpPr>
          <p:cNvPr id="15" name="Google Shape;15;p13"/>
          <p:cNvSpPr txBox="1">
            <a:spLocks noGrp="1"/>
          </p:cNvSpPr>
          <p:nvPr>
            <p:ph type="ctrTitle"/>
          </p:nvPr>
        </p:nvSpPr>
        <p:spPr>
          <a:xfrm>
            <a:off x="443345" y="2988108"/>
            <a:ext cx="7001164" cy="2387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26E21"/>
              </a:buClr>
              <a:buSzPts val="8000"/>
              <a:buFont typeface="Arial"/>
              <a:buNone/>
              <a:defRPr sz="8000" b="1">
                <a:solidFill>
                  <a:srgbClr val="F26E21"/>
                </a:solidFill>
                <a:latin typeface="Arial"/>
                <a:ea typeface="Arial"/>
                <a:cs typeface="Arial"/>
                <a:sym typeface="Arial"/>
              </a:defRPr>
            </a:lvl1pPr>
            <a:lvl2pPr lvl="1" algn="l">
              <a:lnSpc>
                <a:spcPct val="100000"/>
              </a:lnSpc>
              <a:spcBef>
                <a:spcPts val="0"/>
              </a:spcBef>
              <a:spcAft>
                <a:spcPts val="0"/>
              </a:spcAft>
              <a:buClr>
                <a:srgbClr val="000000"/>
              </a:buClr>
              <a:buSzPts val="1400"/>
              <a:buFont typeface="Arial"/>
              <a:buNone/>
              <a:defRPr/>
            </a:lvl2pPr>
            <a:lvl3pPr lvl="2" algn="l">
              <a:lnSpc>
                <a:spcPct val="100000"/>
              </a:lnSpc>
              <a:spcBef>
                <a:spcPts val="0"/>
              </a:spcBef>
              <a:spcAft>
                <a:spcPts val="0"/>
              </a:spcAft>
              <a:buClr>
                <a:srgbClr val="000000"/>
              </a:buClr>
              <a:buSzPts val="1400"/>
              <a:buFont typeface="Arial"/>
              <a:buNone/>
              <a:defRPr/>
            </a:lvl3pPr>
            <a:lvl4pPr lvl="3" algn="l">
              <a:lnSpc>
                <a:spcPct val="100000"/>
              </a:lnSpc>
              <a:spcBef>
                <a:spcPts val="0"/>
              </a:spcBef>
              <a:spcAft>
                <a:spcPts val="0"/>
              </a:spcAft>
              <a:buClr>
                <a:srgbClr val="000000"/>
              </a:buClr>
              <a:buSzPts val="1400"/>
              <a:buFont typeface="Arial"/>
              <a:buNone/>
              <a:defRPr/>
            </a:lvl4pPr>
            <a:lvl5pPr lvl="4" algn="l">
              <a:lnSpc>
                <a:spcPct val="100000"/>
              </a:lnSpc>
              <a:spcBef>
                <a:spcPts val="0"/>
              </a:spcBef>
              <a:spcAft>
                <a:spcPts val="0"/>
              </a:spcAft>
              <a:buClr>
                <a:srgbClr val="000000"/>
              </a:buClr>
              <a:buSzPts val="1400"/>
              <a:buFont typeface="Arial"/>
              <a:buNone/>
              <a:defRPr/>
            </a:lvl5pPr>
            <a:lvl6pPr lvl="5" algn="l">
              <a:lnSpc>
                <a:spcPct val="100000"/>
              </a:lnSpc>
              <a:spcBef>
                <a:spcPts val="0"/>
              </a:spcBef>
              <a:spcAft>
                <a:spcPts val="0"/>
              </a:spcAft>
              <a:buClr>
                <a:srgbClr val="000000"/>
              </a:buClr>
              <a:buSzPts val="1400"/>
              <a:buFont typeface="Arial"/>
              <a:buNone/>
              <a:defRPr/>
            </a:lvl6pPr>
            <a:lvl7pPr lvl="6" algn="l">
              <a:lnSpc>
                <a:spcPct val="100000"/>
              </a:lnSpc>
              <a:spcBef>
                <a:spcPts val="0"/>
              </a:spcBef>
              <a:spcAft>
                <a:spcPts val="0"/>
              </a:spcAft>
              <a:buClr>
                <a:srgbClr val="000000"/>
              </a:buClr>
              <a:buSzPts val="1400"/>
              <a:buFont typeface="Arial"/>
              <a:buNone/>
              <a:defRPr/>
            </a:lvl7pPr>
            <a:lvl8pPr lvl="7" algn="l">
              <a:lnSpc>
                <a:spcPct val="100000"/>
              </a:lnSpc>
              <a:spcBef>
                <a:spcPts val="0"/>
              </a:spcBef>
              <a:spcAft>
                <a:spcPts val="0"/>
              </a:spcAft>
              <a:buClr>
                <a:srgbClr val="000000"/>
              </a:buClr>
              <a:buSzPts val="1400"/>
              <a:buFont typeface="Arial"/>
              <a:buNone/>
              <a:defRPr/>
            </a:lvl8pPr>
            <a:lvl9pPr lvl="8" algn="l">
              <a:lnSpc>
                <a:spcPct val="100000"/>
              </a:lnSpc>
              <a:spcBef>
                <a:spcPts val="0"/>
              </a:spcBef>
              <a:spcAft>
                <a:spcPts val="0"/>
              </a:spcAft>
              <a:buClr>
                <a:srgbClr val="000000"/>
              </a:buClr>
              <a:buSzPts val="1400"/>
              <a:buFont typeface="Arial"/>
              <a:buNone/>
              <a:defRPr/>
            </a:lvl9pPr>
          </a:lstStyle>
          <a:p>
            <a:endParaRPr/>
          </a:p>
        </p:txBody>
      </p:sp>
      <p:sp>
        <p:nvSpPr>
          <p:cNvPr id="16" name="Google Shape;16;p13"/>
          <p:cNvSpPr txBox="1">
            <a:spLocks noGrp="1"/>
          </p:cNvSpPr>
          <p:nvPr>
            <p:ph type="subTitle" idx="1"/>
          </p:nvPr>
        </p:nvSpPr>
        <p:spPr>
          <a:xfrm>
            <a:off x="443344" y="2271424"/>
            <a:ext cx="7001163" cy="45272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2400"/>
              <a:buFont typeface="Arial"/>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Font typeface="Arial"/>
              <a:buNone/>
              <a:defRPr sz="2000"/>
            </a:lvl2pPr>
            <a:lvl3pPr lvl="2" algn="ctr">
              <a:lnSpc>
                <a:spcPct val="90000"/>
              </a:lnSpc>
              <a:spcBef>
                <a:spcPts val="500"/>
              </a:spcBef>
              <a:spcAft>
                <a:spcPts val="0"/>
              </a:spcAft>
              <a:buClr>
                <a:schemeClr val="dk1"/>
              </a:buClr>
              <a:buSzPts val="1800"/>
              <a:buFont typeface="Arial"/>
              <a:buNone/>
              <a:defRPr sz="1800"/>
            </a:lvl3pPr>
            <a:lvl4pPr lvl="3" algn="ctr">
              <a:lnSpc>
                <a:spcPct val="90000"/>
              </a:lnSpc>
              <a:spcBef>
                <a:spcPts val="500"/>
              </a:spcBef>
              <a:spcAft>
                <a:spcPts val="0"/>
              </a:spcAft>
              <a:buClr>
                <a:schemeClr val="dk1"/>
              </a:buClr>
              <a:buSzPts val="1600"/>
              <a:buFont typeface="Arial"/>
              <a:buNone/>
              <a:defRPr sz="1600"/>
            </a:lvl4pPr>
            <a:lvl5pPr lvl="4" algn="ctr">
              <a:lnSpc>
                <a:spcPct val="90000"/>
              </a:lnSpc>
              <a:spcBef>
                <a:spcPts val="500"/>
              </a:spcBef>
              <a:spcAft>
                <a:spcPts val="0"/>
              </a:spcAft>
              <a:buClr>
                <a:schemeClr val="dk1"/>
              </a:buClr>
              <a:buSzPts val="1600"/>
              <a:buFont typeface="Arial"/>
              <a:buNone/>
              <a:defRPr sz="1600"/>
            </a:lvl5pPr>
            <a:lvl6pPr lvl="5" algn="ctr">
              <a:lnSpc>
                <a:spcPct val="90000"/>
              </a:lnSpc>
              <a:spcBef>
                <a:spcPts val="500"/>
              </a:spcBef>
              <a:spcAft>
                <a:spcPts val="0"/>
              </a:spcAft>
              <a:buClr>
                <a:schemeClr val="dk1"/>
              </a:buClr>
              <a:buSzPts val="1600"/>
              <a:buFont typeface="Arial"/>
              <a:buNone/>
              <a:defRPr sz="1600"/>
            </a:lvl6pPr>
            <a:lvl7pPr lvl="6" algn="ctr">
              <a:lnSpc>
                <a:spcPct val="90000"/>
              </a:lnSpc>
              <a:spcBef>
                <a:spcPts val="500"/>
              </a:spcBef>
              <a:spcAft>
                <a:spcPts val="0"/>
              </a:spcAft>
              <a:buClr>
                <a:schemeClr val="dk1"/>
              </a:buClr>
              <a:buSzPts val="1600"/>
              <a:buFont typeface="Arial"/>
              <a:buNone/>
              <a:defRPr sz="1600"/>
            </a:lvl7pPr>
            <a:lvl8pPr lvl="7" algn="ctr">
              <a:lnSpc>
                <a:spcPct val="90000"/>
              </a:lnSpc>
              <a:spcBef>
                <a:spcPts val="500"/>
              </a:spcBef>
              <a:spcAft>
                <a:spcPts val="0"/>
              </a:spcAft>
              <a:buClr>
                <a:schemeClr val="dk1"/>
              </a:buClr>
              <a:buSzPts val="1600"/>
              <a:buFont typeface="Arial"/>
              <a:buNone/>
              <a:defRPr sz="1600"/>
            </a:lvl8pPr>
            <a:lvl9pPr lvl="8" algn="ctr">
              <a:lnSpc>
                <a:spcPct val="90000"/>
              </a:lnSpc>
              <a:spcBef>
                <a:spcPts val="500"/>
              </a:spcBef>
              <a:spcAft>
                <a:spcPts val="0"/>
              </a:spcAft>
              <a:buClr>
                <a:schemeClr val="dk1"/>
              </a:buClr>
              <a:buSzPts val="1600"/>
              <a:buFont typeface="Arial"/>
              <a:buNone/>
              <a:defRPr sz="1600"/>
            </a:lvl9pPr>
          </a:lstStyle>
          <a:p>
            <a:endParaRPr/>
          </a:p>
        </p:txBody>
      </p:sp>
      <p:sp>
        <p:nvSpPr>
          <p:cNvPr id="17" name="Google Shape;17;p13"/>
          <p:cNvSpPr>
            <a:spLocks noGrp="1"/>
          </p:cNvSpPr>
          <p:nvPr>
            <p:ph type="pic" idx="2"/>
          </p:nvPr>
        </p:nvSpPr>
        <p:spPr>
          <a:xfrm>
            <a:off x="7823200" y="0"/>
            <a:ext cx="4368800" cy="6858000"/>
          </a:xfrm>
          <a:prstGeom prst="rect">
            <a:avLst/>
          </a:prstGeom>
          <a:noFill/>
          <a:ln>
            <a:noFill/>
          </a:ln>
        </p:spPr>
      </p:sp>
      <p:sp>
        <p:nvSpPr>
          <p:cNvPr id="18" name="Google Shape;1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Content_Layout 1">
  <p:cSld name="Title &amp; Content_Layout 1">
    <p:spTree>
      <p:nvGrpSpPr>
        <p:cNvPr id="1" name="Shape 30"/>
        <p:cNvGrpSpPr/>
        <p:nvPr/>
      </p:nvGrpSpPr>
      <p:grpSpPr>
        <a:xfrm>
          <a:off x="0" y="0"/>
          <a:ext cx="0" cy="0"/>
          <a:chOff x="0" y="0"/>
          <a:chExt cx="0" cy="0"/>
        </a:xfrm>
      </p:grpSpPr>
      <p:sp>
        <p:nvSpPr>
          <p:cNvPr id="31" name="Google Shape;31;p15"/>
          <p:cNvSpPr txBox="1">
            <a:spLocks noGrp="1"/>
          </p:cNvSpPr>
          <p:nvPr>
            <p:ph type="title"/>
          </p:nvPr>
        </p:nvSpPr>
        <p:spPr>
          <a:xfrm>
            <a:off x="563418" y="2103437"/>
            <a:ext cx="470130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b="1">
                <a:solidFill>
                  <a:schemeClr val="lt1"/>
                </a:solidFill>
                <a:latin typeface="Arial"/>
                <a:ea typeface="Arial"/>
                <a:cs typeface="Arial"/>
                <a:sym typeface="Arial"/>
              </a:defRPr>
            </a:lvl1pPr>
            <a:lvl2pPr lvl="1" algn="l">
              <a:lnSpc>
                <a:spcPct val="100000"/>
              </a:lnSpc>
              <a:spcBef>
                <a:spcPts val="0"/>
              </a:spcBef>
              <a:spcAft>
                <a:spcPts val="0"/>
              </a:spcAft>
              <a:buClr>
                <a:srgbClr val="000000"/>
              </a:buClr>
              <a:buSzPts val="1400"/>
              <a:buFont typeface="Arial"/>
              <a:buNone/>
              <a:defRPr/>
            </a:lvl2pPr>
            <a:lvl3pPr lvl="2" algn="l">
              <a:lnSpc>
                <a:spcPct val="100000"/>
              </a:lnSpc>
              <a:spcBef>
                <a:spcPts val="0"/>
              </a:spcBef>
              <a:spcAft>
                <a:spcPts val="0"/>
              </a:spcAft>
              <a:buClr>
                <a:srgbClr val="000000"/>
              </a:buClr>
              <a:buSzPts val="1400"/>
              <a:buFont typeface="Arial"/>
              <a:buNone/>
              <a:defRPr/>
            </a:lvl3pPr>
            <a:lvl4pPr lvl="3" algn="l">
              <a:lnSpc>
                <a:spcPct val="100000"/>
              </a:lnSpc>
              <a:spcBef>
                <a:spcPts val="0"/>
              </a:spcBef>
              <a:spcAft>
                <a:spcPts val="0"/>
              </a:spcAft>
              <a:buClr>
                <a:srgbClr val="000000"/>
              </a:buClr>
              <a:buSzPts val="1400"/>
              <a:buFont typeface="Arial"/>
              <a:buNone/>
              <a:defRPr/>
            </a:lvl4pPr>
            <a:lvl5pPr lvl="4" algn="l">
              <a:lnSpc>
                <a:spcPct val="100000"/>
              </a:lnSpc>
              <a:spcBef>
                <a:spcPts val="0"/>
              </a:spcBef>
              <a:spcAft>
                <a:spcPts val="0"/>
              </a:spcAft>
              <a:buClr>
                <a:srgbClr val="000000"/>
              </a:buClr>
              <a:buSzPts val="1400"/>
              <a:buFont typeface="Arial"/>
              <a:buNone/>
              <a:defRPr/>
            </a:lvl5pPr>
            <a:lvl6pPr lvl="5" algn="l">
              <a:lnSpc>
                <a:spcPct val="100000"/>
              </a:lnSpc>
              <a:spcBef>
                <a:spcPts val="0"/>
              </a:spcBef>
              <a:spcAft>
                <a:spcPts val="0"/>
              </a:spcAft>
              <a:buClr>
                <a:srgbClr val="000000"/>
              </a:buClr>
              <a:buSzPts val="1400"/>
              <a:buFont typeface="Arial"/>
              <a:buNone/>
              <a:defRPr/>
            </a:lvl6pPr>
            <a:lvl7pPr lvl="6" algn="l">
              <a:lnSpc>
                <a:spcPct val="100000"/>
              </a:lnSpc>
              <a:spcBef>
                <a:spcPts val="0"/>
              </a:spcBef>
              <a:spcAft>
                <a:spcPts val="0"/>
              </a:spcAft>
              <a:buClr>
                <a:srgbClr val="000000"/>
              </a:buClr>
              <a:buSzPts val="1400"/>
              <a:buFont typeface="Arial"/>
              <a:buNone/>
              <a:defRPr/>
            </a:lvl7pPr>
            <a:lvl8pPr lvl="7" algn="l">
              <a:lnSpc>
                <a:spcPct val="100000"/>
              </a:lnSpc>
              <a:spcBef>
                <a:spcPts val="0"/>
              </a:spcBef>
              <a:spcAft>
                <a:spcPts val="0"/>
              </a:spcAft>
              <a:buClr>
                <a:srgbClr val="000000"/>
              </a:buClr>
              <a:buSzPts val="1400"/>
              <a:buFont typeface="Arial"/>
              <a:buNone/>
              <a:defRPr/>
            </a:lvl8pPr>
            <a:lvl9pPr lvl="8" algn="l">
              <a:lnSpc>
                <a:spcPct val="100000"/>
              </a:lnSpc>
              <a:spcBef>
                <a:spcPts val="0"/>
              </a:spcBef>
              <a:spcAft>
                <a:spcPts val="0"/>
              </a:spcAft>
              <a:buClr>
                <a:srgbClr val="000000"/>
              </a:buClr>
              <a:buSzPts val="1400"/>
              <a:buFont typeface="Arial"/>
              <a:buNone/>
              <a:defRPr/>
            </a:lvl9pPr>
          </a:lstStyle>
          <a:p>
            <a:endParaRPr/>
          </a:p>
        </p:txBody>
      </p:sp>
      <p:sp>
        <p:nvSpPr>
          <p:cNvPr id="32" name="Google Shape;32;p15"/>
          <p:cNvSpPr txBox="1">
            <a:spLocks noGrp="1"/>
          </p:cNvSpPr>
          <p:nvPr>
            <p:ph type="subTitle" idx="1"/>
          </p:nvPr>
        </p:nvSpPr>
        <p:spPr>
          <a:xfrm>
            <a:off x="563418" y="4043867"/>
            <a:ext cx="4701309" cy="45272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Font typeface="Arial"/>
              <a:buNone/>
              <a:defRPr sz="2400">
                <a:solidFill>
                  <a:schemeClr val="lt1"/>
                </a:solidFill>
                <a:latin typeface="Arial"/>
                <a:ea typeface="Arial"/>
                <a:cs typeface="Arial"/>
                <a:sym typeface="Arial"/>
              </a:defRPr>
            </a:lvl1pPr>
            <a:lvl2pPr lvl="1" algn="ctr">
              <a:lnSpc>
                <a:spcPct val="90000"/>
              </a:lnSpc>
              <a:spcBef>
                <a:spcPts val="500"/>
              </a:spcBef>
              <a:spcAft>
                <a:spcPts val="0"/>
              </a:spcAft>
              <a:buClr>
                <a:schemeClr val="dk1"/>
              </a:buClr>
              <a:buSzPts val="2000"/>
              <a:buFont typeface="Arial"/>
              <a:buNone/>
              <a:defRPr sz="2000"/>
            </a:lvl2pPr>
            <a:lvl3pPr lvl="2" algn="ctr">
              <a:lnSpc>
                <a:spcPct val="90000"/>
              </a:lnSpc>
              <a:spcBef>
                <a:spcPts val="500"/>
              </a:spcBef>
              <a:spcAft>
                <a:spcPts val="0"/>
              </a:spcAft>
              <a:buClr>
                <a:schemeClr val="dk1"/>
              </a:buClr>
              <a:buSzPts val="1800"/>
              <a:buFont typeface="Arial"/>
              <a:buNone/>
              <a:defRPr sz="1800"/>
            </a:lvl3pPr>
            <a:lvl4pPr lvl="3" algn="ctr">
              <a:lnSpc>
                <a:spcPct val="90000"/>
              </a:lnSpc>
              <a:spcBef>
                <a:spcPts val="500"/>
              </a:spcBef>
              <a:spcAft>
                <a:spcPts val="0"/>
              </a:spcAft>
              <a:buClr>
                <a:schemeClr val="dk1"/>
              </a:buClr>
              <a:buSzPts val="1600"/>
              <a:buFont typeface="Arial"/>
              <a:buNone/>
              <a:defRPr sz="1600"/>
            </a:lvl4pPr>
            <a:lvl5pPr lvl="4" algn="ctr">
              <a:lnSpc>
                <a:spcPct val="90000"/>
              </a:lnSpc>
              <a:spcBef>
                <a:spcPts val="500"/>
              </a:spcBef>
              <a:spcAft>
                <a:spcPts val="0"/>
              </a:spcAft>
              <a:buClr>
                <a:schemeClr val="dk1"/>
              </a:buClr>
              <a:buSzPts val="1600"/>
              <a:buFont typeface="Arial"/>
              <a:buNone/>
              <a:defRPr sz="1600"/>
            </a:lvl5pPr>
            <a:lvl6pPr lvl="5" algn="ctr">
              <a:lnSpc>
                <a:spcPct val="90000"/>
              </a:lnSpc>
              <a:spcBef>
                <a:spcPts val="500"/>
              </a:spcBef>
              <a:spcAft>
                <a:spcPts val="0"/>
              </a:spcAft>
              <a:buClr>
                <a:schemeClr val="dk1"/>
              </a:buClr>
              <a:buSzPts val="1600"/>
              <a:buFont typeface="Arial"/>
              <a:buNone/>
              <a:defRPr sz="1600"/>
            </a:lvl6pPr>
            <a:lvl7pPr lvl="6" algn="ctr">
              <a:lnSpc>
                <a:spcPct val="90000"/>
              </a:lnSpc>
              <a:spcBef>
                <a:spcPts val="500"/>
              </a:spcBef>
              <a:spcAft>
                <a:spcPts val="0"/>
              </a:spcAft>
              <a:buClr>
                <a:schemeClr val="dk1"/>
              </a:buClr>
              <a:buSzPts val="1600"/>
              <a:buFont typeface="Arial"/>
              <a:buNone/>
              <a:defRPr sz="1600"/>
            </a:lvl7pPr>
            <a:lvl8pPr lvl="7" algn="ctr">
              <a:lnSpc>
                <a:spcPct val="90000"/>
              </a:lnSpc>
              <a:spcBef>
                <a:spcPts val="500"/>
              </a:spcBef>
              <a:spcAft>
                <a:spcPts val="0"/>
              </a:spcAft>
              <a:buClr>
                <a:schemeClr val="dk1"/>
              </a:buClr>
              <a:buSzPts val="1600"/>
              <a:buFont typeface="Arial"/>
              <a:buNone/>
              <a:defRPr sz="1600"/>
            </a:lvl8pPr>
            <a:lvl9pPr lvl="8" algn="ctr">
              <a:lnSpc>
                <a:spcPct val="90000"/>
              </a:lnSpc>
              <a:spcBef>
                <a:spcPts val="500"/>
              </a:spcBef>
              <a:spcAft>
                <a:spcPts val="0"/>
              </a:spcAft>
              <a:buClr>
                <a:schemeClr val="dk1"/>
              </a:buClr>
              <a:buSzPts val="1600"/>
              <a:buFont typeface="Arial"/>
              <a:buNone/>
              <a:defRPr sz="1600"/>
            </a:lvl9pPr>
          </a:lstStyle>
          <a:p>
            <a:endParaRPr/>
          </a:p>
        </p:txBody>
      </p:sp>
      <p:sp>
        <p:nvSpPr>
          <p:cNvPr id="33" name="Google Shape;33;p15"/>
          <p:cNvSpPr txBox="1">
            <a:spLocks noGrp="1"/>
          </p:cNvSpPr>
          <p:nvPr>
            <p:ph type="body" idx="2"/>
          </p:nvPr>
        </p:nvSpPr>
        <p:spPr>
          <a:xfrm>
            <a:off x="6299200" y="1963809"/>
            <a:ext cx="5351462" cy="2930381"/>
          </a:xfrm>
          <a:prstGeom prst="rect">
            <a:avLst/>
          </a:prstGeom>
          <a:noFill/>
          <a:ln>
            <a:noFill/>
          </a:ln>
        </p:spPr>
        <p:txBody>
          <a:bodyPr spcFirstLastPara="1" wrap="square" lIns="91425" tIns="45700" rIns="91425" bIns="45700" anchor="t" anchorCtr="0">
            <a:noAutofit/>
          </a:bodyPr>
          <a:lstStyle>
            <a:lvl1pPr marL="457200" lvl="0" indent="-228600" algn="l">
              <a:lnSpc>
                <a:spcPct val="150000"/>
              </a:lnSpc>
              <a:spcBef>
                <a:spcPts val="1000"/>
              </a:spcBef>
              <a:spcAft>
                <a:spcPts val="0"/>
              </a:spcAft>
              <a:buClr>
                <a:schemeClr val="dk1"/>
              </a:buClr>
              <a:buSzPts val="1800"/>
              <a:buFont typeface="Arial"/>
              <a:buNone/>
              <a:defRPr sz="1800">
                <a:latin typeface="Arial"/>
                <a:ea typeface="Arial"/>
                <a:cs typeface="Arial"/>
                <a:sym typeface="Arial"/>
              </a:defRPr>
            </a:lvl1pPr>
            <a:lvl2pPr marL="914400" lvl="1" indent="-228600" algn="l">
              <a:lnSpc>
                <a:spcPct val="90000"/>
              </a:lnSpc>
              <a:spcBef>
                <a:spcPts val="500"/>
              </a:spcBef>
              <a:spcAft>
                <a:spcPts val="0"/>
              </a:spcAft>
              <a:buClr>
                <a:schemeClr val="dk1"/>
              </a:buClr>
              <a:buSzPts val="2400"/>
              <a:buFont typeface="Arial"/>
              <a:buNone/>
              <a:defRPr/>
            </a:lvl2pPr>
            <a:lvl3pPr marL="1371600" lvl="2" indent="-228600" algn="l">
              <a:lnSpc>
                <a:spcPct val="90000"/>
              </a:lnSpc>
              <a:spcBef>
                <a:spcPts val="500"/>
              </a:spcBef>
              <a:spcAft>
                <a:spcPts val="0"/>
              </a:spcAft>
              <a:buClr>
                <a:schemeClr val="dk1"/>
              </a:buClr>
              <a:buSzPts val="2000"/>
              <a:buFont typeface="Arial"/>
              <a:buNone/>
              <a:defRPr/>
            </a:lvl3pPr>
            <a:lvl4pPr marL="1828800" lvl="3" indent="-228600" algn="l">
              <a:lnSpc>
                <a:spcPct val="90000"/>
              </a:lnSpc>
              <a:spcBef>
                <a:spcPts val="500"/>
              </a:spcBef>
              <a:spcAft>
                <a:spcPts val="0"/>
              </a:spcAft>
              <a:buClr>
                <a:schemeClr val="dk1"/>
              </a:buClr>
              <a:buSzPts val="1800"/>
              <a:buFont typeface="Arial"/>
              <a:buNone/>
              <a:defRPr/>
            </a:lvl4pPr>
            <a:lvl5pPr marL="2286000" lvl="4" indent="-228600" algn="l">
              <a:lnSpc>
                <a:spcPct val="90000"/>
              </a:lnSpc>
              <a:spcBef>
                <a:spcPts val="500"/>
              </a:spcBef>
              <a:spcAft>
                <a:spcPts val="0"/>
              </a:spcAft>
              <a:buClr>
                <a:schemeClr val="dk1"/>
              </a:buClr>
              <a:buSzPts val="1800"/>
              <a:buFont typeface="Arial"/>
              <a:buNone/>
              <a:defRPr/>
            </a:lvl5pPr>
            <a:lvl6pPr marL="2743200" lvl="5" indent="-342900" algn="l">
              <a:lnSpc>
                <a:spcPct val="90000"/>
              </a:lnSpc>
              <a:spcBef>
                <a:spcPts val="500"/>
              </a:spcBef>
              <a:spcAft>
                <a:spcPts val="0"/>
              </a:spcAft>
              <a:buClr>
                <a:schemeClr val="dk1"/>
              </a:buClr>
              <a:buSzPts val="1800"/>
              <a:buFont typeface="Arial"/>
              <a:buChar char="•"/>
              <a:defRPr/>
            </a:lvl6pPr>
            <a:lvl7pPr marL="3200400" lvl="6" indent="-342900" algn="l">
              <a:lnSpc>
                <a:spcPct val="90000"/>
              </a:lnSpc>
              <a:spcBef>
                <a:spcPts val="500"/>
              </a:spcBef>
              <a:spcAft>
                <a:spcPts val="0"/>
              </a:spcAft>
              <a:buClr>
                <a:schemeClr val="dk1"/>
              </a:buClr>
              <a:buSzPts val="1800"/>
              <a:buFont typeface="Arial"/>
              <a:buChar char="•"/>
              <a:defRPr/>
            </a:lvl7pPr>
            <a:lvl8pPr marL="3657600" lvl="7" indent="-342900" algn="l">
              <a:lnSpc>
                <a:spcPct val="90000"/>
              </a:lnSpc>
              <a:spcBef>
                <a:spcPts val="500"/>
              </a:spcBef>
              <a:spcAft>
                <a:spcPts val="0"/>
              </a:spcAft>
              <a:buClr>
                <a:schemeClr val="dk1"/>
              </a:buClr>
              <a:buSzPts val="1800"/>
              <a:buFont typeface="Arial"/>
              <a:buChar char="•"/>
              <a:defRPr/>
            </a:lvl8pPr>
            <a:lvl9pPr marL="4114800" lvl="8" indent="-342900" algn="l">
              <a:lnSpc>
                <a:spcPct val="90000"/>
              </a:lnSpc>
              <a:spcBef>
                <a:spcPts val="500"/>
              </a:spcBef>
              <a:spcAft>
                <a:spcPts val="0"/>
              </a:spcAft>
              <a:buClr>
                <a:schemeClr val="dk1"/>
              </a:buClr>
              <a:buSzPts val="1800"/>
              <a:buFont typeface="Arial"/>
              <a:buChar char="•"/>
              <a:defRPr/>
            </a:lvl9pPr>
          </a:lstStyle>
          <a:p>
            <a:endParaRPr/>
          </a:p>
        </p:txBody>
      </p:sp>
      <p:sp>
        <p:nvSpPr>
          <p:cNvPr id="34" name="Google Shape;3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mp; Content_Layout 4_A">
  <p:cSld name="Title &amp; Content_Layout 4_A">
    <p:spTree>
      <p:nvGrpSpPr>
        <p:cNvPr id="1" name="Shape 46"/>
        <p:cNvGrpSpPr/>
        <p:nvPr/>
      </p:nvGrpSpPr>
      <p:grpSpPr>
        <a:xfrm>
          <a:off x="0" y="0"/>
          <a:ext cx="0" cy="0"/>
          <a:chOff x="0" y="0"/>
          <a:chExt cx="0" cy="0"/>
        </a:xfrm>
      </p:grpSpPr>
      <p:sp>
        <p:nvSpPr>
          <p:cNvPr id="47" name="Google Shape;47;p23"/>
          <p:cNvSpPr txBox="1">
            <a:spLocks noGrp="1"/>
          </p:cNvSpPr>
          <p:nvPr>
            <p:ph type="title"/>
          </p:nvPr>
        </p:nvSpPr>
        <p:spPr>
          <a:xfrm>
            <a:off x="4525297" y="1244501"/>
            <a:ext cx="7125929" cy="96734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b="1">
                <a:latin typeface="Arial"/>
                <a:ea typeface="Arial"/>
                <a:cs typeface="Arial"/>
                <a:sym typeface="Arial"/>
              </a:defRPr>
            </a:lvl1pPr>
            <a:lvl2pPr lvl="1" algn="l">
              <a:lnSpc>
                <a:spcPct val="100000"/>
              </a:lnSpc>
              <a:spcBef>
                <a:spcPts val="0"/>
              </a:spcBef>
              <a:spcAft>
                <a:spcPts val="0"/>
              </a:spcAft>
              <a:buClr>
                <a:srgbClr val="000000"/>
              </a:buClr>
              <a:buSzPts val="1400"/>
              <a:buFont typeface="Arial"/>
              <a:buNone/>
              <a:defRPr/>
            </a:lvl2pPr>
            <a:lvl3pPr lvl="2" algn="l">
              <a:lnSpc>
                <a:spcPct val="100000"/>
              </a:lnSpc>
              <a:spcBef>
                <a:spcPts val="0"/>
              </a:spcBef>
              <a:spcAft>
                <a:spcPts val="0"/>
              </a:spcAft>
              <a:buClr>
                <a:srgbClr val="000000"/>
              </a:buClr>
              <a:buSzPts val="1400"/>
              <a:buFont typeface="Arial"/>
              <a:buNone/>
              <a:defRPr/>
            </a:lvl3pPr>
            <a:lvl4pPr lvl="3" algn="l">
              <a:lnSpc>
                <a:spcPct val="100000"/>
              </a:lnSpc>
              <a:spcBef>
                <a:spcPts val="0"/>
              </a:spcBef>
              <a:spcAft>
                <a:spcPts val="0"/>
              </a:spcAft>
              <a:buClr>
                <a:srgbClr val="000000"/>
              </a:buClr>
              <a:buSzPts val="1400"/>
              <a:buFont typeface="Arial"/>
              <a:buNone/>
              <a:defRPr/>
            </a:lvl4pPr>
            <a:lvl5pPr lvl="4" algn="l">
              <a:lnSpc>
                <a:spcPct val="100000"/>
              </a:lnSpc>
              <a:spcBef>
                <a:spcPts val="0"/>
              </a:spcBef>
              <a:spcAft>
                <a:spcPts val="0"/>
              </a:spcAft>
              <a:buClr>
                <a:srgbClr val="000000"/>
              </a:buClr>
              <a:buSzPts val="1400"/>
              <a:buFont typeface="Arial"/>
              <a:buNone/>
              <a:defRPr/>
            </a:lvl5pPr>
            <a:lvl6pPr lvl="5" algn="l">
              <a:lnSpc>
                <a:spcPct val="100000"/>
              </a:lnSpc>
              <a:spcBef>
                <a:spcPts val="0"/>
              </a:spcBef>
              <a:spcAft>
                <a:spcPts val="0"/>
              </a:spcAft>
              <a:buClr>
                <a:srgbClr val="000000"/>
              </a:buClr>
              <a:buSzPts val="1400"/>
              <a:buFont typeface="Arial"/>
              <a:buNone/>
              <a:defRPr/>
            </a:lvl6pPr>
            <a:lvl7pPr lvl="6" algn="l">
              <a:lnSpc>
                <a:spcPct val="100000"/>
              </a:lnSpc>
              <a:spcBef>
                <a:spcPts val="0"/>
              </a:spcBef>
              <a:spcAft>
                <a:spcPts val="0"/>
              </a:spcAft>
              <a:buClr>
                <a:srgbClr val="000000"/>
              </a:buClr>
              <a:buSzPts val="1400"/>
              <a:buFont typeface="Arial"/>
              <a:buNone/>
              <a:defRPr/>
            </a:lvl7pPr>
            <a:lvl8pPr lvl="7" algn="l">
              <a:lnSpc>
                <a:spcPct val="100000"/>
              </a:lnSpc>
              <a:spcBef>
                <a:spcPts val="0"/>
              </a:spcBef>
              <a:spcAft>
                <a:spcPts val="0"/>
              </a:spcAft>
              <a:buClr>
                <a:srgbClr val="000000"/>
              </a:buClr>
              <a:buSzPts val="1400"/>
              <a:buFont typeface="Arial"/>
              <a:buNone/>
              <a:defRPr/>
            </a:lvl8pPr>
            <a:lvl9pPr lvl="8" algn="l">
              <a:lnSpc>
                <a:spcPct val="100000"/>
              </a:lnSpc>
              <a:spcBef>
                <a:spcPts val="0"/>
              </a:spcBef>
              <a:spcAft>
                <a:spcPts val="0"/>
              </a:spcAft>
              <a:buClr>
                <a:srgbClr val="000000"/>
              </a:buClr>
              <a:buSzPts val="1400"/>
              <a:buFont typeface="Arial"/>
              <a:buNone/>
              <a:defRPr/>
            </a:lvl9pPr>
          </a:lstStyle>
          <a:p>
            <a:endParaRPr/>
          </a:p>
        </p:txBody>
      </p:sp>
      <p:sp>
        <p:nvSpPr>
          <p:cNvPr id="48" name="Google Shape;48;p23"/>
          <p:cNvSpPr>
            <a:spLocks noGrp="1"/>
          </p:cNvSpPr>
          <p:nvPr>
            <p:ph type="pic" idx="2"/>
          </p:nvPr>
        </p:nvSpPr>
        <p:spPr>
          <a:xfrm>
            <a:off x="0" y="363538"/>
            <a:ext cx="3224213" cy="5997575"/>
          </a:xfrm>
          <a:prstGeom prst="rect">
            <a:avLst/>
          </a:prstGeom>
          <a:noFill/>
          <a:ln>
            <a:noFill/>
          </a:ln>
        </p:spPr>
      </p:sp>
      <p:sp>
        <p:nvSpPr>
          <p:cNvPr id="49" name="Google Shape;49;p23"/>
          <p:cNvSpPr txBox="1">
            <a:spLocks noGrp="1"/>
          </p:cNvSpPr>
          <p:nvPr>
            <p:ph type="body" idx="1"/>
          </p:nvPr>
        </p:nvSpPr>
        <p:spPr>
          <a:xfrm>
            <a:off x="4525963" y="2900363"/>
            <a:ext cx="7124700" cy="3294062"/>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rgbClr val="F26E21"/>
              </a:buClr>
              <a:buSzPts val="2000"/>
              <a:buFont typeface="Noto Sans Symbols"/>
              <a:buChar char="▪"/>
              <a:defRPr sz="2000">
                <a:latin typeface="Arial"/>
                <a:ea typeface="Arial"/>
                <a:cs typeface="Arial"/>
                <a:sym typeface="Arial"/>
              </a:defRPr>
            </a:lvl1pPr>
            <a:lvl2pPr marL="914400" lvl="1" indent="-342900" algn="l">
              <a:lnSpc>
                <a:spcPct val="90000"/>
              </a:lnSpc>
              <a:spcBef>
                <a:spcPts val="500"/>
              </a:spcBef>
              <a:spcAft>
                <a:spcPts val="0"/>
              </a:spcAft>
              <a:buClr>
                <a:srgbClr val="F26E21"/>
              </a:buClr>
              <a:buSzPts val="1800"/>
              <a:buFont typeface="Noto Sans Symbols"/>
              <a:buChar char="▪"/>
              <a:defRPr sz="1800">
                <a:latin typeface="Arial"/>
                <a:ea typeface="Arial"/>
                <a:cs typeface="Arial"/>
                <a:sym typeface="Arial"/>
              </a:defRPr>
            </a:lvl2pPr>
            <a:lvl3pPr marL="1371600" lvl="2" indent="-330200" algn="l">
              <a:lnSpc>
                <a:spcPct val="90000"/>
              </a:lnSpc>
              <a:spcBef>
                <a:spcPts val="500"/>
              </a:spcBef>
              <a:spcAft>
                <a:spcPts val="0"/>
              </a:spcAft>
              <a:buClr>
                <a:srgbClr val="F26E21"/>
              </a:buClr>
              <a:buSzPts val="1600"/>
              <a:buFont typeface="Noto Sans Symbols"/>
              <a:buChar char="▪"/>
              <a:defRPr sz="1600">
                <a:latin typeface="Arial"/>
                <a:ea typeface="Arial"/>
                <a:cs typeface="Arial"/>
                <a:sym typeface="Arial"/>
              </a:defRPr>
            </a:lvl3pPr>
            <a:lvl4pPr marL="1828800" lvl="3"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4pPr>
            <a:lvl5pPr marL="2286000" lvl="4"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Font typeface="Arial"/>
              <a:buChar char="•"/>
              <a:defRPr/>
            </a:lvl6pPr>
            <a:lvl7pPr marL="3200400" lvl="6" indent="-342900" algn="l">
              <a:lnSpc>
                <a:spcPct val="90000"/>
              </a:lnSpc>
              <a:spcBef>
                <a:spcPts val="500"/>
              </a:spcBef>
              <a:spcAft>
                <a:spcPts val="0"/>
              </a:spcAft>
              <a:buClr>
                <a:schemeClr val="dk1"/>
              </a:buClr>
              <a:buSzPts val="1800"/>
              <a:buFont typeface="Arial"/>
              <a:buChar char="•"/>
              <a:defRPr/>
            </a:lvl7pPr>
            <a:lvl8pPr marL="3657600" lvl="7" indent="-342900" algn="l">
              <a:lnSpc>
                <a:spcPct val="90000"/>
              </a:lnSpc>
              <a:spcBef>
                <a:spcPts val="500"/>
              </a:spcBef>
              <a:spcAft>
                <a:spcPts val="0"/>
              </a:spcAft>
              <a:buClr>
                <a:schemeClr val="dk1"/>
              </a:buClr>
              <a:buSzPts val="1800"/>
              <a:buFont typeface="Arial"/>
              <a:buChar char="•"/>
              <a:defRPr/>
            </a:lvl8pPr>
            <a:lvl9pPr marL="4114800" lvl="8" indent="-342900" algn="l">
              <a:lnSpc>
                <a:spcPct val="90000"/>
              </a:lnSpc>
              <a:spcBef>
                <a:spcPts val="500"/>
              </a:spcBef>
              <a:spcAft>
                <a:spcPts val="0"/>
              </a:spcAft>
              <a:buClr>
                <a:schemeClr val="dk1"/>
              </a:buClr>
              <a:buSzPts val="1800"/>
              <a:buFont typeface="Arial"/>
              <a:buChar char="•"/>
              <a:defRPr/>
            </a:lvl9pPr>
          </a:lstStyle>
          <a:p>
            <a:endParaRPr/>
          </a:p>
        </p:txBody>
      </p:sp>
      <p:sp>
        <p:nvSpPr>
          <p:cNvPr id="50" name="Google Shape;5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mp; Content_Layout 4_B">
  <p:cSld name="Title &amp; Content_Layout 4_B">
    <p:spTree>
      <p:nvGrpSpPr>
        <p:cNvPr id="1" name="Shape 62"/>
        <p:cNvGrpSpPr/>
        <p:nvPr/>
      </p:nvGrpSpPr>
      <p:grpSpPr>
        <a:xfrm>
          <a:off x="0" y="0"/>
          <a:ext cx="0" cy="0"/>
          <a:chOff x="0" y="0"/>
          <a:chExt cx="0" cy="0"/>
        </a:xfrm>
      </p:grpSpPr>
      <p:sp>
        <p:nvSpPr>
          <p:cNvPr id="63" name="Google Shape;63;p25"/>
          <p:cNvSpPr txBox="1">
            <a:spLocks noGrp="1"/>
          </p:cNvSpPr>
          <p:nvPr>
            <p:ph type="title"/>
          </p:nvPr>
        </p:nvSpPr>
        <p:spPr>
          <a:xfrm>
            <a:off x="682970" y="1244501"/>
            <a:ext cx="7125929" cy="96734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b="1">
                <a:latin typeface="Arial"/>
                <a:ea typeface="Arial"/>
                <a:cs typeface="Arial"/>
                <a:sym typeface="Arial"/>
              </a:defRPr>
            </a:lvl1pPr>
            <a:lvl2pPr lvl="1" algn="l">
              <a:lnSpc>
                <a:spcPct val="100000"/>
              </a:lnSpc>
              <a:spcBef>
                <a:spcPts val="0"/>
              </a:spcBef>
              <a:spcAft>
                <a:spcPts val="0"/>
              </a:spcAft>
              <a:buClr>
                <a:srgbClr val="000000"/>
              </a:buClr>
              <a:buSzPts val="1400"/>
              <a:buFont typeface="Arial"/>
              <a:buNone/>
              <a:defRPr/>
            </a:lvl2pPr>
            <a:lvl3pPr lvl="2" algn="l">
              <a:lnSpc>
                <a:spcPct val="100000"/>
              </a:lnSpc>
              <a:spcBef>
                <a:spcPts val="0"/>
              </a:spcBef>
              <a:spcAft>
                <a:spcPts val="0"/>
              </a:spcAft>
              <a:buClr>
                <a:srgbClr val="000000"/>
              </a:buClr>
              <a:buSzPts val="1400"/>
              <a:buFont typeface="Arial"/>
              <a:buNone/>
              <a:defRPr/>
            </a:lvl3pPr>
            <a:lvl4pPr lvl="3" algn="l">
              <a:lnSpc>
                <a:spcPct val="100000"/>
              </a:lnSpc>
              <a:spcBef>
                <a:spcPts val="0"/>
              </a:spcBef>
              <a:spcAft>
                <a:spcPts val="0"/>
              </a:spcAft>
              <a:buClr>
                <a:srgbClr val="000000"/>
              </a:buClr>
              <a:buSzPts val="1400"/>
              <a:buFont typeface="Arial"/>
              <a:buNone/>
              <a:defRPr/>
            </a:lvl4pPr>
            <a:lvl5pPr lvl="4" algn="l">
              <a:lnSpc>
                <a:spcPct val="100000"/>
              </a:lnSpc>
              <a:spcBef>
                <a:spcPts val="0"/>
              </a:spcBef>
              <a:spcAft>
                <a:spcPts val="0"/>
              </a:spcAft>
              <a:buClr>
                <a:srgbClr val="000000"/>
              </a:buClr>
              <a:buSzPts val="1400"/>
              <a:buFont typeface="Arial"/>
              <a:buNone/>
              <a:defRPr/>
            </a:lvl5pPr>
            <a:lvl6pPr lvl="5" algn="l">
              <a:lnSpc>
                <a:spcPct val="100000"/>
              </a:lnSpc>
              <a:spcBef>
                <a:spcPts val="0"/>
              </a:spcBef>
              <a:spcAft>
                <a:spcPts val="0"/>
              </a:spcAft>
              <a:buClr>
                <a:srgbClr val="000000"/>
              </a:buClr>
              <a:buSzPts val="1400"/>
              <a:buFont typeface="Arial"/>
              <a:buNone/>
              <a:defRPr/>
            </a:lvl6pPr>
            <a:lvl7pPr lvl="6" algn="l">
              <a:lnSpc>
                <a:spcPct val="100000"/>
              </a:lnSpc>
              <a:spcBef>
                <a:spcPts val="0"/>
              </a:spcBef>
              <a:spcAft>
                <a:spcPts val="0"/>
              </a:spcAft>
              <a:buClr>
                <a:srgbClr val="000000"/>
              </a:buClr>
              <a:buSzPts val="1400"/>
              <a:buFont typeface="Arial"/>
              <a:buNone/>
              <a:defRPr/>
            </a:lvl7pPr>
            <a:lvl8pPr lvl="7" algn="l">
              <a:lnSpc>
                <a:spcPct val="100000"/>
              </a:lnSpc>
              <a:spcBef>
                <a:spcPts val="0"/>
              </a:spcBef>
              <a:spcAft>
                <a:spcPts val="0"/>
              </a:spcAft>
              <a:buClr>
                <a:srgbClr val="000000"/>
              </a:buClr>
              <a:buSzPts val="1400"/>
              <a:buFont typeface="Arial"/>
              <a:buNone/>
              <a:defRPr/>
            </a:lvl8pPr>
            <a:lvl9pPr lvl="8" algn="l">
              <a:lnSpc>
                <a:spcPct val="100000"/>
              </a:lnSpc>
              <a:spcBef>
                <a:spcPts val="0"/>
              </a:spcBef>
              <a:spcAft>
                <a:spcPts val="0"/>
              </a:spcAft>
              <a:buClr>
                <a:srgbClr val="000000"/>
              </a:buClr>
              <a:buSzPts val="1400"/>
              <a:buFont typeface="Arial"/>
              <a:buNone/>
              <a:defRPr/>
            </a:lvl9pPr>
          </a:lstStyle>
          <a:p>
            <a:endParaRPr/>
          </a:p>
        </p:txBody>
      </p:sp>
      <p:sp>
        <p:nvSpPr>
          <p:cNvPr id="64" name="Google Shape;64;p25"/>
          <p:cNvSpPr>
            <a:spLocks noGrp="1"/>
          </p:cNvSpPr>
          <p:nvPr>
            <p:ph type="pic" idx="2"/>
          </p:nvPr>
        </p:nvSpPr>
        <p:spPr>
          <a:xfrm>
            <a:off x="8967787" y="363538"/>
            <a:ext cx="3224213" cy="5997575"/>
          </a:xfrm>
          <a:prstGeom prst="rect">
            <a:avLst/>
          </a:prstGeom>
          <a:noFill/>
          <a:ln>
            <a:noFill/>
          </a:ln>
        </p:spPr>
      </p:sp>
      <p:sp>
        <p:nvSpPr>
          <p:cNvPr id="65" name="Google Shape;65;p25"/>
          <p:cNvSpPr txBox="1">
            <a:spLocks noGrp="1"/>
          </p:cNvSpPr>
          <p:nvPr>
            <p:ph type="body" idx="1"/>
          </p:nvPr>
        </p:nvSpPr>
        <p:spPr>
          <a:xfrm>
            <a:off x="683636" y="2900363"/>
            <a:ext cx="7124700" cy="3294062"/>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rgbClr val="F26E21"/>
              </a:buClr>
              <a:buSzPts val="2000"/>
              <a:buFont typeface="Noto Sans Symbols"/>
              <a:buChar char="▪"/>
              <a:defRPr sz="2000">
                <a:latin typeface="Arial"/>
                <a:ea typeface="Arial"/>
                <a:cs typeface="Arial"/>
                <a:sym typeface="Arial"/>
              </a:defRPr>
            </a:lvl1pPr>
            <a:lvl2pPr marL="914400" lvl="1" indent="-342900" algn="l">
              <a:lnSpc>
                <a:spcPct val="90000"/>
              </a:lnSpc>
              <a:spcBef>
                <a:spcPts val="500"/>
              </a:spcBef>
              <a:spcAft>
                <a:spcPts val="0"/>
              </a:spcAft>
              <a:buClr>
                <a:srgbClr val="F26E21"/>
              </a:buClr>
              <a:buSzPts val="1800"/>
              <a:buFont typeface="Noto Sans Symbols"/>
              <a:buChar char="▪"/>
              <a:defRPr sz="1800">
                <a:latin typeface="Arial"/>
                <a:ea typeface="Arial"/>
                <a:cs typeface="Arial"/>
                <a:sym typeface="Arial"/>
              </a:defRPr>
            </a:lvl2pPr>
            <a:lvl3pPr marL="1371600" lvl="2" indent="-330200" algn="l">
              <a:lnSpc>
                <a:spcPct val="90000"/>
              </a:lnSpc>
              <a:spcBef>
                <a:spcPts val="500"/>
              </a:spcBef>
              <a:spcAft>
                <a:spcPts val="0"/>
              </a:spcAft>
              <a:buClr>
                <a:srgbClr val="F26E21"/>
              </a:buClr>
              <a:buSzPts val="1600"/>
              <a:buFont typeface="Noto Sans Symbols"/>
              <a:buChar char="▪"/>
              <a:defRPr sz="1600">
                <a:latin typeface="Arial"/>
                <a:ea typeface="Arial"/>
                <a:cs typeface="Arial"/>
                <a:sym typeface="Arial"/>
              </a:defRPr>
            </a:lvl3pPr>
            <a:lvl4pPr marL="1828800" lvl="3"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4pPr>
            <a:lvl5pPr marL="2286000" lvl="4"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Font typeface="Arial"/>
              <a:buChar char="•"/>
              <a:defRPr/>
            </a:lvl6pPr>
            <a:lvl7pPr marL="3200400" lvl="6" indent="-342900" algn="l">
              <a:lnSpc>
                <a:spcPct val="90000"/>
              </a:lnSpc>
              <a:spcBef>
                <a:spcPts val="500"/>
              </a:spcBef>
              <a:spcAft>
                <a:spcPts val="0"/>
              </a:spcAft>
              <a:buClr>
                <a:schemeClr val="dk1"/>
              </a:buClr>
              <a:buSzPts val="1800"/>
              <a:buFont typeface="Arial"/>
              <a:buChar char="•"/>
              <a:defRPr/>
            </a:lvl7pPr>
            <a:lvl8pPr marL="3657600" lvl="7" indent="-342900" algn="l">
              <a:lnSpc>
                <a:spcPct val="90000"/>
              </a:lnSpc>
              <a:spcBef>
                <a:spcPts val="500"/>
              </a:spcBef>
              <a:spcAft>
                <a:spcPts val="0"/>
              </a:spcAft>
              <a:buClr>
                <a:schemeClr val="dk1"/>
              </a:buClr>
              <a:buSzPts val="1800"/>
              <a:buFont typeface="Arial"/>
              <a:buChar char="•"/>
              <a:defRPr/>
            </a:lvl8pPr>
            <a:lvl9pPr marL="4114800" lvl="8" indent="-342900" algn="l">
              <a:lnSpc>
                <a:spcPct val="90000"/>
              </a:lnSpc>
              <a:spcBef>
                <a:spcPts val="500"/>
              </a:spcBef>
              <a:spcAft>
                <a:spcPts val="0"/>
              </a:spcAft>
              <a:buClr>
                <a:schemeClr val="dk1"/>
              </a:buClr>
              <a:buSzPts val="1800"/>
              <a:buFont typeface="Arial"/>
              <a:buChar char="•"/>
              <a:defRPr/>
            </a:lvl9pPr>
          </a:lstStyle>
          <a:p>
            <a:endParaRPr/>
          </a:p>
        </p:txBody>
      </p:sp>
      <p:sp>
        <p:nvSpPr>
          <p:cNvPr id="66" name="Google Shape;6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mp; Content_Layout 6">
  <p:cSld name="Title &amp; Content_Layout 6">
    <p:spTree>
      <p:nvGrpSpPr>
        <p:cNvPr id="1" name="Shape 79"/>
        <p:cNvGrpSpPr/>
        <p:nvPr/>
      </p:nvGrpSpPr>
      <p:grpSpPr>
        <a:xfrm>
          <a:off x="0" y="0"/>
          <a:ext cx="0" cy="0"/>
          <a:chOff x="0" y="0"/>
          <a:chExt cx="0" cy="0"/>
        </a:xfrm>
      </p:grpSpPr>
      <p:sp>
        <p:nvSpPr>
          <p:cNvPr id="80" name="Google Shape;80;p27"/>
          <p:cNvSpPr txBox="1">
            <a:spLocks noGrp="1"/>
          </p:cNvSpPr>
          <p:nvPr>
            <p:ph type="body" idx="1"/>
          </p:nvPr>
        </p:nvSpPr>
        <p:spPr>
          <a:xfrm>
            <a:off x="838200" y="2429163"/>
            <a:ext cx="4985327" cy="3747799"/>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rgbClr val="F26E21"/>
              </a:buClr>
              <a:buSzPts val="2000"/>
              <a:buFont typeface="Noto Sans Symbols"/>
              <a:buChar char="▪"/>
              <a:defRPr sz="2000">
                <a:latin typeface="Arial"/>
                <a:ea typeface="Arial"/>
                <a:cs typeface="Arial"/>
                <a:sym typeface="Arial"/>
              </a:defRPr>
            </a:lvl1pPr>
            <a:lvl2pPr marL="914400" lvl="1" indent="-342900" algn="l">
              <a:lnSpc>
                <a:spcPct val="90000"/>
              </a:lnSpc>
              <a:spcBef>
                <a:spcPts val="500"/>
              </a:spcBef>
              <a:spcAft>
                <a:spcPts val="0"/>
              </a:spcAft>
              <a:buClr>
                <a:srgbClr val="F26E21"/>
              </a:buClr>
              <a:buSzPts val="1800"/>
              <a:buFont typeface="Noto Sans Symbols"/>
              <a:buChar char="▪"/>
              <a:defRPr sz="1800">
                <a:latin typeface="Arial"/>
                <a:ea typeface="Arial"/>
                <a:cs typeface="Arial"/>
                <a:sym typeface="Arial"/>
              </a:defRPr>
            </a:lvl2pPr>
            <a:lvl3pPr marL="1371600" lvl="2" indent="-330200" algn="l">
              <a:lnSpc>
                <a:spcPct val="90000"/>
              </a:lnSpc>
              <a:spcBef>
                <a:spcPts val="500"/>
              </a:spcBef>
              <a:spcAft>
                <a:spcPts val="0"/>
              </a:spcAft>
              <a:buClr>
                <a:srgbClr val="F26E21"/>
              </a:buClr>
              <a:buSzPts val="1600"/>
              <a:buFont typeface="Noto Sans Symbols"/>
              <a:buChar char="▪"/>
              <a:defRPr sz="1600">
                <a:latin typeface="Arial"/>
                <a:ea typeface="Arial"/>
                <a:cs typeface="Arial"/>
                <a:sym typeface="Arial"/>
              </a:defRPr>
            </a:lvl3pPr>
            <a:lvl4pPr marL="1828800" lvl="3"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4pPr>
            <a:lvl5pPr marL="2286000" lvl="4"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Font typeface="Arial"/>
              <a:buChar char="•"/>
              <a:defRPr/>
            </a:lvl6pPr>
            <a:lvl7pPr marL="3200400" lvl="6" indent="-342900" algn="l">
              <a:lnSpc>
                <a:spcPct val="90000"/>
              </a:lnSpc>
              <a:spcBef>
                <a:spcPts val="500"/>
              </a:spcBef>
              <a:spcAft>
                <a:spcPts val="0"/>
              </a:spcAft>
              <a:buClr>
                <a:schemeClr val="dk1"/>
              </a:buClr>
              <a:buSzPts val="1800"/>
              <a:buFont typeface="Arial"/>
              <a:buChar char="•"/>
              <a:defRPr/>
            </a:lvl7pPr>
            <a:lvl8pPr marL="3657600" lvl="7" indent="-342900" algn="l">
              <a:lnSpc>
                <a:spcPct val="90000"/>
              </a:lnSpc>
              <a:spcBef>
                <a:spcPts val="500"/>
              </a:spcBef>
              <a:spcAft>
                <a:spcPts val="0"/>
              </a:spcAft>
              <a:buClr>
                <a:schemeClr val="dk1"/>
              </a:buClr>
              <a:buSzPts val="1800"/>
              <a:buFont typeface="Arial"/>
              <a:buChar char="•"/>
              <a:defRPr/>
            </a:lvl8pPr>
            <a:lvl9pPr marL="4114800" lvl="8" indent="-342900" algn="l">
              <a:lnSpc>
                <a:spcPct val="90000"/>
              </a:lnSpc>
              <a:spcBef>
                <a:spcPts val="500"/>
              </a:spcBef>
              <a:spcAft>
                <a:spcPts val="0"/>
              </a:spcAft>
              <a:buClr>
                <a:schemeClr val="dk1"/>
              </a:buClr>
              <a:buSzPts val="1800"/>
              <a:buFont typeface="Arial"/>
              <a:buChar char="•"/>
              <a:defRPr/>
            </a:lvl9pPr>
          </a:lstStyle>
          <a:p>
            <a:endParaRPr/>
          </a:p>
        </p:txBody>
      </p:sp>
      <p:sp>
        <p:nvSpPr>
          <p:cNvPr id="81" name="Google Shape;81;p27"/>
          <p:cNvSpPr txBox="1">
            <a:spLocks noGrp="1"/>
          </p:cNvSpPr>
          <p:nvPr>
            <p:ph type="title"/>
          </p:nvPr>
        </p:nvSpPr>
        <p:spPr>
          <a:xfrm>
            <a:off x="838200" y="1086144"/>
            <a:ext cx="10515600" cy="76833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b="1">
                <a:latin typeface="Arial"/>
                <a:ea typeface="Arial"/>
                <a:cs typeface="Arial"/>
                <a:sym typeface="Arial"/>
              </a:defRPr>
            </a:lvl1pPr>
            <a:lvl2pPr lvl="1" algn="l">
              <a:lnSpc>
                <a:spcPct val="100000"/>
              </a:lnSpc>
              <a:spcBef>
                <a:spcPts val="0"/>
              </a:spcBef>
              <a:spcAft>
                <a:spcPts val="0"/>
              </a:spcAft>
              <a:buClr>
                <a:srgbClr val="000000"/>
              </a:buClr>
              <a:buSzPts val="1400"/>
              <a:buFont typeface="Arial"/>
              <a:buNone/>
              <a:defRPr/>
            </a:lvl2pPr>
            <a:lvl3pPr lvl="2" algn="l">
              <a:lnSpc>
                <a:spcPct val="100000"/>
              </a:lnSpc>
              <a:spcBef>
                <a:spcPts val="0"/>
              </a:spcBef>
              <a:spcAft>
                <a:spcPts val="0"/>
              </a:spcAft>
              <a:buClr>
                <a:srgbClr val="000000"/>
              </a:buClr>
              <a:buSzPts val="1400"/>
              <a:buFont typeface="Arial"/>
              <a:buNone/>
              <a:defRPr/>
            </a:lvl3pPr>
            <a:lvl4pPr lvl="3" algn="l">
              <a:lnSpc>
                <a:spcPct val="100000"/>
              </a:lnSpc>
              <a:spcBef>
                <a:spcPts val="0"/>
              </a:spcBef>
              <a:spcAft>
                <a:spcPts val="0"/>
              </a:spcAft>
              <a:buClr>
                <a:srgbClr val="000000"/>
              </a:buClr>
              <a:buSzPts val="1400"/>
              <a:buFont typeface="Arial"/>
              <a:buNone/>
              <a:defRPr/>
            </a:lvl4pPr>
            <a:lvl5pPr lvl="4" algn="l">
              <a:lnSpc>
                <a:spcPct val="100000"/>
              </a:lnSpc>
              <a:spcBef>
                <a:spcPts val="0"/>
              </a:spcBef>
              <a:spcAft>
                <a:spcPts val="0"/>
              </a:spcAft>
              <a:buClr>
                <a:srgbClr val="000000"/>
              </a:buClr>
              <a:buSzPts val="1400"/>
              <a:buFont typeface="Arial"/>
              <a:buNone/>
              <a:defRPr/>
            </a:lvl5pPr>
            <a:lvl6pPr lvl="5" algn="l">
              <a:lnSpc>
                <a:spcPct val="100000"/>
              </a:lnSpc>
              <a:spcBef>
                <a:spcPts val="0"/>
              </a:spcBef>
              <a:spcAft>
                <a:spcPts val="0"/>
              </a:spcAft>
              <a:buClr>
                <a:srgbClr val="000000"/>
              </a:buClr>
              <a:buSzPts val="1400"/>
              <a:buFont typeface="Arial"/>
              <a:buNone/>
              <a:defRPr/>
            </a:lvl6pPr>
            <a:lvl7pPr lvl="6" algn="l">
              <a:lnSpc>
                <a:spcPct val="100000"/>
              </a:lnSpc>
              <a:spcBef>
                <a:spcPts val="0"/>
              </a:spcBef>
              <a:spcAft>
                <a:spcPts val="0"/>
              </a:spcAft>
              <a:buClr>
                <a:srgbClr val="000000"/>
              </a:buClr>
              <a:buSzPts val="1400"/>
              <a:buFont typeface="Arial"/>
              <a:buNone/>
              <a:defRPr/>
            </a:lvl7pPr>
            <a:lvl8pPr lvl="7" algn="l">
              <a:lnSpc>
                <a:spcPct val="100000"/>
              </a:lnSpc>
              <a:spcBef>
                <a:spcPts val="0"/>
              </a:spcBef>
              <a:spcAft>
                <a:spcPts val="0"/>
              </a:spcAft>
              <a:buClr>
                <a:srgbClr val="000000"/>
              </a:buClr>
              <a:buSzPts val="1400"/>
              <a:buFont typeface="Arial"/>
              <a:buNone/>
              <a:defRPr/>
            </a:lvl8pPr>
            <a:lvl9pPr lvl="8" algn="l">
              <a:lnSpc>
                <a:spcPct val="100000"/>
              </a:lnSpc>
              <a:spcBef>
                <a:spcPts val="0"/>
              </a:spcBef>
              <a:spcAft>
                <a:spcPts val="0"/>
              </a:spcAft>
              <a:buClr>
                <a:srgbClr val="000000"/>
              </a:buClr>
              <a:buSzPts val="1400"/>
              <a:buFont typeface="Arial"/>
              <a:buNone/>
              <a:defRPr/>
            </a:lvl9pPr>
          </a:lstStyle>
          <a:p>
            <a:endParaRPr/>
          </a:p>
        </p:txBody>
      </p:sp>
      <p:sp>
        <p:nvSpPr>
          <p:cNvPr id="82" name="Google Shape;82;p27"/>
          <p:cNvSpPr txBox="1">
            <a:spLocks noGrp="1"/>
          </p:cNvSpPr>
          <p:nvPr>
            <p:ph type="body" idx="2"/>
          </p:nvPr>
        </p:nvSpPr>
        <p:spPr>
          <a:xfrm>
            <a:off x="6368473" y="2429162"/>
            <a:ext cx="4985327" cy="3747799"/>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rgbClr val="F26E21"/>
              </a:buClr>
              <a:buSzPts val="2000"/>
              <a:buFont typeface="Noto Sans Symbols"/>
              <a:buChar char="▪"/>
              <a:defRPr sz="2000">
                <a:latin typeface="Arial"/>
                <a:ea typeface="Arial"/>
                <a:cs typeface="Arial"/>
                <a:sym typeface="Arial"/>
              </a:defRPr>
            </a:lvl1pPr>
            <a:lvl2pPr marL="914400" lvl="1" indent="-342900" algn="l">
              <a:lnSpc>
                <a:spcPct val="90000"/>
              </a:lnSpc>
              <a:spcBef>
                <a:spcPts val="500"/>
              </a:spcBef>
              <a:spcAft>
                <a:spcPts val="0"/>
              </a:spcAft>
              <a:buClr>
                <a:srgbClr val="F26E21"/>
              </a:buClr>
              <a:buSzPts val="1800"/>
              <a:buFont typeface="Noto Sans Symbols"/>
              <a:buChar char="▪"/>
              <a:defRPr sz="1800">
                <a:latin typeface="Arial"/>
                <a:ea typeface="Arial"/>
                <a:cs typeface="Arial"/>
                <a:sym typeface="Arial"/>
              </a:defRPr>
            </a:lvl2pPr>
            <a:lvl3pPr marL="1371600" lvl="2" indent="-330200" algn="l">
              <a:lnSpc>
                <a:spcPct val="90000"/>
              </a:lnSpc>
              <a:spcBef>
                <a:spcPts val="500"/>
              </a:spcBef>
              <a:spcAft>
                <a:spcPts val="0"/>
              </a:spcAft>
              <a:buClr>
                <a:srgbClr val="F26E21"/>
              </a:buClr>
              <a:buSzPts val="1600"/>
              <a:buFont typeface="Noto Sans Symbols"/>
              <a:buChar char="▪"/>
              <a:defRPr sz="1600">
                <a:latin typeface="Arial"/>
                <a:ea typeface="Arial"/>
                <a:cs typeface="Arial"/>
                <a:sym typeface="Arial"/>
              </a:defRPr>
            </a:lvl3pPr>
            <a:lvl4pPr marL="1828800" lvl="3"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4pPr>
            <a:lvl5pPr marL="2286000" lvl="4"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Font typeface="Arial"/>
              <a:buChar char="•"/>
              <a:defRPr/>
            </a:lvl6pPr>
            <a:lvl7pPr marL="3200400" lvl="6" indent="-342900" algn="l">
              <a:lnSpc>
                <a:spcPct val="90000"/>
              </a:lnSpc>
              <a:spcBef>
                <a:spcPts val="500"/>
              </a:spcBef>
              <a:spcAft>
                <a:spcPts val="0"/>
              </a:spcAft>
              <a:buClr>
                <a:schemeClr val="dk1"/>
              </a:buClr>
              <a:buSzPts val="1800"/>
              <a:buFont typeface="Arial"/>
              <a:buChar char="•"/>
              <a:defRPr/>
            </a:lvl7pPr>
            <a:lvl8pPr marL="3657600" lvl="7" indent="-342900" algn="l">
              <a:lnSpc>
                <a:spcPct val="90000"/>
              </a:lnSpc>
              <a:spcBef>
                <a:spcPts val="500"/>
              </a:spcBef>
              <a:spcAft>
                <a:spcPts val="0"/>
              </a:spcAft>
              <a:buClr>
                <a:schemeClr val="dk1"/>
              </a:buClr>
              <a:buSzPts val="1800"/>
              <a:buFont typeface="Arial"/>
              <a:buChar char="•"/>
              <a:defRPr/>
            </a:lvl8pPr>
            <a:lvl9pPr marL="4114800" lvl="8" indent="-342900" algn="l">
              <a:lnSpc>
                <a:spcPct val="90000"/>
              </a:lnSpc>
              <a:spcBef>
                <a:spcPts val="500"/>
              </a:spcBef>
              <a:spcAft>
                <a:spcPts val="0"/>
              </a:spcAft>
              <a:buClr>
                <a:schemeClr val="dk1"/>
              </a:buClr>
              <a:buSzPts val="1800"/>
              <a:buFont typeface="Arial"/>
              <a:buChar char="•"/>
              <a:defRPr/>
            </a:lvl9pPr>
          </a:lstStyle>
          <a:p>
            <a:endParaRPr/>
          </a:p>
        </p:txBody>
      </p:sp>
      <p:sp>
        <p:nvSpPr>
          <p:cNvPr id="83" name="Google Shape;83;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mp; Content_Layout 4_A">
  <p:cSld name="Title &amp; Content_Layout 4_A">
    <p:spTree>
      <p:nvGrpSpPr>
        <p:cNvPr id="1" name="Shape 46"/>
        <p:cNvGrpSpPr/>
        <p:nvPr/>
      </p:nvGrpSpPr>
      <p:grpSpPr>
        <a:xfrm>
          <a:off x="0" y="0"/>
          <a:ext cx="0" cy="0"/>
          <a:chOff x="0" y="0"/>
          <a:chExt cx="0" cy="0"/>
        </a:xfrm>
      </p:grpSpPr>
      <p:sp>
        <p:nvSpPr>
          <p:cNvPr id="47" name="Google Shape;47;p23"/>
          <p:cNvSpPr txBox="1">
            <a:spLocks noGrp="1"/>
          </p:cNvSpPr>
          <p:nvPr>
            <p:ph type="title"/>
          </p:nvPr>
        </p:nvSpPr>
        <p:spPr>
          <a:xfrm>
            <a:off x="4525297" y="1244501"/>
            <a:ext cx="7125929" cy="96734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b="1">
                <a:latin typeface="Arial"/>
                <a:ea typeface="Arial"/>
                <a:cs typeface="Arial"/>
                <a:sym typeface="Arial"/>
              </a:defRPr>
            </a:lvl1pPr>
            <a:lvl2pPr lvl="1" algn="l">
              <a:lnSpc>
                <a:spcPct val="100000"/>
              </a:lnSpc>
              <a:spcBef>
                <a:spcPts val="0"/>
              </a:spcBef>
              <a:spcAft>
                <a:spcPts val="0"/>
              </a:spcAft>
              <a:buClr>
                <a:srgbClr val="000000"/>
              </a:buClr>
              <a:buSzPts val="1400"/>
              <a:buFont typeface="Arial"/>
              <a:buNone/>
              <a:defRPr/>
            </a:lvl2pPr>
            <a:lvl3pPr lvl="2" algn="l">
              <a:lnSpc>
                <a:spcPct val="100000"/>
              </a:lnSpc>
              <a:spcBef>
                <a:spcPts val="0"/>
              </a:spcBef>
              <a:spcAft>
                <a:spcPts val="0"/>
              </a:spcAft>
              <a:buClr>
                <a:srgbClr val="000000"/>
              </a:buClr>
              <a:buSzPts val="1400"/>
              <a:buFont typeface="Arial"/>
              <a:buNone/>
              <a:defRPr/>
            </a:lvl3pPr>
            <a:lvl4pPr lvl="3" algn="l">
              <a:lnSpc>
                <a:spcPct val="100000"/>
              </a:lnSpc>
              <a:spcBef>
                <a:spcPts val="0"/>
              </a:spcBef>
              <a:spcAft>
                <a:spcPts val="0"/>
              </a:spcAft>
              <a:buClr>
                <a:srgbClr val="000000"/>
              </a:buClr>
              <a:buSzPts val="1400"/>
              <a:buFont typeface="Arial"/>
              <a:buNone/>
              <a:defRPr/>
            </a:lvl4pPr>
            <a:lvl5pPr lvl="4" algn="l">
              <a:lnSpc>
                <a:spcPct val="100000"/>
              </a:lnSpc>
              <a:spcBef>
                <a:spcPts val="0"/>
              </a:spcBef>
              <a:spcAft>
                <a:spcPts val="0"/>
              </a:spcAft>
              <a:buClr>
                <a:srgbClr val="000000"/>
              </a:buClr>
              <a:buSzPts val="1400"/>
              <a:buFont typeface="Arial"/>
              <a:buNone/>
              <a:defRPr/>
            </a:lvl5pPr>
            <a:lvl6pPr lvl="5" algn="l">
              <a:lnSpc>
                <a:spcPct val="100000"/>
              </a:lnSpc>
              <a:spcBef>
                <a:spcPts val="0"/>
              </a:spcBef>
              <a:spcAft>
                <a:spcPts val="0"/>
              </a:spcAft>
              <a:buClr>
                <a:srgbClr val="000000"/>
              </a:buClr>
              <a:buSzPts val="1400"/>
              <a:buFont typeface="Arial"/>
              <a:buNone/>
              <a:defRPr/>
            </a:lvl6pPr>
            <a:lvl7pPr lvl="6" algn="l">
              <a:lnSpc>
                <a:spcPct val="100000"/>
              </a:lnSpc>
              <a:spcBef>
                <a:spcPts val="0"/>
              </a:spcBef>
              <a:spcAft>
                <a:spcPts val="0"/>
              </a:spcAft>
              <a:buClr>
                <a:srgbClr val="000000"/>
              </a:buClr>
              <a:buSzPts val="1400"/>
              <a:buFont typeface="Arial"/>
              <a:buNone/>
              <a:defRPr/>
            </a:lvl7pPr>
            <a:lvl8pPr lvl="7" algn="l">
              <a:lnSpc>
                <a:spcPct val="100000"/>
              </a:lnSpc>
              <a:spcBef>
                <a:spcPts val="0"/>
              </a:spcBef>
              <a:spcAft>
                <a:spcPts val="0"/>
              </a:spcAft>
              <a:buClr>
                <a:srgbClr val="000000"/>
              </a:buClr>
              <a:buSzPts val="1400"/>
              <a:buFont typeface="Arial"/>
              <a:buNone/>
              <a:defRPr/>
            </a:lvl8pPr>
            <a:lvl9pPr lvl="8" algn="l">
              <a:lnSpc>
                <a:spcPct val="100000"/>
              </a:lnSpc>
              <a:spcBef>
                <a:spcPts val="0"/>
              </a:spcBef>
              <a:spcAft>
                <a:spcPts val="0"/>
              </a:spcAft>
              <a:buClr>
                <a:srgbClr val="000000"/>
              </a:buClr>
              <a:buSzPts val="1400"/>
              <a:buFont typeface="Arial"/>
              <a:buNone/>
              <a:defRPr/>
            </a:lvl9pPr>
          </a:lstStyle>
          <a:p>
            <a:endParaRPr/>
          </a:p>
        </p:txBody>
      </p:sp>
      <p:sp>
        <p:nvSpPr>
          <p:cNvPr id="48" name="Google Shape;48;p23"/>
          <p:cNvSpPr>
            <a:spLocks noGrp="1"/>
          </p:cNvSpPr>
          <p:nvPr>
            <p:ph type="pic" idx="2"/>
          </p:nvPr>
        </p:nvSpPr>
        <p:spPr>
          <a:xfrm>
            <a:off x="0" y="363538"/>
            <a:ext cx="3224213" cy="5997575"/>
          </a:xfrm>
          <a:prstGeom prst="rect">
            <a:avLst/>
          </a:prstGeom>
          <a:noFill/>
          <a:ln>
            <a:noFill/>
          </a:ln>
        </p:spPr>
      </p:sp>
      <p:sp>
        <p:nvSpPr>
          <p:cNvPr id="49" name="Google Shape;49;p23"/>
          <p:cNvSpPr txBox="1">
            <a:spLocks noGrp="1"/>
          </p:cNvSpPr>
          <p:nvPr>
            <p:ph type="body" idx="1"/>
          </p:nvPr>
        </p:nvSpPr>
        <p:spPr>
          <a:xfrm>
            <a:off x="4525963" y="2900363"/>
            <a:ext cx="7124700" cy="3294062"/>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rgbClr val="F26E21"/>
              </a:buClr>
              <a:buSzPts val="2000"/>
              <a:buFont typeface="Noto Sans Symbols"/>
              <a:buChar char="▪"/>
              <a:defRPr sz="2000">
                <a:latin typeface="Arial"/>
                <a:ea typeface="Arial"/>
                <a:cs typeface="Arial"/>
                <a:sym typeface="Arial"/>
              </a:defRPr>
            </a:lvl1pPr>
            <a:lvl2pPr marL="914400" lvl="1" indent="-342900" algn="l">
              <a:lnSpc>
                <a:spcPct val="90000"/>
              </a:lnSpc>
              <a:spcBef>
                <a:spcPts val="500"/>
              </a:spcBef>
              <a:spcAft>
                <a:spcPts val="0"/>
              </a:spcAft>
              <a:buClr>
                <a:srgbClr val="F26E21"/>
              </a:buClr>
              <a:buSzPts val="1800"/>
              <a:buFont typeface="Noto Sans Symbols"/>
              <a:buChar char="▪"/>
              <a:defRPr sz="1800">
                <a:latin typeface="Arial"/>
                <a:ea typeface="Arial"/>
                <a:cs typeface="Arial"/>
                <a:sym typeface="Arial"/>
              </a:defRPr>
            </a:lvl2pPr>
            <a:lvl3pPr marL="1371600" lvl="2" indent="-330200" algn="l">
              <a:lnSpc>
                <a:spcPct val="90000"/>
              </a:lnSpc>
              <a:spcBef>
                <a:spcPts val="500"/>
              </a:spcBef>
              <a:spcAft>
                <a:spcPts val="0"/>
              </a:spcAft>
              <a:buClr>
                <a:srgbClr val="F26E21"/>
              </a:buClr>
              <a:buSzPts val="1600"/>
              <a:buFont typeface="Noto Sans Symbols"/>
              <a:buChar char="▪"/>
              <a:defRPr sz="1600">
                <a:latin typeface="Arial"/>
                <a:ea typeface="Arial"/>
                <a:cs typeface="Arial"/>
                <a:sym typeface="Arial"/>
              </a:defRPr>
            </a:lvl3pPr>
            <a:lvl4pPr marL="1828800" lvl="3"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4pPr>
            <a:lvl5pPr marL="2286000" lvl="4"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Font typeface="Arial"/>
              <a:buChar char="•"/>
              <a:defRPr/>
            </a:lvl6pPr>
            <a:lvl7pPr marL="3200400" lvl="6" indent="-342900" algn="l">
              <a:lnSpc>
                <a:spcPct val="90000"/>
              </a:lnSpc>
              <a:spcBef>
                <a:spcPts val="500"/>
              </a:spcBef>
              <a:spcAft>
                <a:spcPts val="0"/>
              </a:spcAft>
              <a:buClr>
                <a:schemeClr val="dk1"/>
              </a:buClr>
              <a:buSzPts val="1800"/>
              <a:buFont typeface="Arial"/>
              <a:buChar char="•"/>
              <a:defRPr/>
            </a:lvl7pPr>
            <a:lvl8pPr marL="3657600" lvl="7" indent="-342900" algn="l">
              <a:lnSpc>
                <a:spcPct val="90000"/>
              </a:lnSpc>
              <a:spcBef>
                <a:spcPts val="500"/>
              </a:spcBef>
              <a:spcAft>
                <a:spcPts val="0"/>
              </a:spcAft>
              <a:buClr>
                <a:schemeClr val="dk1"/>
              </a:buClr>
              <a:buSzPts val="1800"/>
              <a:buFont typeface="Arial"/>
              <a:buChar char="•"/>
              <a:defRPr/>
            </a:lvl8pPr>
            <a:lvl9pPr marL="4114800" lvl="8" indent="-342900" algn="l">
              <a:lnSpc>
                <a:spcPct val="90000"/>
              </a:lnSpc>
              <a:spcBef>
                <a:spcPts val="500"/>
              </a:spcBef>
              <a:spcAft>
                <a:spcPts val="0"/>
              </a:spcAft>
              <a:buClr>
                <a:schemeClr val="dk1"/>
              </a:buClr>
              <a:buSzPts val="1800"/>
              <a:buFont typeface="Arial"/>
              <a:buChar char="•"/>
              <a:defRPr/>
            </a:lvl9pPr>
          </a:lstStyle>
          <a:p>
            <a:endParaRPr/>
          </a:p>
        </p:txBody>
      </p:sp>
      <p:sp>
        <p:nvSpPr>
          <p:cNvPr id="50" name="Google Shape;5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03446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mp; Content_Layout 5">
  <p:cSld name="Title &amp; Content_Layout 5">
    <p:spTree>
      <p:nvGrpSpPr>
        <p:cNvPr id="1" name="Shape 95"/>
        <p:cNvGrpSpPr/>
        <p:nvPr/>
      </p:nvGrpSpPr>
      <p:grpSpPr>
        <a:xfrm>
          <a:off x="0" y="0"/>
          <a:ext cx="0" cy="0"/>
          <a:chOff x="0" y="0"/>
          <a:chExt cx="0" cy="0"/>
        </a:xfrm>
      </p:grpSpPr>
      <p:sp>
        <p:nvSpPr>
          <p:cNvPr id="96" name="Google Shape;96;p29"/>
          <p:cNvSpPr txBox="1">
            <a:spLocks noGrp="1"/>
          </p:cNvSpPr>
          <p:nvPr>
            <p:ph type="body" idx="1"/>
          </p:nvPr>
        </p:nvSpPr>
        <p:spPr>
          <a:xfrm>
            <a:off x="838200" y="2429163"/>
            <a:ext cx="10515600" cy="3747799"/>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rgbClr val="F26E21"/>
              </a:buClr>
              <a:buSzPts val="2000"/>
              <a:buFont typeface="Noto Sans Symbols"/>
              <a:buChar char="▪"/>
              <a:defRPr sz="2000">
                <a:latin typeface="Arial"/>
                <a:ea typeface="Arial"/>
                <a:cs typeface="Arial"/>
                <a:sym typeface="Arial"/>
              </a:defRPr>
            </a:lvl1pPr>
            <a:lvl2pPr marL="914400" lvl="1" indent="-342900" algn="l">
              <a:lnSpc>
                <a:spcPct val="90000"/>
              </a:lnSpc>
              <a:spcBef>
                <a:spcPts val="500"/>
              </a:spcBef>
              <a:spcAft>
                <a:spcPts val="0"/>
              </a:spcAft>
              <a:buClr>
                <a:srgbClr val="F26E21"/>
              </a:buClr>
              <a:buSzPts val="1800"/>
              <a:buFont typeface="Noto Sans Symbols"/>
              <a:buChar char="▪"/>
              <a:defRPr sz="1800">
                <a:latin typeface="Arial"/>
                <a:ea typeface="Arial"/>
                <a:cs typeface="Arial"/>
                <a:sym typeface="Arial"/>
              </a:defRPr>
            </a:lvl2pPr>
            <a:lvl3pPr marL="1371600" lvl="2" indent="-330200" algn="l">
              <a:lnSpc>
                <a:spcPct val="90000"/>
              </a:lnSpc>
              <a:spcBef>
                <a:spcPts val="500"/>
              </a:spcBef>
              <a:spcAft>
                <a:spcPts val="0"/>
              </a:spcAft>
              <a:buClr>
                <a:srgbClr val="F26E21"/>
              </a:buClr>
              <a:buSzPts val="1600"/>
              <a:buFont typeface="Noto Sans Symbols"/>
              <a:buChar char="▪"/>
              <a:defRPr sz="1600">
                <a:latin typeface="Arial"/>
                <a:ea typeface="Arial"/>
                <a:cs typeface="Arial"/>
                <a:sym typeface="Arial"/>
              </a:defRPr>
            </a:lvl3pPr>
            <a:lvl4pPr marL="1828800" lvl="3"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4pPr>
            <a:lvl5pPr marL="2286000" lvl="4"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Font typeface="Arial"/>
              <a:buChar char="•"/>
              <a:defRPr/>
            </a:lvl6pPr>
            <a:lvl7pPr marL="3200400" lvl="6" indent="-342900" algn="l">
              <a:lnSpc>
                <a:spcPct val="90000"/>
              </a:lnSpc>
              <a:spcBef>
                <a:spcPts val="500"/>
              </a:spcBef>
              <a:spcAft>
                <a:spcPts val="0"/>
              </a:spcAft>
              <a:buClr>
                <a:schemeClr val="dk1"/>
              </a:buClr>
              <a:buSzPts val="1800"/>
              <a:buFont typeface="Arial"/>
              <a:buChar char="•"/>
              <a:defRPr/>
            </a:lvl7pPr>
            <a:lvl8pPr marL="3657600" lvl="7" indent="-342900" algn="l">
              <a:lnSpc>
                <a:spcPct val="90000"/>
              </a:lnSpc>
              <a:spcBef>
                <a:spcPts val="500"/>
              </a:spcBef>
              <a:spcAft>
                <a:spcPts val="0"/>
              </a:spcAft>
              <a:buClr>
                <a:schemeClr val="dk1"/>
              </a:buClr>
              <a:buSzPts val="1800"/>
              <a:buFont typeface="Arial"/>
              <a:buChar char="•"/>
              <a:defRPr/>
            </a:lvl8pPr>
            <a:lvl9pPr marL="4114800" lvl="8" indent="-342900" algn="l">
              <a:lnSpc>
                <a:spcPct val="90000"/>
              </a:lnSpc>
              <a:spcBef>
                <a:spcPts val="500"/>
              </a:spcBef>
              <a:spcAft>
                <a:spcPts val="0"/>
              </a:spcAft>
              <a:buClr>
                <a:schemeClr val="dk1"/>
              </a:buClr>
              <a:buSzPts val="1800"/>
              <a:buFont typeface="Arial"/>
              <a:buChar char="•"/>
              <a:defRPr/>
            </a:lvl9pPr>
          </a:lstStyle>
          <a:p>
            <a:endParaRPr/>
          </a:p>
        </p:txBody>
      </p:sp>
      <p:sp>
        <p:nvSpPr>
          <p:cNvPr id="97" name="Google Shape;97;p29"/>
          <p:cNvSpPr txBox="1">
            <a:spLocks noGrp="1"/>
          </p:cNvSpPr>
          <p:nvPr>
            <p:ph type="title"/>
          </p:nvPr>
        </p:nvSpPr>
        <p:spPr>
          <a:xfrm>
            <a:off x="838200" y="1086144"/>
            <a:ext cx="10515600" cy="76833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b="1">
                <a:latin typeface="Arial"/>
                <a:ea typeface="Arial"/>
                <a:cs typeface="Arial"/>
                <a:sym typeface="Arial"/>
              </a:defRPr>
            </a:lvl1pPr>
            <a:lvl2pPr lvl="1" algn="l">
              <a:lnSpc>
                <a:spcPct val="100000"/>
              </a:lnSpc>
              <a:spcBef>
                <a:spcPts val="0"/>
              </a:spcBef>
              <a:spcAft>
                <a:spcPts val="0"/>
              </a:spcAft>
              <a:buClr>
                <a:srgbClr val="000000"/>
              </a:buClr>
              <a:buSzPts val="1400"/>
              <a:buFont typeface="Arial"/>
              <a:buNone/>
              <a:defRPr/>
            </a:lvl2pPr>
            <a:lvl3pPr lvl="2" algn="l">
              <a:lnSpc>
                <a:spcPct val="100000"/>
              </a:lnSpc>
              <a:spcBef>
                <a:spcPts val="0"/>
              </a:spcBef>
              <a:spcAft>
                <a:spcPts val="0"/>
              </a:spcAft>
              <a:buClr>
                <a:srgbClr val="000000"/>
              </a:buClr>
              <a:buSzPts val="1400"/>
              <a:buFont typeface="Arial"/>
              <a:buNone/>
              <a:defRPr/>
            </a:lvl3pPr>
            <a:lvl4pPr lvl="3" algn="l">
              <a:lnSpc>
                <a:spcPct val="100000"/>
              </a:lnSpc>
              <a:spcBef>
                <a:spcPts val="0"/>
              </a:spcBef>
              <a:spcAft>
                <a:spcPts val="0"/>
              </a:spcAft>
              <a:buClr>
                <a:srgbClr val="000000"/>
              </a:buClr>
              <a:buSzPts val="1400"/>
              <a:buFont typeface="Arial"/>
              <a:buNone/>
              <a:defRPr/>
            </a:lvl4pPr>
            <a:lvl5pPr lvl="4" algn="l">
              <a:lnSpc>
                <a:spcPct val="100000"/>
              </a:lnSpc>
              <a:spcBef>
                <a:spcPts val="0"/>
              </a:spcBef>
              <a:spcAft>
                <a:spcPts val="0"/>
              </a:spcAft>
              <a:buClr>
                <a:srgbClr val="000000"/>
              </a:buClr>
              <a:buSzPts val="1400"/>
              <a:buFont typeface="Arial"/>
              <a:buNone/>
              <a:defRPr/>
            </a:lvl5pPr>
            <a:lvl6pPr lvl="5" algn="l">
              <a:lnSpc>
                <a:spcPct val="100000"/>
              </a:lnSpc>
              <a:spcBef>
                <a:spcPts val="0"/>
              </a:spcBef>
              <a:spcAft>
                <a:spcPts val="0"/>
              </a:spcAft>
              <a:buClr>
                <a:srgbClr val="000000"/>
              </a:buClr>
              <a:buSzPts val="1400"/>
              <a:buFont typeface="Arial"/>
              <a:buNone/>
              <a:defRPr/>
            </a:lvl6pPr>
            <a:lvl7pPr lvl="6" algn="l">
              <a:lnSpc>
                <a:spcPct val="100000"/>
              </a:lnSpc>
              <a:spcBef>
                <a:spcPts val="0"/>
              </a:spcBef>
              <a:spcAft>
                <a:spcPts val="0"/>
              </a:spcAft>
              <a:buClr>
                <a:srgbClr val="000000"/>
              </a:buClr>
              <a:buSzPts val="1400"/>
              <a:buFont typeface="Arial"/>
              <a:buNone/>
              <a:defRPr/>
            </a:lvl7pPr>
            <a:lvl8pPr lvl="7" algn="l">
              <a:lnSpc>
                <a:spcPct val="100000"/>
              </a:lnSpc>
              <a:spcBef>
                <a:spcPts val="0"/>
              </a:spcBef>
              <a:spcAft>
                <a:spcPts val="0"/>
              </a:spcAft>
              <a:buClr>
                <a:srgbClr val="000000"/>
              </a:buClr>
              <a:buSzPts val="1400"/>
              <a:buFont typeface="Arial"/>
              <a:buNone/>
              <a:defRPr/>
            </a:lvl8pPr>
            <a:lvl9pPr lvl="8" algn="l">
              <a:lnSpc>
                <a:spcPct val="100000"/>
              </a:lnSpc>
              <a:spcBef>
                <a:spcPts val="0"/>
              </a:spcBef>
              <a:spcAft>
                <a:spcPts val="0"/>
              </a:spcAft>
              <a:buClr>
                <a:srgbClr val="000000"/>
              </a:buClr>
              <a:buSzPts val="1400"/>
              <a:buFont typeface="Arial"/>
              <a:buNone/>
              <a:defRPr/>
            </a:lvl9pPr>
          </a:lstStyle>
          <a:p>
            <a:endParaRPr/>
          </a:p>
        </p:txBody>
      </p:sp>
      <p:sp>
        <p:nvSpPr>
          <p:cNvPr id="98" name="Google Shape;9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mp; Content_Layout 4_A">
  <p:cSld name="Title &amp; Content_Layout 4_A">
    <p:spTree>
      <p:nvGrpSpPr>
        <p:cNvPr id="1" name="Shape 46"/>
        <p:cNvGrpSpPr/>
        <p:nvPr/>
      </p:nvGrpSpPr>
      <p:grpSpPr>
        <a:xfrm>
          <a:off x="0" y="0"/>
          <a:ext cx="0" cy="0"/>
          <a:chOff x="0" y="0"/>
          <a:chExt cx="0" cy="0"/>
        </a:xfrm>
      </p:grpSpPr>
      <p:sp>
        <p:nvSpPr>
          <p:cNvPr id="47" name="Google Shape;47;p23"/>
          <p:cNvSpPr txBox="1">
            <a:spLocks noGrp="1"/>
          </p:cNvSpPr>
          <p:nvPr>
            <p:ph type="title"/>
          </p:nvPr>
        </p:nvSpPr>
        <p:spPr>
          <a:xfrm>
            <a:off x="4525297" y="1244501"/>
            <a:ext cx="7125929" cy="96734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b="1">
                <a:latin typeface="Arial"/>
                <a:ea typeface="Arial"/>
                <a:cs typeface="Arial"/>
                <a:sym typeface="Arial"/>
              </a:defRPr>
            </a:lvl1pPr>
            <a:lvl2pPr lvl="1" algn="l">
              <a:lnSpc>
                <a:spcPct val="100000"/>
              </a:lnSpc>
              <a:spcBef>
                <a:spcPts val="0"/>
              </a:spcBef>
              <a:spcAft>
                <a:spcPts val="0"/>
              </a:spcAft>
              <a:buClr>
                <a:srgbClr val="000000"/>
              </a:buClr>
              <a:buSzPts val="1400"/>
              <a:buFont typeface="Arial"/>
              <a:buNone/>
              <a:defRPr/>
            </a:lvl2pPr>
            <a:lvl3pPr lvl="2" algn="l">
              <a:lnSpc>
                <a:spcPct val="100000"/>
              </a:lnSpc>
              <a:spcBef>
                <a:spcPts val="0"/>
              </a:spcBef>
              <a:spcAft>
                <a:spcPts val="0"/>
              </a:spcAft>
              <a:buClr>
                <a:srgbClr val="000000"/>
              </a:buClr>
              <a:buSzPts val="1400"/>
              <a:buFont typeface="Arial"/>
              <a:buNone/>
              <a:defRPr/>
            </a:lvl3pPr>
            <a:lvl4pPr lvl="3" algn="l">
              <a:lnSpc>
                <a:spcPct val="100000"/>
              </a:lnSpc>
              <a:spcBef>
                <a:spcPts val="0"/>
              </a:spcBef>
              <a:spcAft>
                <a:spcPts val="0"/>
              </a:spcAft>
              <a:buClr>
                <a:srgbClr val="000000"/>
              </a:buClr>
              <a:buSzPts val="1400"/>
              <a:buFont typeface="Arial"/>
              <a:buNone/>
              <a:defRPr/>
            </a:lvl4pPr>
            <a:lvl5pPr lvl="4" algn="l">
              <a:lnSpc>
                <a:spcPct val="100000"/>
              </a:lnSpc>
              <a:spcBef>
                <a:spcPts val="0"/>
              </a:spcBef>
              <a:spcAft>
                <a:spcPts val="0"/>
              </a:spcAft>
              <a:buClr>
                <a:srgbClr val="000000"/>
              </a:buClr>
              <a:buSzPts val="1400"/>
              <a:buFont typeface="Arial"/>
              <a:buNone/>
              <a:defRPr/>
            </a:lvl5pPr>
            <a:lvl6pPr lvl="5" algn="l">
              <a:lnSpc>
                <a:spcPct val="100000"/>
              </a:lnSpc>
              <a:spcBef>
                <a:spcPts val="0"/>
              </a:spcBef>
              <a:spcAft>
                <a:spcPts val="0"/>
              </a:spcAft>
              <a:buClr>
                <a:srgbClr val="000000"/>
              </a:buClr>
              <a:buSzPts val="1400"/>
              <a:buFont typeface="Arial"/>
              <a:buNone/>
              <a:defRPr/>
            </a:lvl6pPr>
            <a:lvl7pPr lvl="6" algn="l">
              <a:lnSpc>
                <a:spcPct val="100000"/>
              </a:lnSpc>
              <a:spcBef>
                <a:spcPts val="0"/>
              </a:spcBef>
              <a:spcAft>
                <a:spcPts val="0"/>
              </a:spcAft>
              <a:buClr>
                <a:srgbClr val="000000"/>
              </a:buClr>
              <a:buSzPts val="1400"/>
              <a:buFont typeface="Arial"/>
              <a:buNone/>
              <a:defRPr/>
            </a:lvl7pPr>
            <a:lvl8pPr lvl="7" algn="l">
              <a:lnSpc>
                <a:spcPct val="100000"/>
              </a:lnSpc>
              <a:spcBef>
                <a:spcPts val="0"/>
              </a:spcBef>
              <a:spcAft>
                <a:spcPts val="0"/>
              </a:spcAft>
              <a:buClr>
                <a:srgbClr val="000000"/>
              </a:buClr>
              <a:buSzPts val="1400"/>
              <a:buFont typeface="Arial"/>
              <a:buNone/>
              <a:defRPr/>
            </a:lvl8pPr>
            <a:lvl9pPr lvl="8" algn="l">
              <a:lnSpc>
                <a:spcPct val="100000"/>
              </a:lnSpc>
              <a:spcBef>
                <a:spcPts val="0"/>
              </a:spcBef>
              <a:spcAft>
                <a:spcPts val="0"/>
              </a:spcAft>
              <a:buClr>
                <a:srgbClr val="000000"/>
              </a:buClr>
              <a:buSzPts val="1400"/>
              <a:buFont typeface="Arial"/>
              <a:buNone/>
              <a:defRPr/>
            </a:lvl9pPr>
          </a:lstStyle>
          <a:p>
            <a:endParaRPr/>
          </a:p>
        </p:txBody>
      </p:sp>
      <p:sp>
        <p:nvSpPr>
          <p:cNvPr id="48" name="Google Shape;48;p23"/>
          <p:cNvSpPr>
            <a:spLocks noGrp="1"/>
          </p:cNvSpPr>
          <p:nvPr>
            <p:ph type="pic" idx="2"/>
          </p:nvPr>
        </p:nvSpPr>
        <p:spPr>
          <a:xfrm>
            <a:off x="0" y="363538"/>
            <a:ext cx="3224213" cy="5997575"/>
          </a:xfrm>
          <a:prstGeom prst="rect">
            <a:avLst/>
          </a:prstGeom>
          <a:noFill/>
          <a:ln>
            <a:noFill/>
          </a:ln>
        </p:spPr>
      </p:sp>
      <p:sp>
        <p:nvSpPr>
          <p:cNvPr id="49" name="Google Shape;49;p23"/>
          <p:cNvSpPr txBox="1">
            <a:spLocks noGrp="1"/>
          </p:cNvSpPr>
          <p:nvPr>
            <p:ph type="body" idx="1"/>
          </p:nvPr>
        </p:nvSpPr>
        <p:spPr>
          <a:xfrm>
            <a:off x="4525963" y="2900363"/>
            <a:ext cx="7124700" cy="3294062"/>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rgbClr val="F26E21"/>
              </a:buClr>
              <a:buSzPts val="2000"/>
              <a:buFont typeface="Noto Sans Symbols"/>
              <a:buChar char="▪"/>
              <a:defRPr sz="2000">
                <a:latin typeface="Arial"/>
                <a:ea typeface="Arial"/>
                <a:cs typeface="Arial"/>
                <a:sym typeface="Arial"/>
              </a:defRPr>
            </a:lvl1pPr>
            <a:lvl2pPr marL="914400" lvl="1" indent="-342900" algn="l">
              <a:lnSpc>
                <a:spcPct val="90000"/>
              </a:lnSpc>
              <a:spcBef>
                <a:spcPts val="500"/>
              </a:spcBef>
              <a:spcAft>
                <a:spcPts val="0"/>
              </a:spcAft>
              <a:buClr>
                <a:srgbClr val="F26E21"/>
              </a:buClr>
              <a:buSzPts val="1800"/>
              <a:buFont typeface="Noto Sans Symbols"/>
              <a:buChar char="▪"/>
              <a:defRPr sz="1800">
                <a:latin typeface="Arial"/>
                <a:ea typeface="Arial"/>
                <a:cs typeface="Arial"/>
                <a:sym typeface="Arial"/>
              </a:defRPr>
            </a:lvl2pPr>
            <a:lvl3pPr marL="1371600" lvl="2" indent="-330200" algn="l">
              <a:lnSpc>
                <a:spcPct val="90000"/>
              </a:lnSpc>
              <a:spcBef>
                <a:spcPts val="500"/>
              </a:spcBef>
              <a:spcAft>
                <a:spcPts val="0"/>
              </a:spcAft>
              <a:buClr>
                <a:srgbClr val="F26E21"/>
              </a:buClr>
              <a:buSzPts val="1600"/>
              <a:buFont typeface="Noto Sans Symbols"/>
              <a:buChar char="▪"/>
              <a:defRPr sz="1600">
                <a:latin typeface="Arial"/>
                <a:ea typeface="Arial"/>
                <a:cs typeface="Arial"/>
                <a:sym typeface="Arial"/>
              </a:defRPr>
            </a:lvl3pPr>
            <a:lvl4pPr marL="1828800" lvl="3"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4pPr>
            <a:lvl5pPr marL="2286000" lvl="4" indent="-317500" algn="l">
              <a:lnSpc>
                <a:spcPct val="90000"/>
              </a:lnSpc>
              <a:spcBef>
                <a:spcPts val="500"/>
              </a:spcBef>
              <a:spcAft>
                <a:spcPts val="0"/>
              </a:spcAft>
              <a:buClr>
                <a:srgbClr val="F26E21"/>
              </a:buClr>
              <a:buSzPts val="1400"/>
              <a:buFont typeface="Noto Sans Symbols"/>
              <a:buChar char="▪"/>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Font typeface="Arial"/>
              <a:buChar char="•"/>
              <a:defRPr/>
            </a:lvl6pPr>
            <a:lvl7pPr marL="3200400" lvl="6" indent="-342900" algn="l">
              <a:lnSpc>
                <a:spcPct val="90000"/>
              </a:lnSpc>
              <a:spcBef>
                <a:spcPts val="500"/>
              </a:spcBef>
              <a:spcAft>
                <a:spcPts val="0"/>
              </a:spcAft>
              <a:buClr>
                <a:schemeClr val="dk1"/>
              </a:buClr>
              <a:buSzPts val="1800"/>
              <a:buFont typeface="Arial"/>
              <a:buChar char="•"/>
              <a:defRPr/>
            </a:lvl7pPr>
            <a:lvl8pPr marL="3657600" lvl="7" indent="-342900" algn="l">
              <a:lnSpc>
                <a:spcPct val="90000"/>
              </a:lnSpc>
              <a:spcBef>
                <a:spcPts val="500"/>
              </a:spcBef>
              <a:spcAft>
                <a:spcPts val="0"/>
              </a:spcAft>
              <a:buClr>
                <a:schemeClr val="dk1"/>
              </a:buClr>
              <a:buSzPts val="1800"/>
              <a:buFont typeface="Arial"/>
              <a:buChar char="•"/>
              <a:defRPr/>
            </a:lvl8pPr>
            <a:lvl9pPr marL="4114800" lvl="8" indent="-342900" algn="l">
              <a:lnSpc>
                <a:spcPct val="90000"/>
              </a:lnSpc>
              <a:spcBef>
                <a:spcPts val="500"/>
              </a:spcBef>
              <a:spcAft>
                <a:spcPts val="0"/>
              </a:spcAft>
              <a:buClr>
                <a:schemeClr val="dk1"/>
              </a:buClr>
              <a:buSzPts val="1800"/>
              <a:buFont typeface="Arial"/>
              <a:buChar char="•"/>
              <a:defRPr/>
            </a:lvl9pPr>
          </a:lstStyle>
          <a:p>
            <a:endParaRPr/>
          </a:p>
        </p:txBody>
      </p:sp>
      <p:sp>
        <p:nvSpPr>
          <p:cNvPr id="50" name="Google Shape;5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09341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Gallery Content_Layout 1">
  <p:cSld name="Gallery Content_Layout 1">
    <p:spTree>
      <p:nvGrpSpPr>
        <p:cNvPr id="1" name="Shape 109"/>
        <p:cNvGrpSpPr/>
        <p:nvPr/>
      </p:nvGrpSpPr>
      <p:grpSpPr>
        <a:xfrm>
          <a:off x="0" y="0"/>
          <a:ext cx="0" cy="0"/>
          <a:chOff x="0" y="0"/>
          <a:chExt cx="0" cy="0"/>
        </a:xfrm>
      </p:grpSpPr>
      <p:sp>
        <p:nvSpPr>
          <p:cNvPr id="110" name="Google Shape;110;p31"/>
          <p:cNvSpPr txBox="1">
            <a:spLocks noGrp="1"/>
          </p:cNvSpPr>
          <p:nvPr>
            <p:ph type="title"/>
          </p:nvPr>
        </p:nvSpPr>
        <p:spPr>
          <a:xfrm>
            <a:off x="838200" y="1086144"/>
            <a:ext cx="10515600" cy="76833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b="1">
                <a:latin typeface="Arial"/>
                <a:ea typeface="Arial"/>
                <a:cs typeface="Arial"/>
                <a:sym typeface="Arial"/>
              </a:defRPr>
            </a:lvl1pPr>
            <a:lvl2pPr lvl="1" algn="l">
              <a:lnSpc>
                <a:spcPct val="100000"/>
              </a:lnSpc>
              <a:spcBef>
                <a:spcPts val="0"/>
              </a:spcBef>
              <a:spcAft>
                <a:spcPts val="0"/>
              </a:spcAft>
              <a:buClr>
                <a:srgbClr val="000000"/>
              </a:buClr>
              <a:buSzPts val="1400"/>
              <a:buFont typeface="Arial"/>
              <a:buNone/>
              <a:defRPr/>
            </a:lvl2pPr>
            <a:lvl3pPr lvl="2" algn="l">
              <a:lnSpc>
                <a:spcPct val="100000"/>
              </a:lnSpc>
              <a:spcBef>
                <a:spcPts val="0"/>
              </a:spcBef>
              <a:spcAft>
                <a:spcPts val="0"/>
              </a:spcAft>
              <a:buClr>
                <a:srgbClr val="000000"/>
              </a:buClr>
              <a:buSzPts val="1400"/>
              <a:buFont typeface="Arial"/>
              <a:buNone/>
              <a:defRPr/>
            </a:lvl3pPr>
            <a:lvl4pPr lvl="3" algn="l">
              <a:lnSpc>
                <a:spcPct val="100000"/>
              </a:lnSpc>
              <a:spcBef>
                <a:spcPts val="0"/>
              </a:spcBef>
              <a:spcAft>
                <a:spcPts val="0"/>
              </a:spcAft>
              <a:buClr>
                <a:srgbClr val="000000"/>
              </a:buClr>
              <a:buSzPts val="1400"/>
              <a:buFont typeface="Arial"/>
              <a:buNone/>
              <a:defRPr/>
            </a:lvl4pPr>
            <a:lvl5pPr lvl="4" algn="l">
              <a:lnSpc>
                <a:spcPct val="100000"/>
              </a:lnSpc>
              <a:spcBef>
                <a:spcPts val="0"/>
              </a:spcBef>
              <a:spcAft>
                <a:spcPts val="0"/>
              </a:spcAft>
              <a:buClr>
                <a:srgbClr val="000000"/>
              </a:buClr>
              <a:buSzPts val="1400"/>
              <a:buFont typeface="Arial"/>
              <a:buNone/>
              <a:defRPr/>
            </a:lvl5pPr>
            <a:lvl6pPr lvl="5" algn="l">
              <a:lnSpc>
                <a:spcPct val="100000"/>
              </a:lnSpc>
              <a:spcBef>
                <a:spcPts val="0"/>
              </a:spcBef>
              <a:spcAft>
                <a:spcPts val="0"/>
              </a:spcAft>
              <a:buClr>
                <a:srgbClr val="000000"/>
              </a:buClr>
              <a:buSzPts val="1400"/>
              <a:buFont typeface="Arial"/>
              <a:buNone/>
              <a:defRPr/>
            </a:lvl6pPr>
            <a:lvl7pPr lvl="6" algn="l">
              <a:lnSpc>
                <a:spcPct val="100000"/>
              </a:lnSpc>
              <a:spcBef>
                <a:spcPts val="0"/>
              </a:spcBef>
              <a:spcAft>
                <a:spcPts val="0"/>
              </a:spcAft>
              <a:buClr>
                <a:srgbClr val="000000"/>
              </a:buClr>
              <a:buSzPts val="1400"/>
              <a:buFont typeface="Arial"/>
              <a:buNone/>
              <a:defRPr/>
            </a:lvl7pPr>
            <a:lvl8pPr lvl="7" algn="l">
              <a:lnSpc>
                <a:spcPct val="100000"/>
              </a:lnSpc>
              <a:spcBef>
                <a:spcPts val="0"/>
              </a:spcBef>
              <a:spcAft>
                <a:spcPts val="0"/>
              </a:spcAft>
              <a:buClr>
                <a:srgbClr val="000000"/>
              </a:buClr>
              <a:buSzPts val="1400"/>
              <a:buFont typeface="Arial"/>
              <a:buNone/>
              <a:defRPr/>
            </a:lvl8pPr>
            <a:lvl9pPr lvl="8" algn="l">
              <a:lnSpc>
                <a:spcPct val="100000"/>
              </a:lnSpc>
              <a:spcBef>
                <a:spcPts val="0"/>
              </a:spcBef>
              <a:spcAft>
                <a:spcPts val="0"/>
              </a:spcAft>
              <a:buClr>
                <a:srgbClr val="000000"/>
              </a:buClr>
              <a:buSzPts val="1400"/>
              <a:buFont typeface="Arial"/>
              <a:buNone/>
              <a:defRPr/>
            </a:lvl9pPr>
          </a:lstStyle>
          <a:p>
            <a:endParaRPr/>
          </a:p>
        </p:txBody>
      </p:sp>
      <p:sp>
        <p:nvSpPr>
          <p:cNvPr id="111" name="Google Shape;111;p31"/>
          <p:cNvSpPr>
            <a:spLocks noGrp="1"/>
          </p:cNvSpPr>
          <p:nvPr>
            <p:ph type="pic" idx="2"/>
          </p:nvPr>
        </p:nvSpPr>
        <p:spPr>
          <a:xfrm>
            <a:off x="838200" y="2351756"/>
            <a:ext cx="3200400" cy="1908175"/>
          </a:xfrm>
          <a:prstGeom prst="rect">
            <a:avLst/>
          </a:prstGeom>
          <a:noFill/>
          <a:ln>
            <a:noFill/>
          </a:ln>
        </p:spPr>
      </p:sp>
      <p:sp>
        <p:nvSpPr>
          <p:cNvPr id="112" name="Google Shape;112;p31"/>
          <p:cNvSpPr>
            <a:spLocks noGrp="1"/>
          </p:cNvSpPr>
          <p:nvPr>
            <p:ph type="pic" idx="3"/>
          </p:nvPr>
        </p:nvSpPr>
        <p:spPr>
          <a:xfrm>
            <a:off x="4495800" y="2351756"/>
            <a:ext cx="3200400" cy="1908175"/>
          </a:xfrm>
          <a:prstGeom prst="rect">
            <a:avLst/>
          </a:prstGeom>
          <a:noFill/>
          <a:ln>
            <a:noFill/>
          </a:ln>
        </p:spPr>
      </p:sp>
      <p:sp>
        <p:nvSpPr>
          <p:cNvPr id="113" name="Google Shape;113;p31"/>
          <p:cNvSpPr>
            <a:spLocks noGrp="1"/>
          </p:cNvSpPr>
          <p:nvPr>
            <p:ph type="pic" idx="4"/>
          </p:nvPr>
        </p:nvSpPr>
        <p:spPr>
          <a:xfrm>
            <a:off x="8153400" y="2351755"/>
            <a:ext cx="3200400" cy="1908175"/>
          </a:xfrm>
          <a:prstGeom prst="rect">
            <a:avLst/>
          </a:prstGeom>
          <a:noFill/>
          <a:ln>
            <a:noFill/>
          </a:ln>
        </p:spPr>
      </p:sp>
      <p:sp>
        <p:nvSpPr>
          <p:cNvPr id="114" name="Google Shape;114;p31"/>
          <p:cNvSpPr>
            <a:spLocks noGrp="1"/>
          </p:cNvSpPr>
          <p:nvPr>
            <p:ph type="pic" idx="5"/>
          </p:nvPr>
        </p:nvSpPr>
        <p:spPr>
          <a:xfrm>
            <a:off x="838200" y="4401220"/>
            <a:ext cx="3200400" cy="1908175"/>
          </a:xfrm>
          <a:prstGeom prst="rect">
            <a:avLst/>
          </a:prstGeom>
          <a:noFill/>
          <a:ln>
            <a:noFill/>
          </a:ln>
        </p:spPr>
      </p:sp>
      <p:sp>
        <p:nvSpPr>
          <p:cNvPr id="115" name="Google Shape;115;p31"/>
          <p:cNvSpPr>
            <a:spLocks noGrp="1"/>
          </p:cNvSpPr>
          <p:nvPr>
            <p:ph type="pic" idx="6"/>
          </p:nvPr>
        </p:nvSpPr>
        <p:spPr>
          <a:xfrm>
            <a:off x="4495800" y="4401220"/>
            <a:ext cx="3200400" cy="1908175"/>
          </a:xfrm>
          <a:prstGeom prst="rect">
            <a:avLst/>
          </a:prstGeom>
          <a:noFill/>
          <a:ln>
            <a:noFill/>
          </a:ln>
        </p:spPr>
      </p:sp>
      <p:sp>
        <p:nvSpPr>
          <p:cNvPr id="116" name="Google Shape;116;p31"/>
          <p:cNvSpPr>
            <a:spLocks noGrp="1"/>
          </p:cNvSpPr>
          <p:nvPr>
            <p:ph type="pic" idx="7"/>
          </p:nvPr>
        </p:nvSpPr>
        <p:spPr>
          <a:xfrm>
            <a:off x="8153400" y="4401219"/>
            <a:ext cx="3200400" cy="1908175"/>
          </a:xfrm>
          <a:prstGeom prst="rect">
            <a:avLst/>
          </a:prstGeom>
          <a:noFill/>
          <a:ln>
            <a:noFill/>
          </a:ln>
        </p:spPr>
      </p:sp>
      <p:sp>
        <p:nvSpPr>
          <p:cNvPr id="117" name="Google Shape;117;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 you Slide_1">
  <p:cSld name="Thank you Slide_1">
    <p:spTree>
      <p:nvGrpSpPr>
        <p:cNvPr id="1" name="Shape 127"/>
        <p:cNvGrpSpPr/>
        <p:nvPr/>
      </p:nvGrpSpPr>
      <p:grpSpPr>
        <a:xfrm>
          <a:off x="0" y="0"/>
          <a:ext cx="0" cy="0"/>
          <a:chOff x="0" y="0"/>
          <a:chExt cx="0" cy="0"/>
        </a:xfrm>
      </p:grpSpPr>
      <p:sp>
        <p:nvSpPr>
          <p:cNvPr id="128" name="Google Shape;128;p33"/>
          <p:cNvSpPr txBox="1">
            <a:spLocks noGrp="1"/>
          </p:cNvSpPr>
          <p:nvPr>
            <p:ph type="title"/>
          </p:nvPr>
        </p:nvSpPr>
        <p:spPr>
          <a:xfrm>
            <a:off x="921327" y="2036545"/>
            <a:ext cx="4306455"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FFFFFF"/>
              </a:buClr>
              <a:buSzPts val="6000"/>
              <a:buFont typeface="Arial"/>
              <a:buNone/>
              <a:defRPr sz="6000" b="1">
                <a:solidFill>
                  <a:srgbClr val="FFFFFF"/>
                </a:solidFill>
                <a:latin typeface="Arial"/>
                <a:ea typeface="Arial"/>
                <a:cs typeface="Arial"/>
                <a:sym typeface="Arial"/>
              </a:defRPr>
            </a:lvl1pPr>
            <a:lvl2pPr lvl="1" algn="l">
              <a:lnSpc>
                <a:spcPct val="100000"/>
              </a:lnSpc>
              <a:spcBef>
                <a:spcPts val="0"/>
              </a:spcBef>
              <a:spcAft>
                <a:spcPts val="0"/>
              </a:spcAft>
              <a:buClr>
                <a:srgbClr val="000000"/>
              </a:buClr>
              <a:buSzPts val="1400"/>
              <a:buFont typeface="Arial"/>
              <a:buNone/>
              <a:defRPr/>
            </a:lvl2pPr>
            <a:lvl3pPr lvl="2" algn="l">
              <a:lnSpc>
                <a:spcPct val="100000"/>
              </a:lnSpc>
              <a:spcBef>
                <a:spcPts val="0"/>
              </a:spcBef>
              <a:spcAft>
                <a:spcPts val="0"/>
              </a:spcAft>
              <a:buClr>
                <a:srgbClr val="000000"/>
              </a:buClr>
              <a:buSzPts val="1400"/>
              <a:buFont typeface="Arial"/>
              <a:buNone/>
              <a:defRPr/>
            </a:lvl3pPr>
            <a:lvl4pPr lvl="3" algn="l">
              <a:lnSpc>
                <a:spcPct val="100000"/>
              </a:lnSpc>
              <a:spcBef>
                <a:spcPts val="0"/>
              </a:spcBef>
              <a:spcAft>
                <a:spcPts val="0"/>
              </a:spcAft>
              <a:buClr>
                <a:srgbClr val="000000"/>
              </a:buClr>
              <a:buSzPts val="1400"/>
              <a:buFont typeface="Arial"/>
              <a:buNone/>
              <a:defRPr/>
            </a:lvl4pPr>
            <a:lvl5pPr lvl="4" algn="l">
              <a:lnSpc>
                <a:spcPct val="100000"/>
              </a:lnSpc>
              <a:spcBef>
                <a:spcPts val="0"/>
              </a:spcBef>
              <a:spcAft>
                <a:spcPts val="0"/>
              </a:spcAft>
              <a:buClr>
                <a:srgbClr val="000000"/>
              </a:buClr>
              <a:buSzPts val="1400"/>
              <a:buFont typeface="Arial"/>
              <a:buNone/>
              <a:defRPr/>
            </a:lvl5pPr>
            <a:lvl6pPr lvl="5" algn="l">
              <a:lnSpc>
                <a:spcPct val="100000"/>
              </a:lnSpc>
              <a:spcBef>
                <a:spcPts val="0"/>
              </a:spcBef>
              <a:spcAft>
                <a:spcPts val="0"/>
              </a:spcAft>
              <a:buClr>
                <a:srgbClr val="000000"/>
              </a:buClr>
              <a:buSzPts val="1400"/>
              <a:buFont typeface="Arial"/>
              <a:buNone/>
              <a:defRPr/>
            </a:lvl6pPr>
            <a:lvl7pPr lvl="6" algn="l">
              <a:lnSpc>
                <a:spcPct val="100000"/>
              </a:lnSpc>
              <a:spcBef>
                <a:spcPts val="0"/>
              </a:spcBef>
              <a:spcAft>
                <a:spcPts val="0"/>
              </a:spcAft>
              <a:buClr>
                <a:srgbClr val="000000"/>
              </a:buClr>
              <a:buSzPts val="1400"/>
              <a:buFont typeface="Arial"/>
              <a:buNone/>
              <a:defRPr/>
            </a:lvl7pPr>
            <a:lvl8pPr lvl="7" algn="l">
              <a:lnSpc>
                <a:spcPct val="100000"/>
              </a:lnSpc>
              <a:spcBef>
                <a:spcPts val="0"/>
              </a:spcBef>
              <a:spcAft>
                <a:spcPts val="0"/>
              </a:spcAft>
              <a:buClr>
                <a:srgbClr val="000000"/>
              </a:buClr>
              <a:buSzPts val="1400"/>
              <a:buFont typeface="Arial"/>
              <a:buNone/>
              <a:defRPr/>
            </a:lvl8pPr>
            <a:lvl9pPr lvl="8" algn="l">
              <a:lnSpc>
                <a:spcPct val="100000"/>
              </a:lnSpc>
              <a:spcBef>
                <a:spcPts val="0"/>
              </a:spcBef>
              <a:spcAft>
                <a:spcPts val="0"/>
              </a:spcAft>
              <a:buClr>
                <a:srgbClr val="000000"/>
              </a:buClr>
              <a:buSzPts val="1400"/>
              <a:buFont typeface="Arial"/>
              <a:buNone/>
              <a:defRPr/>
            </a:lvl9pPr>
          </a:lstStyle>
          <a:p>
            <a:endParaRPr/>
          </a:p>
        </p:txBody>
      </p:sp>
      <p:sp>
        <p:nvSpPr>
          <p:cNvPr id="129" name="Google Shape;129;p33"/>
          <p:cNvSpPr>
            <a:spLocks noGrp="1"/>
          </p:cNvSpPr>
          <p:nvPr>
            <p:ph type="pic" idx="2"/>
          </p:nvPr>
        </p:nvSpPr>
        <p:spPr>
          <a:xfrm>
            <a:off x="6096000" y="0"/>
            <a:ext cx="6096000" cy="6858000"/>
          </a:xfrm>
          <a:prstGeom prst="rect">
            <a:avLst/>
          </a:prstGeom>
          <a:noFill/>
          <a:ln>
            <a:noFill/>
          </a:ln>
        </p:spPr>
      </p:sp>
      <p:sp>
        <p:nvSpPr>
          <p:cNvPr id="130" name="Google Shape;130;p33"/>
          <p:cNvSpPr txBox="1">
            <a:spLocks noGrp="1"/>
          </p:cNvSpPr>
          <p:nvPr>
            <p:ph type="body" idx="1"/>
          </p:nvPr>
        </p:nvSpPr>
        <p:spPr>
          <a:xfrm>
            <a:off x="895350" y="3786908"/>
            <a:ext cx="4368800" cy="37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FFFFFF"/>
              </a:buClr>
              <a:buSzPts val="2400"/>
              <a:buFont typeface="Arial"/>
              <a:buNone/>
              <a:defRPr sz="2400" b="0" i="0">
                <a:solidFill>
                  <a:srgbClr val="FFFF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Font typeface="Arial"/>
              <a:buChar char="•"/>
              <a:defRPr/>
            </a:lvl2pPr>
            <a:lvl3pPr marL="1371600" lvl="2" indent="-342900" algn="l">
              <a:lnSpc>
                <a:spcPct val="90000"/>
              </a:lnSpc>
              <a:spcBef>
                <a:spcPts val="500"/>
              </a:spcBef>
              <a:spcAft>
                <a:spcPts val="0"/>
              </a:spcAft>
              <a:buClr>
                <a:schemeClr val="dk1"/>
              </a:buClr>
              <a:buSzPts val="1800"/>
              <a:buFont typeface="Arial"/>
              <a:buChar char="•"/>
              <a:defRPr/>
            </a:lvl3pPr>
            <a:lvl4pPr marL="1828800" lvl="3" indent="-342900" algn="l">
              <a:lnSpc>
                <a:spcPct val="90000"/>
              </a:lnSpc>
              <a:spcBef>
                <a:spcPts val="500"/>
              </a:spcBef>
              <a:spcAft>
                <a:spcPts val="0"/>
              </a:spcAft>
              <a:buClr>
                <a:schemeClr val="dk1"/>
              </a:buClr>
              <a:buSzPts val="1800"/>
              <a:buFont typeface="Arial"/>
              <a:buChar char="•"/>
              <a:defRPr/>
            </a:lvl4pPr>
            <a:lvl5pPr marL="2286000" lvl="4" indent="-342900" algn="l">
              <a:lnSpc>
                <a:spcPct val="90000"/>
              </a:lnSpc>
              <a:spcBef>
                <a:spcPts val="500"/>
              </a:spcBef>
              <a:spcAft>
                <a:spcPts val="0"/>
              </a:spcAft>
              <a:buClr>
                <a:schemeClr val="dk1"/>
              </a:buClr>
              <a:buSzPts val="1800"/>
              <a:buFont typeface="Arial"/>
              <a:buChar char="•"/>
              <a:defRPr/>
            </a:lvl5pPr>
            <a:lvl6pPr marL="2743200" lvl="5" indent="-342900" algn="l">
              <a:lnSpc>
                <a:spcPct val="90000"/>
              </a:lnSpc>
              <a:spcBef>
                <a:spcPts val="500"/>
              </a:spcBef>
              <a:spcAft>
                <a:spcPts val="0"/>
              </a:spcAft>
              <a:buClr>
                <a:schemeClr val="dk1"/>
              </a:buClr>
              <a:buSzPts val="1800"/>
              <a:buFont typeface="Arial"/>
              <a:buChar char="•"/>
              <a:defRPr/>
            </a:lvl6pPr>
            <a:lvl7pPr marL="3200400" lvl="6" indent="-342900" algn="l">
              <a:lnSpc>
                <a:spcPct val="90000"/>
              </a:lnSpc>
              <a:spcBef>
                <a:spcPts val="500"/>
              </a:spcBef>
              <a:spcAft>
                <a:spcPts val="0"/>
              </a:spcAft>
              <a:buClr>
                <a:schemeClr val="dk1"/>
              </a:buClr>
              <a:buSzPts val="1800"/>
              <a:buFont typeface="Arial"/>
              <a:buChar char="•"/>
              <a:defRPr/>
            </a:lvl7pPr>
            <a:lvl8pPr marL="3657600" lvl="7" indent="-342900" algn="l">
              <a:lnSpc>
                <a:spcPct val="90000"/>
              </a:lnSpc>
              <a:spcBef>
                <a:spcPts val="500"/>
              </a:spcBef>
              <a:spcAft>
                <a:spcPts val="0"/>
              </a:spcAft>
              <a:buClr>
                <a:schemeClr val="dk1"/>
              </a:buClr>
              <a:buSzPts val="1800"/>
              <a:buFont typeface="Arial"/>
              <a:buChar char="•"/>
              <a:defRPr/>
            </a:lvl8pPr>
            <a:lvl9pPr marL="4114800" lvl="8" indent="-342900" algn="l">
              <a:lnSpc>
                <a:spcPct val="90000"/>
              </a:lnSpc>
              <a:spcBef>
                <a:spcPts val="500"/>
              </a:spcBef>
              <a:spcAft>
                <a:spcPts val="0"/>
              </a:spcAft>
              <a:buClr>
                <a:schemeClr val="dk1"/>
              </a:buClr>
              <a:buSzPts val="1800"/>
              <a:buFont typeface="Arial"/>
              <a:buChar char="•"/>
              <a:defRPr/>
            </a:lvl9pPr>
          </a:lstStyle>
          <a:p>
            <a:endParaRPr/>
          </a:p>
        </p:txBody>
      </p:sp>
      <p:sp>
        <p:nvSpPr>
          <p:cNvPr id="131" name="Google Shape;13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4.jp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5.jp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6.jpg"/><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7.jpg"/><Relationship Id="rId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7.xml"/><Relationship Id="rId1" Type="http://schemas.openxmlformats.org/officeDocument/2006/relationships/slideLayout" Target="../slideLayouts/slideLayout9.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theme" Target="../theme/theme8.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2" descr="1"/>
          <p:cNvPicPr preferRelativeResize="0"/>
          <p:nvPr/>
        </p:nvPicPr>
        <p:blipFill rotWithShape="1">
          <a:blip r:embed="rId3">
            <a:alphaModFix/>
          </a:blip>
          <a:srcRect/>
          <a:stretch/>
        </p:blipFill>
        <p:spPr>
          <a:xfrm>
            <a:off x="0" y="0"/>
            <a:ext cx="7797800" cy="6858000"/>
          </a:xfrm>
          <a:prstGeom prst="rect">
            <a:avLst/>
          </a:prstGeom>
          <a:noFill/>
          <a:ln>
            <a:noFill/>
          </a:ln>
        </p:spPr>
      </p:pic>
      <p:sp>
        <p:nvSpPr>
          <p:cNvPr id="7" name="Google Shape;7;p12"/>
          <p:cNvSpPr txBox="1"/>
          <p:nvPr/>
        </p:nvSpPr>
        <p:spPr>
          <a:xfrm>
            <a:off x="442912" y="6248400"/>
            <a:ext cx="7000875" cy="30956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FFFFFF"/>
              </a:buClr>
              <a:buSzPts val="1300"/>
              <a:buFont typeface="Arial"/>
              <a:buNone/>
            </a:pPr>
            <a:r>
              <a:rPr lang="en-US" sz="1300" b="1" i="0" u="none" strike="noStrike" cap="none">
                <a:solidFill>
                  <a:srgbClr val="FFFFFF"/>
                </a:solidFill>
                <a:latin typeface="Arial"/>
                <a:ea typeface="Arial"/>
                <a:cs typeface="Arial"/>
                <a:sym typeface="Arial"/>
              </a:rPr>
              <a:t>PRADITA UNIVERSITY</a:t>
            </a:r>
            <a:endParaRPr/>
          </a:p>
        </p:txBody>
      </p:sp>
      <p:pic>
        <p:nvPicPr>
          <p:cNvPr id="8" name="Google Shape;8;p12" descr="A close up of a sign&#10;&#10;Description automatically generated"/>
          <p:cNvPicPr preferRelativeResize="0"/>
          <p:nvPr/>
        </p:nvPicPr>
        <p:blipFill rotWithShape="1">
          <a:blip r:embed="rId4">
            <a:alphaModFix/>
          </a:blip>
          <a:srcRect/>
          <a:stretch/>
        </p:blipFill>
        <p:spPr>
          <a:xfrm>
            <a:off x="442912" y="222250"/>
            <a:ext cx="1557337" cy="673100"/>
          </a:xfrm>
          <a:prstGeom prst="rect">
            <a:avLst/>
          </a:prstGeom>
          <a:noFill/>
          <a:ln>
            <a:noFill/>
          </a:ln>
        </p:spPr>
      </p:pic>
      <p:sp>
        <p:nvSpPr>
          <p:cNvPr id="9" name="Google Shape;9;p1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 name="Google Shape;10;p12"/>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2" name="Google Shape;1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3" name="Google Shape;1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pic>
        <p:nvPicPr>
          <p:cNvPr id="22" name="Google Shape;22;p14" descr="2"/>
          <p:cNvPicPr preferRelativeResize="0"/>
          <p:nvPr/>
        </p:nvPicPr>
        <p:blipFill rotWithShape="1">
          <a:blip r:embed="rId3">
            <a:alphaModFix/>
          </a:blip>
          <a:srcRect/>
          <a:stretch/>
        </p:blipFill>
        <p:spPr>
          <a:xfrm>
            <a:off x="12700" y="0"/>
            <a:ext cx="5803900" cy="6858000"/>
          </a:xfrm>
          <a:prstGeom prst="rect">
            <a:avLst/>
          </a:prstGeom>
          <a:noFill/>
          <a:ln>
            <a:noFill/>
          </a:ln>
        </p:spPr>
      </p:pic>
      <p:sp>
        <p:nvSpPr>
          <p:cNvPr id="23" name="Google Shape;23;p14"/>
          <p:cNvSpPr txBox="1"/>
          <p:nvPr/>
        </p:nvSpPr>
        <p:spPr>
          <a:xfrm>
            <a:off x="690562" y="3670300"/>
            <a:ext cx="1220787" cy="73025"/>
          </a:xfrm>
          <a:prstGeom prst="rect">
            <a:avLst/>
          </a:prstGeom>
          <a:solidFill>
            <a:srgbClr val="F9A12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24" name="Google Shape;24;p14" descr="A close up of a sign&#10;&#10;Description automatically generated"/>
          <p:cNvPicPr preferRelativeResize="0"/>
          <p:nvPr/>
        </p:nvPicPr>
        <p:blipFill rotWithShape="1">
          <a:blip r:embed="rId4">
            <a:alphaModFix/>
          </a:blip>
          <a:srcRect/>
          <a:stretch/>
        </p:blipFill>
        <p:spPr>
          <a:xfrm>
            <a:off x="10093325" y="387350"/>
            <a:ext cx="1557337" cy="673100"/>
          </a:xfrm>
          <a:prstGeom prst="rect">
            <a:avLst/>
          </a:prstGeom>
          <a:noFill/>
          <a:ln>
            <a:noFill/>
          </a:ln>
        </p:spPr>
      </p:pic>
      <p:sp>
        <p:nvSpPr>
          <p:cNvPr id="25" name="Google Shape;25;p14"/>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6" name="Google Shape;26;p14"/>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7" name="Google Shape;27;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8" name="Google Shape;28;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9" name="Google Shape;2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
        <p:cNvGrpSpPr/>
        <p:nvPr/>
      </p:nvGrpSpPr>
      <p:grpSpPr>
        <a:xfrm>
          <a:off x="0" y="0"/>
          <a:ext cx="0" cy="0"/>
          <a:chOff x="0" y="0"/>
          <a:chExt cx="0" cy="0"/>
        </a:xfrm>
      </p:grpSpPr>
      <p:sp>
        <p:nvSpPr>
          <p:cNvPr id="38" name="Google Shape;38;p22"/>
          <p:cNvSpPr txBox="1"/>
          <p:nvPr/>
        </p:nvSpPr>
        <p:spPr>
          <a:xfrm>
            <a:off x="4594225" y="2517775"/>
            <a:ext cx="1220787" cy="71437"/>
          </a:xfrm>
          <a:prstGeom prst="rect">
            <a:avLst/>
          </a:prstGeom>
          <a:solidFill>
            <a:srgbClr val="F9A12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39" name="Google Shape;39;p22" descr="A close up of a sign&#10;&#10;Description automatically generated"/>
          <p:cNvPicPr preferRelativeResize="0"/>
          <p:nvPr/>
        </p:nvPicPr>
        <p:blipFill rotWithShape="1">
          <a:blip r:embed="rId3">
            <a:alphaModFix/>
          </a:blip>
          <a:srcRect/>
          <a:stretch/>
        </p:blipFill>
        <p:spPr>
          <a:xfrm>
            <a:off x="10093325" y="222250"/>
            <a:ext cx="1557337" cy="673100"/>
          </a:xfrm>
          <a:prstGeom prst="rect">
            <a:avLst/>
          </a:prstGeom>
          <a:noFill/>
          <a:ln>
            <a:noFill/>
          </a:ln>
        </p:spPr>
      </p:pic>
      <p:pic>
        <p:nvPicPr>
          <p:cNvPr id="40" name="Google Shape;40;p22" descr="6"/>
          <p:cNvPicPr preferRelativeResize="0"/>
          <p:nvPr/>
        </p:nvPicPr>
        <p:blipFill rotWithShape="1">
          <a:blip r:embed="rId4">
            <a:alphaModFix/>
          </a:blip>
          <a:srcRect/>
          <a:stretch/>
        </p:blipFill>
        <p:spPr>
          <a:xfrm>
            <a:off x="0" y="0"/>
            <a:ext cx="3733800" cy="6858000"/>
          </a:xfrm>
          <a:prstGeom prst="rect">
            <a:avLst/>
          </a:prstGeom>
          <a:noFill/>
          <a:ln>
            <a:noFill/>
          </a:ln>
        </p:spPr>
      </p:pic>
      <p:sp>
        <p:nvSpPr>
          <p:cNvPr id="41" name="Google Shape;41;p2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2" name="Google Shape;42;p22"/>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3" name="Google Shape;4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4" name="Google Shape;4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5" name="Google Shape;4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sp>
        <p:nvSpPr>
          <p:cNvPr id="54" name="Google Shape;54;p24"/>
          <p:cNvSpPr txBox="1"/>
          <p:nvPr/>
        </p:nvSpPr>
        <p:spPr>
          <a:xfrm>
            <a:off x="752475" y="2517775"/>
            <a:ext cx="1220787" cy="71437"/>
          </a:xfrm>
          <a:prstGeom prst="rect">
            <a:avLst/>
          </a:prstGeom>
          <a:solidFill>
            <a:srgbClr val="F9A12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55" name="Google Shape;55;p24" descr="A close up of a sign&#10;&#10;Description automatically generated"/>
          <p:cNvPicPr preferRelativeResize="0"/>
          <p:nvPr/>
        </p:nvPicPr>
        <p:blipFill rotWithShape="1">
          <a:blip r:embed="rId3">
            <a:alphaModFix/>
          </a:blip>
          <a:srcRect/>
          <a:stretch/>
        </p:blipFill>
        <p:spPr>
          <a:xfrm>
            <a:off x="682625" y="150812"/>
            <a:ext cx="1557337" cy="673100"/>
          </a:xfrm>
          <a:prstGeom prst="rect">
            <a:avLst/>
          </a:prstGeom>
          <a:noFill/>
          <a:ln>
            <a:noFill/>
          </a:ln>
        </p:spPr>
      </p:pic>
      <p:pic>
        <p:nvPicPr>
          <p:cNvPr id="56" name="Google Shape;56;p24" descr="7"/>
          <p:cNvPicPr preferRelativeResize="0"/>
          <p:nvPr/>
        </p:nvPicPr>
        <p:blipFill rotWithShape="1">
          <a:blip r:embed="rId4">
            <a:alphaModFix/>
          </a:blip>
          <a:srcRect/>
          <a:stretch/>
        </p:blipFill>
        <p:spPr>
          <a:xfrm>
            <a:off x="8472487" y="0"/>
            <a:ext cx="3733800" cy="6858000"/>
          </a:xfrm>
          <a:prstGeom prst="rect">
            <a:avLst/>
          </a:prstGeom>
          <a:noFill/>
          <a:ln>
            <a:noFill/>
          </a:ln>
        </p:spPr>
      </p:pic>
      <p:sp>
        <p:nvSpPr>
          <p:cNvPr id="57" name="Google Shape;57;p24"/>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8" name="Google Shape;58;p24"/>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9" name="Google Shape;5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60" name="Google Shape;6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61" name="Google Shape;6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
        <p:cNvGrpSpPr/>
        <p:nvPr/>
      </p:nvGrpSpPr>
      <p:grpSpPr>
        <a:xfrm>
          <a:off x="0" y="0"/>
          <a:ext cx="0" cy="0"/>
          <a:chOff x="0" y="0"/>
          <a:chExt cx="0" cy="0"/>
        </a:xfrm>
      </p:grpSpPr>
      <p:sp>
        <p:nvSpPr>
          <p:cNvPr id="70" name="Google Shape;70;p26"/>
          <p:cNvSpPr txBox="1"/>
          <p:nvPr/>
        </p:nvSpPr>
        <p:spPr>
          <a:xfrm>
            <a:off x="838200" y="2081212"/>
            <a:ext cx="1220787" cy="71437"/>
          </a:xfrm>
          <a:prstGeom prst="rect">
            <a:avLst/>
          </a:prstGeom>
          <a:solidFill>
            <a:srgbClr val="F9A12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71" name="Google Shape;71;p26" descr="A close up of a sign&#10;&#10;Description automatically generated"/>
          <p:cNvPicPr preferRelativeResize="0"/>
          <p:nvPr/>
        </p:nvPicPr>
        <p:blipFill rotWithShape="1">
          <a:blip r:embed="rId4">
            <a:alphaModFix/>
          </a:blip>
          <a:srcRect/>
          <a:stretch/>
        </p:blipFill>
        <p:spPr>
          <a:xfrm>
            <a:off x="9796462" y="222250"/>
            <a:ext cx="1557337" cy="673100"/>
          </a:xfrm>
          <a:prstGeom prst="rect">
            <a:avLst/>
          </a:prstGeom>
          <a:noFill/>
          <a:ln>
            <a:noFill/>
          </a:ln>
        </p:spPr>
      </p:pic>
      <p:cxnSp>
        <p:nvCxnSpPr>
          <p:cNvPr id="72" name="Google Shape;72;p26"/>
          <p:cNvCxnSpPr/>
          <p:nvPr/>
        </p:nvCxnSpPr>
        <p:spPr>
          <a:xfrm>
            <a:off x="6096000" y="2428875"/>
            <a:ext cx="0" cy="3748087"/>
          </a:xfrm>
          <a:prstGeom prst="straightConnector1">
            <a:avLst/>
          </a:prstGeom>
          <a:noFill/>
          <a:ln w="9525" cap="flat" cmpd="sng">
            <a:solidFill>
              <a:srgbClr val="BFBFBF"/>
            </a:solidFill>
            <a:prstDash val="solid"/>
            <a:miter lim="800000"/>
            <a:headEnd type="none" w="med" len="med"/>
            <a:tailEnd type="none" w="med" len="med"/>
          </a:ln>
        </p:spPr>
      </p:cxnSp>
      <p:pic>
        <p:nvPicPr>
          <p:cNvPr id="73" name="Google Shape;73;p26" descr="8"/>
          <p:cNvPicPr preferRelativeResize="0"/>
          <p:nvPr/>
        </p:nvPicPr>
        <p:blipFill rotWithShape="1">
          <a:blip r:embed="rId5">
            <a:alphaModFix/>
          </a:blip>
          <a:srcRect/>
          <a:stretch/>
        </p:blipFill>
        <p:spPr>
          <a:xfrm>
            <a:off x="0" y="5518150"/>
            <a:ext cx="12192000" cy="1346200"/>
          </a:xfrm>
          <a:prstGeom prst="rect">
            <a:avLst/>
          </a:prstGeom>
          <a:noFill/>
          <a:ln>
            <a:noFill/>
          </a:ln>
        </p:spPr>
      </p:pic>
      <p:sp>
        <p:nvSpPr>
          <p:cNvPr id="74" name="Google Shape;74;p26"/>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5" name="Google Shape;75;p26"/>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6" name="Google Shape;7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7" name="Google Shape;7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8" name="Google Shape;7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7" r:id="rId1"/>
    <p:sldLayoutId id="214748366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
        <p:cNvGrpSpPr/>
        <p:nvPr/>
      </p:nvGrpSpPr>
      <p:grpSpPr>
        <a:xfrm>
          <a:off x="0" y="0"/>
          <a:ext cx="0" cy="0"/>
          <a:chOff x="0" y="0"/>
          <a:chExt cx="0" cy="0"/>
        </a:xfrm>
      </p:grpSpPr>
      <p:sp>
        <p:nvSpPr>
          <p:cNvPr id="87" name="Google Shape;87;p28"/>
          <p:cNvSpPr txBox="1"/>
          <p:nvPr/>
        </p:nvSpPr>
        <p:spPr>
          <a:xfrm>
            <a:off x="838200" y="2081212"/>
            <a:ext cx="1220787" cy="71437"/>
          </a:xfrm>
          <a:prstGeom prst="rect">
            <a:avLst/>
          </a:prstGeom>
          <a:solidFill>
            <a:srgbClr val="F9A12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88" name="Google Shape;88;p28" descr="A close up of a sign&#10;&#10;Description automatically generated"/>
          <p:cNvPicPr preferRelativeResize="0"/>
          <p:nvPr/>
        </p:nvPicPr>
        <p:blipFill rotWithShape="1">
          <a:blip r:embed="rId4">
            <a:alphaModFix/>
          </a:blip>
          <a:srcRect/>
          <a:stretch/>
        </p:blipFill>
        <p:spPr>
          <a:xfrm>
            <a:off x="9796462" y="222250"/>
            <a:ext cx="1557337" cy="673100"/>
          </a:xfrm>
          <a:prstGeom prst="rect">
            <a:avLst/>
          </a:prstGeom>
          <a:noFill/>
          <a:ln>
            <a:noFill/>
          </a:ln>
        </p:spPr>
      </p:pic>
      <p:pic>
        <p:nvPicPr>
          <p:cNvPr id="89" name="Google Shape;89;p28" descr="9"/>
          <p:cNvPicPr preferRelativeResize="0"/>
          <p:nvPr/>
        </p:nvPicPr>
        <p:blipFill rotWithShape="1">
          <a:blip r:embed="rId5">
            <a:alphaModFix/>
          </a:blip>
          <a:srcRect/>
          <a:stretch/>
        </p:blipFill>
        <p:spPr>
          <a:xfrm>
            <a:off x="0" y="5157787"/>
            <a:ext cx="12192000" cy="1727200"/>
          </a:xfrm>
          <a:prstGeom prst="rect">
            <a:avLst/>
          </a:prstGeom>
          <a:noFill/>
          <a:ln>
            <a:noFill/>
          </a:ln>
        </p:spPr>
      </p:pic>
      <p:sp>
        <p:nvSpPr>
          <p:cNvPr id="90" name="Google Shape;90;p28"/>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91" name="Google Shape;91;p28"/>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92" name="Google Shape;9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93" name="Google Shape;9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94" name="Google Shape;9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 id="214748366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1"/>
        <p:cNvGrpSpPr/>
        <p:nvPr/>
      </p:nvGrpSpPr>
      <p:grpSpPr>
        <a:xfrm>
          <a:off x="0" y="0"/>
          <a:ext cx="0" cy="0"/>
          <a:chOff x="0" y="0"/>
          <a:chExt cx="0" cy="0"/>
        </a:xfrm>
      </p:grpSpPr>
      <p:sp>
        <p:nvSpPr>
          <p:cNvPr id="102" name="Google Shape;102;p30"/>
          <p:cNvSpPr txBox="1"/>
          <p:nvPr/>
        </p:nvSpPr>
        <p:spPr>
          <a:xfrm>
            <a:off x="838200" y="2081212"/>
            <a:ext cx="1220787" cy="71437"/>
          </a:xfrm>
          <a:prstGeom prst="rect">
            <a:avLst/>
          </a:prstGeom>
          <a:solidFill>
            <a:srgbClr val="F9A12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103" name="Google Shape;103;p30" descr="A close up of a sign&#10;&#10;Description automatically generated"/>
          <p:cNvPicPr preferRelativeResize="0"/>
          <p:nvPr/>
        </p:nvPicPr>
        <p:blipFill rotWithShape="1">
          <a:blip r:embed="rId3">
            <a:alphaModFix/>
          </a:blip>
          <a:srcRect/>
          <a:stretch/>
        </p:blipFill>
        <p:spPr>
          <a:xfrm>
            <a:off x="9796462" y="222250"/>
            <a:ext cx="1557337" cy="673100"/>
          </a:xfrm>
          <a:prstGeom prst="rect">
            <a:avLst/>
          </a:prstGeom>
          <a:noFill/>
          <a:ln>
            <a:noFill/>
          </a:ln>
        </p:spPr>
      </p:pic>
      <p:sp>
        <p:nvSpPr>
          <p:cNvPr id="104" name="Google Shape;104;p30"/>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5" name="Google Shape;105;p30"/>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6" name="Google Shape;106;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7" name="Google Shape;107;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8" name="Google Shape;108;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pic>
        <p:nvPicPr>
          <p:cNvPr id="121" name="Google Shape;121;p32" descr="10"/>
          <p:cNvPicPr preferRelativeResize="0"/>
          <p:nvPr/>
        </p:nvPicPr>
        <p:blipFill rotWithShape="1">
          <a:blip r:embed="rId3">
            <a:alphaModFix/>
          </a:blip>
          <a:srcRect/>
          <a:stretch/>
        </p:blipFill>
        <p:spPr>
          <a:xfrm>
            <a:off x="0" y="0"/>
            <a:ext cx="6096000" cy="6858000"/>
          </a:xfrm>
          <a:prstGeom prst="rect">
            <a:avLst/>
          </a:prstGeom>
          <a:noFill/>
          <a:ln>
            <a:noFill/>
          </a:ln>
        </p:spPr>
      </p:pic>
      <p:sp>
        <p:nvSpPr>
          <p:cNvPr id="122" name="Google Shape;122;p3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23" name="Google Shape;123;p32"/>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24" name="Google Shape;124;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25" name="Google Shape;125;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26" name="Google Shape;126;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3.jp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35.jp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38.jp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
          <p:cNvSpPr txBox="1">
            <a:spLocks noGrp="1"/>
          </p:cNvSpPr>
          <p:nvPr>
            <p:ph type="ctrTitle"/>
          </p:nvPr>
        </p:nvSpPr>
        <p:spPr>
          <a:xfrm>
            <a:off x="442912" y="2987675"/>
            <a:ext cx="7000875" cy="23876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F26E21"/>
              </a:buClr>
              <a:buSzPts val="8000"/>
              <a:buFont typeface="Arial"/>
              <a:buNone/>
            </a:pPr>
            <a:r>
              <a:rPr lang="en-US" sz="3600" dirty="0"/>
              <a:t>PENGEMBANGAN FRAMEWORK SISTEM DETEKSI PELANGGARAN 9-BALL POOL MENGGUNAKAN YOLO DAN RULE-BASED REASONING PADA RASPBERRY PI</a:t>
            </a:r>
            <a:endParaRPr sz="3600" b="1" dirty="0">
              <a:solidFill>
                <a:srgbClr val="F26E21"/>
              </a:solidFill>
              <a:latin typeface="Arial"/>
              <a:ea typeface="Arial"/>
              <a:cs typeface="Arial"/>
              <a:sym typeface="Arial"/>
            </a:endParaRPr>
          </a:p>
        </p:txBody>
      </p:sp>
      <p:sp>
        <p:nvSpPr>
          <p:cNvPr id="154" name="Google Shape;154;p1"/>
          <p:cNvSpPr txBox="1">
            <a:spLocks noGrp="1"/>
          </p:cNvSpPr>
          <p:nvPr>
            <p:ph type="subTitle" idx="1"/>
          </p:nvPr>
        </p:nvSpPr>
        <p:spPr>
          <a:xfrm>
            <a:off x="442912" y="1403494"/>
            <a:ext cx="7000875" cy="100719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1"/>
              </a:buClr>
              <a:buSzPts val="2400"/>
              <a:buFont typeface="Arial"/>
              <a:buNone/>
            </a:pPr>
            <a:r>
              <a:rPr lang="en-US" dirty="0"/>
              <a:t>David </a:t>
            </a:r>
            <a:r>
              <a:rPr lang="en-US" dirty="0" err="1"/>
              <a:t>Tulus</a:t>
            </a:r>
            <a:r>
              <a:rPr lang="en-US" dirty="0"/>
              <a:t> </a:t>
            </a:r>
            <a:r>
              <a:rPr lang="en-US" dirty="0" err="1"/>
              <a:t>Halomoan</a:t>
            </a:r>
            <a:r>
              <a:rPr lang="en-US" dirty="0"/>
              <a:t> Haryanto</a:t>
            </a:r>
          </a:p>
          <a:p>
            <a:pPr marL="0" lvl="0" indent="0" algn="l" rtl="0">
              <a:lnSpc>
                <a:spcPct val="90000"/>
              </a:lnSpc>
              <a:spcBef>
                <a:spcPts val="1000"/>
              </a:spcBef>
              <a:spcAft>
                <a:spcPts val="0"/>
              </a:spcAft>
              <a:buClr>
                <a:schemeClr val="dk1"/>
              </a:buClr>
              <a:buSzPts val="2400"/>
              <a:buFont typeface="Arial"/>
              <a:buNone/>
            </a:pPr>
            <a:r>
              <a:rPr lang="en-US" dirty="0"/>
              <a:t>NIM - 2210101027</a:t>
            </a:r>
            <a:endParaRPr dirty="0"/>
          </a:p>
        </p:txBody>
      </p:sp>
      <p:pic>
        <p:nvPicPr>
          <p:cNvPr id="155" name="Google Shape;155;p1" descr="A view of a city&#10;&#10;Description automatically generated"/>
          <p:cNvPicPr preferRelativeResize="0">
            <a:picLocks noGrp="1"/>
          </p:cNvPicPr>
          <p:nvPr>
            <p:ph type="body" idx="4294967295"/>
          </p:nvPr>
        </p:nvPicPr>
        <p:blipFill rotWithShape="1">
          <a:blip r:embed="rId3">
            <a:alphaModFix/>
          </a:blip>
          <a:srcRect l="28277" r="28279"/>
          <a:stretch/>
        </p:blipFill>
        <p:spPr>
          <a:xfrm>
            <a:off x="7747000" y="0"/>
            <a:ext cx="4445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3712c87365b_0_16"/>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4400"/>
              <a:buFont typeface="Arial"/>
              <a:buNone/>
            </a:pPr>
            <a:r>
              <a:rPr lang="en-US" sz="3600">
                <a:solidFill>
                  <a:schemeClr val="dk1"/>
                </a:solidFill>
              </a:rPr>
              <a:t>Latar Belakang</a:t>
            </a:r>
            <a:endParaRPr/>
          </a:p>
        </p:txBody>
      </p:sp>
      <p:sp>
        <p:nvSpPr>
          <p:cNvPr id="162" name="Google Shape;162;g3712c87365b_0_16"/>
          <p:cNvSpPr txBox="1">
            <a:spLocks noGrp="1"/>
          </p:cNvSpPr>
          <p:nvPr>
            <p:ph type="body" idx="4294967295"/>
          </p:nvPr>
        </p:nvSpPr>
        <p:spPr>
          <a:xfrm>
            <a:off x="838200" y="2274886"/>
            <a:ext cx="3200400" cy="2855913"/>
          </a:xfrm>
          <a:prstGeom prst="rect">
            <a:avLst/>
          </a:prstGeom>
          <a:noFill/>
          <a:ln>
            <a:noFill/>
          </a:ln>
        </p:spPr>
        <p:txBody>
          <a:bodyPr spcFirstLastPara="1" wrap="square" lIns="91425" tIns="45700" rIns="91425" bIns="45700" anchor="t" anchorCtr="0">
            <a:noAutofit/>
          </a:bodyPr>
          <a:lstStyle/>
          <a:p>
            <a:pPr marL="457200" marR="0" lvl="0" indent="-330200" algn="l" rtl="0">
              <a:lnSpc>
                <a:spcPct val="100000"/>
              </a:lnSpc>
              <a:spcBef>
                <a:spcPts val="0"/>
              </a:spcBef>
              <a:spcAft>
                <a:spcPts val="0"/>
              </a:spcAft>
              <a:buClr>
                <a:srgbClr val="000000"/>
              </a:buClr>
              <a:buSzPts val="1600"/>
              <a:buAutoNum type="arabicPeriod"/>
            </a:pPr>
            <a:r>
              <a:rPr lang="en-US" sz="1600" dirty="0" err="1"/>
              <a:t>Konteks</a:t>
            </a:r>
            <a:endParaRPr lang="en-US" dirty="0"/>
          </a:p>
          <a:p>
            <a:pPr marL="457200" marR="0" lvl="0" indent="0" algn="l" rtl="0">
              <a:lnSpc>
                <a:spcPct val="100000"/>
              </a:lnSpc>
              <a:spcBef>
                <a:spcPts val="0"/>
              </a:spcBef>
              <a:spcAft>
                <a:spcPts val="0"/>
              </a:spcAft>
              <a:buNone/>
            </a:pPr>
            <a:r>
              <a:rPr lang="id-ID" sz="1600" dirty="0"/>
              <a:t>Permainan </a:t>
            </a:r>
            <a:r>
              <a:rPr lang="id-ID" sz="1600" i="1" dirty="0"/>
              <a:t>9-ball</a:t>
            </a:r>
            <a:r>
              <a:rPr lang="id-ID" sz="1600" dirty="0"/>
              <a:t> </a:t>
            </a:r>
            <a:r>
              <a:rPr lang="id-ID" sz="1600" i="1" dirty="0"/>
              <a:t>pool</a:t>
            </a:r>
            <a:r>
              <a:rPr lang="id-ID" sz="1600" dirty="0"/>
              <a:t> membutuhkan keputusan yang adil karena pelanggaran dapat memengaruhi jalannya pertandingan dan hasil akhir</a:t>
            </a:r>
            <a:r>
              <a:rPr lang="en-US" sz="1600" dirty="0"/>
              <a:t>. </a:t>
            </a:r>
            <a:r>
              <a:rPr lang="en-US" sz="1600" dirty="0" err="1"/>
              <a:t>Dalam</a:t>
            </a:r>
            <a:r>
              <a:rPr lang="en-US" sz="1600" dirty="0"/>
              <a:t> </a:t>
            </a:r>
            <a:r>
              <a:rPr lang="en-US" sz="1600" dirty="0" err="1"/>
              <a:t>olahraga</a:t>
            </a:r>
            <a:r>
              <a:rPr lang="en-US" sz="1600" dirty="0"/>
              <a:t> lain, </a:t>
            </a:r>
            <a:r>
              <a:rPr lang="en-US" sz="1600" dirty="0" err="1"/>
              <a:t>teknologi</a:t>
            </a:r>
            <a:r>
              <a:rPr lang="en-US" sz="1600" dirty="0"/>
              <a:t> </a:t>
            </a:r>
            <a:r>
              <a:rPr lang="en-US" sz="1600" dirty="0" err="1"/>
              <a:t>seperti</a:t>
            </a:r>
            <a:r>
              <a:rPr lang="en-US" sz="1600" dirty="0"/>
              <a:t> </a:t>
            </a:r>
            <a:r>
              <a:rPr lang="en-US" sz="1600" i="1" dirty="0"/>
              <a:t>Video Assistant Referee </a:t>
            </a:r>
            <a:r>
              <a:rPr lang="en-US" sz="1600" dirty="0"/>
              <a:t>(VAR) </a:t>
            </a:r>
            <a:r>
              <a:rPr lang="en-US" sz="1600" dirty="0" err="1"/>
              <a:t>telah</a:t>
            </a:r>
            <a:r>
              <a:rPr lang="en-US" sz="1600" dirty="0"/>
              <a:t> </a:t>
            </a:r>
            <a:r>
              <a:rPr lang="en-US" sz="1600" dirty="0" err="1"/>
              <a:t>digunakan</a:t>
            </a:r>
            <a:r>
              <a:rPr lang="en-US" sz="1600" dirty="0"/>
              <a:t> </a:t>
            </a:r>
            <a:r>
              <a:rPr lang="en-US" sz="1600" dirty="0" err="1"/>
              <a:t>untuk</a:t>
            </a:r>
            <a:r>
              <a:rPr lang="en-US" sz="1600" dirty="0"/>
              <a:t> </a:t>
            </a:r>
            <a:r>
              <a:rPr lang="en-US" sz="1600" dirty="0" err="1"/>
              <a:t>membantu</a:t>
            </a:r>
            <a:r>
              <a:rPr lang="en-US" sz="1600" dirty="0"/>
              <a:t> </a:t>
            </a:r>
            <a:r>
              <a:rPr lang="en-US" sz="1600" dirty="0" err="1"/>
              <a:t>wasit</a:t>
            </a:r>
            <a:r>
              <a:rPr lang="en-US" sz="1600" dirty="0"/>
              <a:t> </a:t>
            </a:r>
            <a:r>
              <a:rPr lang="en-US" sz="1600" dirty="0" err="1"/>
              <a:t>mengambil</a:t>
            </a:r>
            <a:r>
              <a:rPr lang="en-US" sz="1600" dirty="0"/>
              <a:t> </a:t>
            </a:r>
            <a:r>
              <a:rPr lang="en-US" sz="1600" dirty="0" err="1"/>
              <a:t>keputusan</a:t>
            </a:r>
            <a:r>
              <a:rPr lang="en-US" sz="1600" dirty="0"/>
              <a:t> </a:t>
            </a:r>
            <a:r>
              <a:rPr lang="en-US" sz="1600" dirty="0" err="1"/>
              <a:t>lebih</a:t>
            </a:r>
            <a:r>
              <a:rPr lang="en-US" sz="1600" dirty="0"/>
              <a:t> </a:t>
            </a:r>
            <a:r>
              <a:rPr lang="en-US" sz="1600" dirty="0" err="1"/>
              <a:t>akurat</a:t>
            </a:r>
            <a:r>
              <a:rPr lang="en-US" sz="1600" dirty="0"/>
              <a:t>.</a:t>
            </a:r>
            <a:endParaRPr lang="en-US" sz="1600" dirty="0">
              <a:solidFill>
                <a:srgbClr val="1A1C1E"/>
              </a:solidFill>
              <a:highlight>
                <a:srgbClr val="FFFFFF"/>
              </a:highlight>
            </a:endParaRPr>
          </a:p>
        </p:txBody>
      </p:sp>
      <p:sp>
        <p:nvSpPr>
          <p:cNvPr id="163" name="Google Shape;163;g3712c87365b_0_16"/>
          <p:cNvSpPr txBox="1">
            <a:spLocks noGrp="1"/>
          </p:cNvSpPr>
          <p:nvPr>
            <p:ph type="body" idx="4294967295"/>
          </p:nvPr>
        </p:nvSpPr>
        <p:spPr>
          <a:xfrm>
            <a:off x="4495800" y="2274875"/>
            <a:ext cx="3508200" cy="19083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00000"/>
              </a:lnSpc>
              <a:spcBef>
                <a:spcPts val="0"/>
              </a:spcBef>
              <a:spcAft>
                <a:spcPts val="0"/>
              </a:spcAft>
              <a:buSzPts val="1600"/>
              <a:buAutoNum type="arabicPeriod" startAt="2"/>
            </a:pPr>
            <a:r>
              <a:rPr lang="en-US" sz="1600" dirty="0" err="1"/>
              <a:t>Masalah</a:t>
            </a:r>
            <a:endParaRPr sz="1600" dirty="0"/>
          </a:p>
          <a:p>
            <a:pPr indent="0"/>
            <a:r>
              <a:rPr lang="id-ID" sz="1600" dirty="0"/>
              <a:t>Deteksi pelanggaran masih bergantung pada pengamatan manual wasit, sehingga bisa dipengaruhi sudut pandang,</a:t>
            </a:r>
            <a:r>
              <a:rPr lang="en-US" sz="1600" dirty="0"/>
              <a:t> dan juga </a:t>
            </a:r>
            <a:r>
              <a:rPr lang="en-US" sz="1600" dirty="0" err="1"/>
              <a:t>pengalaman</a:t>
            </a:r>
            <a:r>
              <a:rPr lang="en-US" sz="1600" dirty="0"/>
              <a:t> </a:t>
            </a:r>
            <a:r>
              <a:rPr lang="en-US" sz="1600" dirty="0" err="1"/>
              <a:t>wasit</a:t>
            </a:r>
            <a:r>
              <a:rPr lang="en-US" sz="1600" dirty="0"/>
              <a:t>.</a:t>
            </a:r>
            <a:endParaRPr lang="id-ID" sz="1600" dirty="0"/>
          </a:p>
        </p:txBody>
      </p:sp>
      <p:sp>
        <p:nvSpPr>
          <p:cNvPr id="164" name="Google Shape;164;g3712c87365b_0_16"/>
          <p:cNvSpPr txBox="1">
            <a:spLocks noGrp="1"/>
          </p:cNvSpPr>
          <p:nvPr>
            <p:ph type="body" idx="4294967295"/>
          </p:nvPr>
        </p:nvSpPr>
        <p:spPr>
          <a:xfrm>
            <a:off x="8153400" y="2274856"/>
            <a:ext cx="3200400" cy="19083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00000"/>
              </a:lnSpc>
              <a:spcBef>
                <a:spcPts val="0"/>
              </a:spcBef>
              <a:spcAft>
                <a:spcPts val="0"/>
              </a:spcAft>
              <a:buClr>
                <a:srgbClr val="000000"/>
              </a:buClr>
              <a:buSzPts val="1600"/>
              <a:buAutoNum type="arabicPeriod" startAt="3"/>
            </a:pPr>
            <a:r>
              <a:rPr lang="en-US" sz="1600" i="1" dirty="0"/>
              <a:t>Gap </a:t>
            </a:r>
            <a:r>
              <a:rPr lang="en-US" sz="1600" dirty="0" err="1"/>
              <a:t>Penelitian</a:t>
            </a:r>
            <a:r>
              <a:rPr lang="en-US" sz="1600" dirty="0"/>
              <a:t> (</a:t>
            </a:r>
            <a:r>
              <a:rPr lang="en-US" sz="1600" i="1" dirty="0"/>
              <a:t>Novelty</a:t>
            </a:r>
            <a:r>
              <a:rPr lang="en-US" sz="1600" dirty="0"/>
              <a:t>)</a:t>
            </a:r>
            <a:endParaRPr lang="en-US" sz="1600" i="1" dirty="0"/>
          </a:p>
          <a:p>
            <a:pPr indent="0"/>
            <a:r>
              <a:rPr lang="id-ID" sz="1600" dirty="0"/>
              <a:t>Penelitian sebelumnya belum banyak membahas deteksi </a:t>
            </a:r>
            <a:r>
              <a:rPr lang="id-ID" sz="1600" i="1" dirty="0"/>
              <a:t>foul</a:t>
            </a:r>
            <a:r>
              <a:rPr lang="id-ID" sz="1600" dirty="0"/>
              <a:t> berdasarkan interaksi visual objek di atas meja biliar secara langsung</a:t>
            </a:r>
            <a:r>
              <a:rPr lang="en-US" sz="1600" dirty="0"/>
              <a:t>.</a:t>
            </a:r>
            <a:endParaRPr lang="id-ID" sz="1600" dirty="0"/>
          </a:p>
        </p:txBody>
      </p:sp>
      <p:sp>
        <p:nvSpPr>
          <p:cNvPr id="165" name="Google Shape;165;g3712c87365b_0_16"/>
          <p:cNvSpPr txBox="1">
            <a:spLocks noGrp="1"/>
          </p:cNvSpPr>
          <p:nvPr>
            <p:ph type="body" idx="4294967295"/>
          </p:nvPr>
        </p:nvSpPr>
        <p:spPr>
          <a:xfrm>
            <a:off x="4495800" y="4375300"/>
            <a:ext cx="3200400" cy="19083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00000"/>
              </a:lnSpc>
              <a:spcBef>
                <a:spcPts val="0"/>
              </a:spcBef>
              <a:spcAft>
                <a:spcPts val="0"/>
              </a:spcAft>
              <a:buClr>
                <a:srgbClr val="000000"/>
              </a:buClr>
              <a:buSzPts val="1600"/>
              <a:buAutoNum type="arabicPeriod" startAt="4"/>
            </a:pPr>
            <a:r>
              <a:rPr lang="en-US" sz="1600" dirty="0"/>
              <a:t>Solusi</a:t>
            </a:r>
            <a:endParaRPr sz="1600" dirty="0"/>
          </a:p>
          <a:p>
            <a:pPr indent="0"/>
            <a:r>
              <a:rPr lang="id-ID" sz="1600" dirty="0"/>
              <a:t>Penelitian ini mengembangkan sistem deteksi pelanggaran </a:t>
            </a:r>
            <a:r>
              <a:rPr lang="id-ID" sz="1600" i="1" dirty="0"/>
              <a:t>9-ball</a:t>
            </a:r>
            <a:r>
              <a:rPr lang="id-ID" sz="1600" dirty="0"/>
              <a:t> </a:t>
            </a:r>
            <a:r>
              <a:rPr lang="id-ID" sz="1600" i="1" dirty="0"/>
              <a:t>pool</a:t>
            </a:r>
            <a:r>
              <a:rPr lang="id-ID" sz="1600" dirty="0"/>
              <a:t> menggunakan YOLO dan </a:t>
            </a:r>
            <a:r>
              <a:rPr lang="id-ID" sz="1600" i="1" dirty="0"/>
              <a:t>rule-based</a:t>
            </a:r>
            <a:r>
              <a:rPr lang="id-ID" sz="1600" dirty="0"/>
              <a:t> </a:t>
            </a:r>
            <a:r>
              <a:rPr lang="id-ID" sz="1600" i="1" dirty="0"/>
              <a:t>reasoning</a:t>
            </a:r>
            <a:r>
              <a:rPr lang="id-ID" sz="1600" dirty="0"/>
              <a:t> pada Raspberry Pi</a:t>
            </a:r>
            <a:r>
              <a:rPr lang="en-US" sz="1600" dirty="0"/>
              <a:t>.</a:t>
            </a:r>
            <a:endParaRPr lang="id-ID" sz="1600" dirty="0"/>
          </a:p>
          <a:p>
            <a:pPr marL="457200" marR="0" lvl="0" indent="0" algn="l" rtl="0">
              <a:lnSpc>
                <a:spcPct val="100000"/>
              </a:lnSpc>
              <a:spcBef>
                <a:spcPts val="0"/>
              </a:spcBef>
              <a:spcAft>
                <a:spcPts val="0"/>
              </a:spcAft>
              <a:buNone/>
            </a:pPr>
            <a:endParaRPr lang="en-US" dirty="0"/>
          </a:p>
        </p:txBody>
      </p:sp>
      <p:sp>
        <p:nvSpPr>
          <p:cNvPr id="167" name="Google Shape;167;g3712c87365b_0_16"/>
          <p:cNvSpPr txBox="1">
            <a:spLocks noGrp="1"/>
          </p:cNvSpPr>
          <p:nvPr>
            <p:ph type="body" idx="4294967295"/>
          </p:nvPr>
        </p:nvSpPr>
        <p:spPr>
          <a:xfrm>
            <a:off x="8153400" y="4375250"/>
            <a:ext cx="3200400" cy="19083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00000"/>
              </a:lnSpc>
              <a:spcBef>
                <a:spcPts val="0"/>
              </a:spcBef>
              <a:spcAft>
                <a:spcPts val="0"/>
              </a:spcAft>
              <a:buClr>
                <a:srgbClr val="000000"/>
              </a:buClr>
              <a:buSzPts val="1600"/>
              <a:buAutoNum type="arabicPeriod" startAt="5"/>
            </a:pPr>
            <a:r>
              <a:rPr lang="en-US" sz="1600" dirty="0" err="1"/>
              <a:t>Fokus</a:t>
            </a:r>
            <a:r>
              <a:rPr lang="en-US" sz="1600" dirty="0"/>
              <a:t> </a:t>
            </a:r>
            <a:r>
              <a:rPr lang="en-US" sz="1600" dirty="0" err="1"/>
              <a:t>Penelitian</a:t>
            </a:r>
            <a:endParaRPr sz="1600" dirty="0"/>
          </a:p>
          <a:p>
            <a:pPr marL="457200" marR="0" lvl="0" indent="0" algn="l" rtl="0">
              <a:lnSpc>
                <a:spcPct val="100000"/>
              </a:lnSpc>
              <a:spcBef>
                <a:spcPts val="0"/>
              </a:spcBef>
              <a:spcAft>
                <a:spcPts val="0"/>
              </a:spcAft>
              <a:buNone/>
            </a:pPr>
            <a:r>
              <a:rPr lang="id-ID" sz="1600" dirty="0"/>
              <a:t>Penelitian berfokus pada deteksi objek permainan, deteksi empat jenis pelanggaran, serta evaluasi akurasi dan performa sistem pada </a:t>
            </a:r>
            <a:r>
              <a:rPr lang="id-ID" sz="1600" i="1" dirty="0"/>
              <a:t>edge</a:t>
            </a:r>
            <a:r>
              <a:rPr lang="id-ID" sz="1600" dirty="0"/>
              <a:t> </a:t>
            </a:r>
            <a:r>
              <a:rPr lang="id-ID" sz="1600" i="1" dirty="0"/>
              <a:t>device</a:t>
            </a:r>
            <a:r>
              <a:rPr lang="en-US" sz="1600" i="1" dirty="0"/>
              <a:t>.</a:t>
            </a:r>
            <a:endParaRPr sz="1600"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36f42a3f609_0_0"/>
          <p:cNvSpPr txBox="1">
            <a:spLocks noGrp="1"/>
          </p:cNvSpPr>
          <p:nvPr>
            <p:ph type="title"/>
          </p:nvPr>
        </p:nvSpPr>
        <p:spPr>
          <a:xfrm>
            <a:off x="563562" y="2103437"/>
            <a:ext cx="47007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4400"/>
              <a:buFont typeface="Arial"/>
              <a:buNone/>
            </a:pPr>
            <a:r>
              <a:rPr lang="en-US" sz="4800"/>
              <a:t>Rumusan Masalah</a:t>
            </a:r>
            <a:endParaRPr sz="4800"/>
          </a:p>
        </p:txBody>
      </p:sp>
      <p:sp>
        <p:nvSpPr>
          <p:cNvPr id="173" name="Google Shape;173;g36f42a3f609_0_0"/>
          <p:cNvSpPr txBox="1">
            <a:spLocks noGrp="1"/>
          </p:cNvSpPr>
          <p:nvPr>
            <p:ph type="body" idx="2"/>
          </p:nvPr>
        </p:nvSpPr>
        <p:spPr>
          <a:xfrm>
            <a:off x="6135675" y="879174"/>
            <a:ext cx="5736000" cy="5978825"/>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1000"/>
              </a:spcBef>
              <a:spcAft>
                <a:spcPts val="0"/>
              </a:spcAft>
              <a:buClr>
                <a:schemeClr val="dk1"/>
              </a:buClr>
              <a:buSzPts val="1800"/>
              <a:buFont typeface="Arial"/>
              <a:buNone/>
            </a:pPr>
            <a:r>
              <a:rPr lang="en-US" dirty="0" err="1"/>
              <a:t>Rumusan</a:t>
            </a:r>
            <a:r>
              <a:rPr lang="en-US" dirty="0"/>
              <a:t> </a:t>
            </a:r>
            <a:r>
              <a:rPr lang="en-US" dirty="0" err="1"/>
              <a:t>masalah</a:t>
            </a:r>
            <a:r>
              <a:rPr lang="en-US" dirty="0"/>
              <a:t> yang </a:t>
            </a:r>
            <a:r>
              <a:rPr lang="en-US" dirty="0" err="1"/>
              <a:t>terbentuk</a:t>
            </a:r>
            <a:r>
              <a:rPr lang="en-US" dirty="0"/>
              <a:t> </a:t>
            </a:r>
            <a:r>
              <a:rPr lang="en-US" dirty="0" err="1"/>
              <a:t>adalah</a:t>
            </a:r>
            <a:r>
              <a:rPr lang="en-US" dirty="0"/>
              <a:t>:</a:t>
            </a:r>
          </a:p>
          <a:p>
            <a:pPr marL="571500" lvl="0" indent="-342900" algn="l" rtl="0">
              <a:lnSpc>
                <a:spcPct val="100000"/>
              </a:lnSpc>
              <a:spcBef>
                <a:spcPts val="1000"/>
              </a:spcBef>
              <a:spcAft>
                <a:spcPts val="0"/>
              </a:spcAft>
              <a:buClr>
                <a:schemeClr val="dk1"/>
              </a:buClr>
              <a:buSzPts val="1800"/>
              <a:buFont typeface="Arial"/>
              <a:buAutoNum type="arabicPeriod"/>
            </a:pPr>
            <a:r>
              <a:rPr lang="id-ID" dirty="0"/>
              <a:t>Bagaimana membangun dan merancang arsitektur model visi komputer yang mampu mendeteksi dan melokalisasi bola biliar, pocket, dan elemen meja lainnya pada permainan 9-</a:t>
            </a:r>
            <a:r>
              <a:rPr lang="id-ID" i="1" dirty="0"/>
              <a:t>ball</a:t>
            </a:r>
            <a:r>
              <a:rPr lang="id-ID" dirty="0"/>
              <a:t> </a:t>
            </a:r>
            <a:r>
              <a:rPr lang="id-ID" i="1" dirty="0"/>
              <a:t>pool</a:t>
            </a:r>
            <a:r>
              <a:rPr lang="id-ID" dirty="0"/>
              <a:t>? </a:t>
            </a:r>
            <a:endParaRPr lang="en-US" dirty="0"/>
          </a:p>
          <a:p>
            <a:pPr marL="571500" lvl="0" indent="-342900" algn="l" rtl="0">
              <a:lnSpc>
                <a:spcPct val="100000"/>
              </a:lnSpc>
              <a:spcBef>
                <a:spcPts val="1000"/>
              </a:spcBef>
              <a:spcAft>
                <a:spcPts val="0"/>
              </a:spcAft>
              <a:buClr>
                <a:schemeClr val="dk1"/>
              </a:buClr>
              <a:buSzPts val="1800"/>
              <a:buFont typeface="Arial"/>
              <a:buAutoNum type="arabicPeriod"/>
            </a:pPr>
            <a:r>
              <a:rPr lang="id-ID" dirty="0"/>
              <a:t>Bagaimana mengembangkan logika deteksi pelanggaran pada permainan 9-</a:t>
            </a:r>
            <a:r>
              <a:rPr lang="id-ID" i="1" dirty="0"/>
              <a:t>ball</a:t>
            </a:r>
            <a:r>
              <a:rPr lang="id-ID" dirty="0"/>
              <a:t> </a:t>
            </a:r>
            <a:r>
              <a:rPr lang="id-ID" i="1" dirty="0"/>
              <a:t>pool</a:t>
            </a:r>
            <a:r>
              <a:rPr lang="id-ID" dirty="0"/>
              <a:t> berdasarkan hasil deteksi objek dari model yang telah dilatih?</a:t>
            </a:r>
            <a:endParaRPr lang="en-US" dirty="0"/>
          </a:p>
          <a:p>
            <a:pPr marL="571500" lvl="0" indent="-342900" algn="l" rtl="0">
              <a:lnSpc>
                <a:spcPct val="100000"/>
              </a:lnSpc>
              <a:spcBef>
                <a:spcPts val="1000"/>
              </a:spcBef>
              <a:spcAft>
                <a:spcPts val="0"/>
              </a:spcAft>
              <a:buClr>
                <a:schemeClr val="dk1"/>
              </a:buClr>
              <a:buSzPts val="1800"/>
              <a:buFont typeface="Arial"/>
              <a:buAutoNum type="arabicPeriod"/>
            </a:pPr>
            <a:r>
              <a:rPr lang="id-ID" dirty="0"/>
              <a:t>Bagaimana sistem deteksi pelanggaran 9-</a:t>
            </a:r>
            <a:r>
              <a:rPr lang="id-ID" i="1" dirty="0"/>
              <a:t>ball</a:t>
            </a:r>
            <a:r>
              <a:rPr lang="id-ID" dirty="0"/>
              <a:t> dapat diimplementasikan pada </a:t>
            </a:r>
            <a:r>
              <a:rPr lang="id-ID" i="1" dirty="0"/>
              <a:t>platform edge computing</a:t>
            </a:r>
            <a:r>
              <a:rPr lang="id-ID" dirty="0"/>
              <a:t>?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6f42a3f609_0_64"/>
          <p:cNvSpPr txBox="1">
            <a:spLocks noGrp="1"/>
          </p:cNvSpPr>
          <p:nvPr>
            <p:ph type="title"/>
          </p:nvPr>
        </p:nvSpPr>
        <p:spPr>
          <a:xfrm>
            <a:off x="563562" y="2103437"/>
            <a:ext cx="47007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4400"/>
              <a:buFont typeface="Arial"/>
              <a:buNone/>
            </a:pPr>
            <a:r>
              <a:rPr lang="en-US" sz="4800"/>
              <a:t>Tujuan Penelitian</a:t>
            </a:r>
            <a:endParaRPr sz="4800"/>
          </a:p>
        </p:txBody>
      </p:sp>
      <p:sp>
        <p:nvSpPr>
          <p:cNvPr id="179" name="Google Shape;179;g36f42a3f609_0_64"/>
          <p:cNvSpPr txBox="1">
            <a:spLocks noGrp="1"/>
          </p:cNvSpPr>
          <p:nvPr>
            <p:ph type="body" idx="2"/>
          </p:nvPr>
        </p:nvSpPr>
        <p:spPr>
          <a:xfrm>
            <a:off x="6135675" y="1399800"/>
            <a:ext cx="5736000" cy="4728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1000"/>
              </a:spcBef>
              <a:spcAft>
                <a:spcPts val="0"/>
              </a:spcAft>
              <a:buClr>
                <a:schemeClr val="dk1"/>
              </a:buClr>
              <a:buSzPts val="1800"/>
              <a:buFont typeface="Arial"/>
              <a:buNone/>
            </a:pPr>
            <a:r>
              <a:rPr lang="en-US" dirty="0" err="1"/>
              <a:t>Berikut</a:t>
            </a:r>
            <a:r>
              <a:rPr lang="en-US" dirty="0"/>
              <a:t> </a:t>
            </a:r>
            <a:r>
              <a:rPr lang="en-US" dirty="0" err="1"/>
              <a:t>tujuan</a:t>
            </a:r>
            <a:r>
              <a:rPr lang="en-US" dirty="0"/>
              <a:t> </a:t>
            </a:r>
            <a:r>
              <a:rPr lang="en-US" dirty="0" err="1"/>
              <a:t>dari</a:t>
            </a:r>
            <a:r>
              <a:rPr lang="en-US" dirty="0"/>
              <a:t> </a:t>
            </a:r>
            <a:r>
              <a:rPr lang="en-US" dirty="0" err="1"/>
              <a:t>penelitian</a:t>
            </a:r>
            <a:r>
              <a:rPr lang="en-US" dirty="0"/>
              <a:t> </a:t>
            </a:r>
            <a:r>
              <a:rPr lang="en-US" dirty="0" err="1"/>
              <a:t>ini</a:t>
            </a:r>
            <a:r>
              <a:rPr lang="en-US" dirty="0"/>
              <a:t>:</a:t>
            </a:r>
          </a:p>
          <a:p>
            <a:pPr marL="571500" lvl="0" indent="-342900" algn="l" rtl="0">
              <a:lnSpc>
                <a:spcPct val="100000"/>
              </a:lnSpc>
              <a:spcBef>
                <a:spcPts val="1000"/>
              </a:spcBef>
              <a:spcAft>
                <a:spcPts val="0"/>
              </a:spcAft>
              <a:buClr>
                <a:schemeClr val="dk1"/>
              </a:buClr>
              <a:buSzPts val="1800"/>
              <a:buFont typeface="+mj-lt"/>
              <a:buAutoNum type="arabicPeriod"/>
            </a:pPr>
            <a:r>
              <a:rPr lang="id-ID" dirty="0"/>
              <a:t>Membangun dan merancang arsitektur model visi komputer yang mampu mendeteksi dan melokalisasi bola biliar, pocket dan elemen relevan lainnya di atas meja.</a:t>
            </a:r>
            <a:endParaRPr lang="en-US" dirty="0"/>
          </a:p>
          <a:p>
            <a:pPr marL="571500" lvl="0" indent="-342900" algn="l" rtl="0">
              <a:lnSpc>
                <a:spcPct val="100000"/>
              </a:lnSpc>
              <a:spcBef>
                <a:spcPts val="1000"/>
              </a:spcBef>
              <a:spcAft>
                <a:spcPts val="0"/>
              </a:spcAft>
              <a:buClr>
                <a:schemeClr val="dk1"/>
              </a:buClr>
              <a:buSzPts val="1800"/>
              <a:buFont typeface="+mj-lt"/>
              <a:buAutoNum type="arabicPeriod"/>
            </a:pPr>
            <a:r>
              <a:rPr lang="id-ID" dirty="0"/>
              <a:t>Mengembangkan logika deteksi pelanggaran pada permainan 9-ball pool berdasarkan hasil deteksi objek dari model yang telah dilatih. </a:t>
            </a:r>
            <a:endParaRPr lang="en-US" dirty="0"/>
          </a:p>
          <a:p>
            <a:pPr marL="571500" lvl="0" indent="-342900" algn="l" rtl="0">
              <a:lnSpc>
                <a:spcPct val="100000"/>
              </a:lnSpc>
              <a:spcBef>
                <a:spcPts val="1000"/>
              </a:spcBef>
              <a:spcAft>
                <a:spcPts val="0"/>
              </a:spcAft>
              <a:buClr>
                <a:schemeClr val="dk1"/>
              </a:buClr>
              <a:buSzPts val="1800"/>
              <a:buFont typeface="+mj-lt"/>
              <a:buAutoNum type="arabicPeriod"/>
            </a:pPr>
            <a:r>
              <a:rPr lang="id-ID" dirty="0"/>
              <a:t>Mengimplementasikan sistem deteksi pelanggaran 9-ball pada platform edge computing</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370ce3e83ae_0_0"/>
          <p:cNvSpPr txBox="1">
            <a:spLocks noGrp="1"/>
          </p:cNvSpPr>
          <p:nvPr>
            <p:ph type="body" idx="1"/>
          </p:nvPr>
        </p:nvSpPr>
        <p:spPr>
          <a:xfrm>
            <a:off x="533400" y="2428875"/>
            <a:ext cx="5562600" cy="3748200"/>
          </a:xfrm>
          <a:prstGeom prst="rect">
            <a:avLst/>
          </a:prstGeom>
          <a:noFill/>
          <a:ln>
            <a:noFill/>
          </a:ln>
        </p:spPr>
        <p:txBody>
          <a:bodyPr spcFirstLastPara="1" wrap="square" lIns="91425" tIns="45700" rIns="91425" bIns="45700" anchor="t" anchorCtr="0">
            <a:normAutofit/>
          </a:bodyPr>
          <a:lstStyle/>
          <a:p>
            <a:pPr marL="228600" indent="0">
              <a:spcBef>
                <a:spcPts val="1000"/>
              </a:spcBef>
              <a:buClr>
                <a:schemeClr val="dk1"/>
              </a:buClr>
              <a:buSzPts val="1800"/>
              <a:buNone/>
            </a:pPr>
            <a:r>
              <a:rPr lang="en-US" sz="2000" dirty="0" err="1">
                <a:solidFill>
                  <a:schemeClr val="dk1"/>
                </a:solidFill>
              </a:rPr>
              <a:t>Metode</a:t>
            </a:r>
            <a:r>
              <a:rPr lang="en-US" sz="2000" dirty="0">
                <a:solidFill>
                  <a:schemeClr val="dk1"/>
                </a:solidFill>
              </a:rPr>
              <a:t>:</a:t>
            </a:r>
            <a:r>
              <a:rPr lang="en-US" dirty="0">
                <a:solidFill>
                  <a:schemeClr val="dk1"/>
                </a:solidFill>
              </a:rPr>
              <a:t> </a:t>
            </a:r>
          </a:p>
          <a:p>
            <a:pPr marL="571500" indent="-342900">
              <a:buClr>
                <a:schemeClr val="dk1"/>
              </a:buClr>
              <a:buSzPts val="1800"/>
            </a:pPr>
            <a:r>
              <a:rPr lang="en-US" sz="2000" dirty="0">
                <a:solidFill>
                  <a:schemeClr val="dk1"/>
                </a:solidFill>
              </a:rPr>
              <a:t>SDLC (</a:t>
            </a:r>
            <a:r>
              <a:rPr lang="en-US" sz="2000" i="1" dirty="0">
                <a:solidFill>
                  <a:schemeClr val="dk1"/>
                </a:solidFill>
              </a:rPr>
              <a:t>Software Development Life Cycle</a:t>
            </a:r>
            <a:r>
              <a:rPr lang="en-US" sz="2000" dirty="0">
                <a:solidFill>
                  <a:schemeClr val="dk1"/>
                </a:solidFill>
              </a:rPr>
              <a:t>)</a:t>
            </a:r>
          </a:p>
        </p:txBody>
      </p:sp>
      <p:sp>
        <p:nvSpPr>
          <p:cNvPr id="215" name="Google Shape;215;g370ce3e83ae_0_0"/>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dirty="0" err="1">
                <a:solidFill>
                  <a:schemeClr val="dk1"/>
                </a:solidFill>
              </a:rPr>
              <a:t>Metodologi</a:t>
            </a:r>
            <a:r>
              <a:rPr lang="en-US" sz="3600" dirty="0">
                <a:solidFill>
                  <a:schemeClr val="dk1"/>
                </a:solidFill>
              </a:rPr>
              <a:t> </a:t>
            </a:r>
            <a:r>
              <a:rPr lang="en-US" sz="3600" dirty="0" err="1">
                <a:solidFill>
                  <a:schemeClr val="dk1"/>
                </a:solidFill>
              </a:rPr>
              <a:t>Penelitian</a:t>
            </a:r>
            <a:endParaRPr b="1" dirty="0">
              <a:latin typeface="Arial"/>
              <a:ea typeface="Arial"/>
              <a:cs typeface="Arial"/>
              <a:sym typeface="Arial"/>
            </a:endParaRPr>
          </a:p>
        </p:txBody>
      </p:sp>
      <p:sp>
        <p:nvSpPr>
          <p:cNvPr id="216" name="Google Shape;216;g370ce3e83ae_0_0"/>
          <p:cNvSpPr txBox="1">
            <a:spLocks noGrp="1"/>
          </p:cNvSpPr>
          <p:nvPr>
            <p:ph type="body" idx="1"/>
          </p:nvPr>
        </p:nvSpPr>
        <p:spPr>
          <a:xfrm>
            <a:off x="6369050" y="2428875"/>
            <a:ext cx="4984800" cy="37482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dirty="0" err="1"/>
              <a:t>Tahapan</a:t>
            </a:r>
            <a:r>
              <a:rPr lang="en-US" dirty="0"/>
              <a:t> </a:t>
            </a:r>
            <a:r>
              <a:rPr lang="en-US" dirty="0" err="1"/>
              <a:t>dari</a:t>
            </a:r>
            <a:r>
              <a:rPr lang="en-US" dirty="0"/>
              <a:t> </a:t>
            </a:r>
            <a:r>
              <a:rPr lang="en-US" dirty="0" err="1"/>
              <a:t>Penelitian</a:t>
            </a:r>
            <a:r>
              <a:rPr lang="en-US" dirty="0"/>
              <a:t>:</a:t>
            </a:r>
          </a:p>
          <a:p>
            <a:pPr marL="685800" lvl="0" indent="-457200" algn="l" rtl="0">
              <a:lnSpc>
                <a:spcPct val="90000"/>
              </a:lnSpc>
              <a:spcBef>
                <a:spcPts val="1000"/>
              </a:spcBef>
              <a:spcAft>
                <a:spcPts val="0"/>
              </a:spcAft>
              <a:buClr>
                <a:srgbClr val="F26E21"/>
              </a:buClr>
              <a:buSzPts val="2000"/>
              <a:buFont typeface="+mj-lt"/>
              <a:buAutoNum type="arabicPeriod"/>
            </a:pPr>
            <a:r>
              <a:rPr lang="en-US" dirty="0" err="1"/>
              <a:t>Studi</a:t>
            </a:r>
            <a:r>
              <a:rPr lang="en-US" dirty="0"/>
              <a:t> </a:t>
            </a:r>
            <a:r>
              <a:rPr lang="en-US" dirty="0" err="1"/>
              <a:t>Literatur</a:t>
            </a:r>
            <a:endParaRPr lang="en-US" dirty="0"/>
          </a:p>
          <a:p>
            <a:pPr marL="685800" lvl="0" indent="-457200" algn="l" rtl="0">
              <a:lnSpc>
                <a:spcPct val="90000"/>
              </a:lnSpc>
              <a:spcBef>
                <a:spcPts val="1000"/>
              </a:spcBef>
              <a:spcAft>
                <a:spcPts val="0"/>
              </a:spcAft>
              <a:buClr>
                <a:srgbClr val="F26E21"/>
              </a:buClr>
              <a:buSzPts val="2000"/>
              <a:buFont typeface="+mj-lt"/>
              <a:buAutoNum type="arabicPeriod"/>
            </a:pPr>
            <a:r>
              <a:rPr lang="en-US" dirty="0" err="1"/>
              <a:t>Analisis</a:t>
            </a:r>
            <a:r>
              <a:rPr lang="en-US" dirty="0"/>
              <a:t> </a:t>
            </a:r>
            <a:r>
              <a:rPr lang="en-US" dirty="0" err="1"/>
              <a:t>Kebutuhan</a:t>
            </a:r>
            <a:endParaRPr lang="en-US" dirty="0"/>
          </a:p>
          <a:p>
            <a:pPr marL="685800" lvl="0" indent="-457200" algn="l" rtl="0">
              <a:lnSpc>
                <a:spcPct val="90000"/>
              </a:lnSpc>
              <a:spcBef>
                <a:spcPts val="1000"/>
              </a:spcBef>
              <a:spcAft>
                <a:spcPts val="0"/>
              </a:spcAft>
              <a:buClr>
                <a:srgbClr val="F26E21"/>
              </a:buClr>
              <a:buSzPts val="2000"/>
              <a:buFont typeface="+mj-lt"/>
              <a:buAutoNum type="arabicPeriod"/>
            </a:pPr>
            <a:r>
              <a:rPr lang="en-US" dirty="0" err="1"/>
              <a:t>Perancangan</a:t>
            </a:r>
            <a:r>
              <a:rPr lang="en-US" dirty="0"/>
              <a:t> </a:t>
            </a:r>
            <a:r>
              <a:rPr lang="en-US" dirty="0" err="1"/>
              <a:t>Sistem</a:t>
            </a:r>
            <a:endParaRPr lang="en-US" dirty="0"/>
          </a:p>
          <a:p>
            <a:pPr marL="685800" lvl="0" indent="-457200" algn="l" rtl="0">
              <a:lnSpc>
                <a:spcPct val="90000"/>
              </a:lnSpc>
              <a:spcBef>
                <a:spcPts val="1000"/>
              </a:spcBef>
              <a:spcAft>
                <a:spcPts val="0"/>
              </a:spcAft>
              <a:buClr>
                <a:srgbClr val="F26E21"/>
              </a:buClr>
              <a:buSzPts val="2000"/>
              <a:buFont typeface="+mj-lt"/>
              <a:buAutoNum type="arabicPeriod"/>
            </a:pPr>
            <a:r>
              <a:rPr lang="en-US" dirty="0" err="1"/>
              <a:t>Implementasi</a:t>
            </a:r>
            <a:r>
              <a:rPr lang="en-US" dirty="0"/>
              <a:t> dan </a:t>
            </a:r>
            <a:r>
              <a:rPr lang="en-US" dirty="0" err="1"/>
              <a:t>Pengembangan</a:t>
            </a:r>
            <a:endParaRPr lang="en-US" dirty="0"/>
          </a:p>
          <a:p>
            <a:pPr marL="685800" lvl="0" indent="-457200" algn="l" rtl="0">
              <a:lnSpc>
                <a:spcPct val="90000"/>
              </a:lnSpc>
              <a:spcBef>
                <a:spcPts val="1000"/>
              </a:spcBef>
              <a:spcAft>
                <a:spcPts val="0"/>
              </a:spcAft>
              <a:buClr>
                <a:srgbClr val="F26E21"/>
              </a:buClr>
              <a:buSzPts val="2000"/>
              <a:buFont typeface="+mj-lt"/>
              <a:buAutoNum type="arabicPeriod"/>
            </a:pPr>
            <a:r>
              <a:rPr lang="en-US" dirty="0" err="1"/>
              <a:t>Pengujian</a:t>
            </a:r>
            <a:r>
              <a:rPr lang="en-US" dirty="0"/>
              <a:t> dan </a:t>
            </a:r>
            <a:r>
              <a:rPr lang="en-US" dirty="0" err="1"/>
              <a:t>Evaluasi</a:t>
            </a:r>
            <a:endParaRPr lang="en-US" dirty="0"/>
          </a:p>
          <a:p>
            <a:pPr marL="685800" lvl="0" indent="-457200" algn="l" rtl="0">
              <a:lnSpc>
                <a:spcPct val="90000"/>
              </a:lnSpc>
              <a:spcBef>
                <a:spcPts val="1000"/>
              </a:spcBef>
              <a:spcAft>
                <a:spcPts val="0"/>
              </a:spcAft>
              <a:buClr>
                <a:srgbClr val="F26E21"/>
              </a:buClr>
              <a:buSzPts val="2000"/>
              <a:buFont typeface="+mj-lt"/>
              <a:buAutoNum type="arabicPeriod"/>
            </a:pPr>
            <a:r>
              <a:rPr lang="en-US" dirty="0" err="1"/>
              <a:t>Analisis</a:t>
            </a:r>
            <a:r>
              <a:rPr lang="en-US" dirty="0"/>
              <a:t> </a:t>
            </a:r>
            <a:r>
              <a:rPr lang="en-US" dirty="0" err="1"/>
              <a:t>Hasis</a:t>
            </a:r>
            <a:r>
              <a:rPr lang="en-US" dirty="0"/>
              <a:t> dan </a:t>
            </a:r>
            <a:r>
              <a:rPr lang="en-US" dirty="0" err="1"/>
              <a:t>Pembahasan</a:t>
            </a:r>
            <a:endParaRPr lang="id-ID" dirty="0"/>
          </a:p>
        </p:txBody>
      </p:sp>
    </p:spTree>
    <p:extLst>
      <p:ext uri="{BB962C8B-B14F-4D97-AF65-F5344CB8AC3E}">
        <p14:creationId xmlns:p14="http://schemas.microsoft.com/office/powerpoint/2010/main" val="3524338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2" name="Rectangle 1">
            <a:extLst>
              <a:ext uri="{FF2B5EF4-FFF2-40B4-BE49-F238E27FC236}">
                <a16:creationId xmlns:a16="http://schemas.microsoft.com/office/drawing/2014/main" id="{FA3009C8-7AE3-4655-AE6C-F716482064F2}"/>
              </a:ext>
            </a:extLst>
          </p:cNvPr>
          <p:cNvSpPr/>
          <p:nvPr/>
        </p:nvSpPr>
        <p:spPr>
          <a:xfrm>
            <a:off x="5641714" y="2357716"/>
            <a:ext cx="1399461" cy="3236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5" name="Google Shape;475;p6"/>
          <p:cNvSpPr txBox="1">
            <a:spLocks noGrp="1"/>
          </p:cNvSpPr>
          <p:nvPr>
            <p:ph type="title"/>
          </p:nvPr>
        </p:nvSpPr>
        <p:spPr>
          <a:xfrm>
            <a:off x="4261975" y="211200"/>
            <a:ext cx="5558400" cy="9669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lt1"/>
              </a:buClr>
              <a:buSzPts val="4400"/>
              <a:buFont typeface="Arial"/>
              <a:buNone/>
            </a:pPr>
            <a:r>
              <a:rPr lang="en-US" sz="4800" dirty="0" err="1">
                <a:latin typeface="Tahoma"/>
                <a:ea typeface="Tahoma"/>
                <a:cs typeface="Tahoma"/>
                <a:sym typeface="Tahoma"/>
              </a:rPr>
              <a:t>Manfaat</a:t>
            </a:r>
            <a:r>
              <a:rPr lang="en-US" sz="4800" dirty="0">
                <a:latin typeface="Tahoma"/>
                <a:ea typeface="Tahoma"/>
                <a:cs typeface="Tahoma"/>
                <a:sym typeface="Tahoma"/>
              </a:rPr>
              <a:t> </a:t>
            </a:r>
            <a:r>
              <a:rPr lang="en-US" sz="4800" dirty="0" err="1">
                <a:latin typeface="Tahoma"/>
                <a:ea typeface="Tahoma"/>
                <a:cs typeface="Tahoma"/>
                <a:sym typeface="Tahoma"/>
              </a:rPr>
              <a:t>Penelitian</a:t>
            </a:r>
            <a:endParaRPr dirty="0">
              <a:solidFill>
                <a:schemeClr val="dk1"/>
              </a:solidFill>
            </a:endParaRPr>
          </a:p>
        </p:txBody>
      </p:sp>
      <p:pic>
        <p:nvPicPr>
          <p:cNvPr id="476" name="Google Shape;476;p6" descr="A close up of a ceiling&#10;&#10;Description automatically generated"/>
          <p:cNvPicPr preferRelativeResize="0">
            <a:picLocks noGrp="1"/>
          </p:cNvPicPr>
          <p:nvPr>
            <p:ph type="body" idx="1"/>
          </p:nvPr>
        </p:nvPicPr>
        <p:blipFill rotWithShape="1">
          <a:blip r:embed="rId3">
            <a:alphaModFix/>
          </a:blip>
          <a:srcRect l="32196" r="32193"/>
          <a:stretch/>
        </p:blipFill>
        <p:spPr>
          <a:xfrm>
            <a:off x="0" y="363537"/>
            <a:ext cx="3224212" cy="5997575"/>
          </a:xfrm>
          <a:prstGeom prst="rect">
            <a:avLst/>
          </a:prstGeom>
          <a:noFill/>
          <a:ln>
            <a:noFill/>
          </a:ln>
        </p:spPr>
      </p:pic>
      <p:sp>
        <p:nvSpPr>
          <p:cNvPr id="477" name="Google Shape;477;p6"/>
          <p:cNvSpPr txBox="1">
            <a:spLocks noGrp="1"/>
          </p:cNvSpPr>
          <p:nvPr>
            <p:ph type="body" idx="1"/>
          </p:nvPr>
        </p:nvSpPr>
        <p:spPr>
          <a:xfrm>
            <a:off x="4073716" y="1285678"/>
            <a:ext cx="7531200" cy="52140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1000"/>
              </a:spcBef>
              <a:spcAft>
                <a:spcPts val="0"/>
              </a:spcAft>
              <a:buClr>
                <a:schemeClr val="dk1"/>
              </a:buClr>
              <a:buSzPts val="1800"/>
              <a:buFont typeface="Arial"/>
              <a:buNone/>
            </a:pPr>
            <a:r>
              <a:rPr lang="en-US" sz="1800" dirty="0" err="1">
                <a:solidFill>
                  <a:schemeClr val="dk1"/>
                </a:solidFill>
              </a:rPr>
              <a:t>Manfaat</a:t>
            </a:r>
            <a:r>
              <a:rPr lang="en-US" sz="1800" dirty="0">
                <a:solidFill>
                  <a:schemeClr val="dk1"/>
                </a:solidFill>
              </a:rPr>
              <a:t> </a:t>
            </a:r>
            <a:r>
              <a:rPr lang="en-US" sz="1800" dirty="0" err="1">
                <a:solidFill>
                  <a:schemeClr val="dk1"/>
                </a:solidFill>
              </a:rPr>
              <a:t>penelitian</a:t>
            </a:r>
            <a:r>
              <a:rPr lang="en-US" sz="1800" dirty="0">
                <a:solidFill>
                  <a:schemeClr val="dk1"/>
                </a:solidFill>
              </a:rPr>
              <a:t> </a:t>
            </a:r>
            <a:r>
              <a:rPr lang="en-US" sz="1800" dirty="0" err="1">
                <a:solidFill>
                  <a:schemeClr val="dk1"/>
                </a:solidFill>
              </a:rPr>
              <a:t>ini</a:t>
            </a:r>
            <a:r>
              <a:rPr lang="en-US" sz="1800" dirty="0">
                <a:solidFill>
                  <a:schemeClr val="dk1"/>
                </a:solidFill>
              </a:rPr>
              <a:t>:</a:t>
            </a:r>
          </a:p>
          <a:p>
            <a:pPr marL="571500" lvl="0" indent="-342900" algn="l" rtl="0">
              <a:lnSpc>
                <a:spcPct val="100000"/>
              </a:lnSpc>
              <a:spcBef>
                <a:spcPts val="1000"/>
              </a:spcBef>
              <a:spcAft>
                <a:spcPts val="0"/>
              </a:spcAft>
              <a:buClr>
                <a:schemeClr val="dk1"/>
              </a:buClr>
              <a:buSzPts val="1800"/>
              <a:buFont typeface="+mj-lt"/>
              <a:buAutoNum type="arabicPeriod"/>
            </a:pPr>
            <a:r>
              <a:rPr lang="en-US" sz="1800" dirty="0" err="1">
                <a:solidFill>
                  <a:schemeClr val="dk1"/>
                </a:solidFill>
              </a:rPr>
              <a:t>Bagi</a:t>
            </a:r>
            <a:r>
              <a:rPr lang="en-US" sz="1800" dirty="0">
                <a:solidFill>
                  <a:schemeClr val="dk1"/>
                </a:solidFill>
              </a:rPr>
              <a:t> </a:t>
            </a:r>
            <a:r>
              <a:rPr lang="en-US" sz="1800" dirty="0" err="1">
                <a:solidFill>
                  <a:schemeClr val="dk1"/>
                </a:solidFill>
              </a:rPr>
              <a:t>peneliti</a:t>
            </a:r>
            <a:r>
              <a:rPr lang="en-US" sz="1800" dirty="0">
                <a:solidFill>
                  <a:schemeClr val="dk1"/>
                </a:solidFill>
              </a:rPr>
              <a:t>/</a:t>
            </a:r>
            <a:r>
              <a:rPr lang="en-US" sz="1800" dirty="0" err="1">
                <a:solidFill>
                  <a:schemeClr val="dk1"/>
                </a:solidFill>
              </a:rPr>
              <a:t>pengembang</a:t>
            </a:r>
            <a:r>
              <a:rPr lang="en-US" sz="1800" dirty="0">
                <a:solidFill>
                  <a:schemeClr val="dk1"/>
                </a:solidFill>
              </a:rPr>
              <a:t> </a:t>
            </a:r>
            <a:r>
              <a:rPr lang="en-US" sz="1800" dirty="0" err="1">
                <a:solidFill>
                  <a:schemeClr val="dk1"/>
                </a:solidFill>
              </a:rPr>
              <a:t>aplikasi</a:t>
            </a:r>
            <a:r>
              <a:rPr lang="en-US" sz="1800" dirty="0">
                <a:solidFill>
                  <a:schemeClr val="dk1"/>
                </a:solidFill>
              </a:rPr>
              <a:t>: </a:t>
            </a:r>
            <a:r>
              <a:rPr lang="id-ID" sz="1800" dirty="0"/>
              <a:t>Menjadi referensi untuk mengembangkan sistem visi komputer yang mampu mendeteksi objek dan mengambil keputusan berbasis aturan pada permainan olahraga.</a:t>
            </a:r>
            <a:endParaRPr lang="en-US" sz="1800" dirty="0"/>
          </a:p>
          <a:p>
            <a:pPr marL="571500" lvl="0" indent="-342900" algn="l" rtl="0">
              <a:lnSpc>
                <a:spcPct val="100000"/>
              </a:lnSpc>
              <a:spcBef>
                <a:spcPts val="1000"/>
              </a:spcBef>
              <a:spcAft>
                <a:spcPts val="0"/>
              </a:spcAft>
              <a:buClr>
                <a:schemeClr val="dk1"/>
              </a:buClr>
              <a:buSzPts val="1800"/>
              <a:buFont typeface="+mj-lt"/>
              <a:buAutoNum type="arabicPeriod"/>
            </a:pPr>
            <a:r>
              <a:rPr lang="en-US" sz="1800" dirty="0" err="1">
                <a:solidFill>
                  <a:schemeClr val="dk1"/>
                </a:solidFill>
              </a:rPr>
              <a:t>Akademisi</a:t>
            </a:r>
            <a:r>
              <a:rPr lang="en-US" sz="1800" dirty="0">
                <a:solidFill>
                  <a:schemeClr val="dk1"/>
                </a:solidFill>
              </a:rPr>
              <a:t>: </a:t>
            </a:r>
            <a:r>
              <a:rPr lang="en-US" sz="1800" dirty="0" err="1">
                <a:solidFill>
                  <a:schemeClr val="dk1"/>
                </a:solidFill>
              </a:rPr>
              <a:t>Menambah</a:t>
            </a:r>
            <a:r>
              <a:rPr lang="en-US" sz="1800" dirty="0">
                <a:solidFill>
                  <a:schemeClr val="dk1"/>
                </a:solidFill>
              </a:rPr>
              <a:t> </a:t>
            </a:r>
            <a:r>
              <a:rPr lang="en-US" sz="1800" dirty="0" err="1">
                <a:solidFill>
                  <a:schemeClr val="dk1"/>
                </a:solidFill>
              </a:rPr>
              <a:t>literatur</a:t>
            </a:r>
            <a:r>
              <a:rPr lang="en-US" sz="1800" dirty="0">
                <a:solidFill>
                  <a:schemeClr val="dk1"/>
                </a:solidFill>
              </a:rPr>
              <a:t> </a:t>
            </a:r>
            <a:r>
              <a:rPr lang="en-US" sz="1800" dirty="0" err="1">
                <a:solidFill>
                  <a:schemeClr val="dk1"/>
                </a:solidFill>
              </a:rPr>
              <a:t>tentang</a:t>
            </a:r>
            <a:r>
              <a:rPr lang="en-US" sz="1800" dirty="0">
                <a:solidFill>
                  <a:schemeClr val="dk1"/>
                </a:solidFill>
              </a:rPr>
              <a:t> </a:t>
            </a:r>
            <a:r>
              <a:rPr lang="en-US" sz="1800" dirty="0" err="1">
                <a:solidFill>
                  <a:schemeClr val="dk1"/>
                </a:solidFill>
              </a:rPr>
              <a:t>penerapan</a:t>
            </a:r>
            <a:r>
              <a:rPr lang="en-US" sz="1800" dirty="0">
                <a:solidFill>
                  <a:schemeClr val="dk1"/>
                </a:solidFill>
              </a:rPr>
              <a:t> AI, YOLO, dan </a:t>
            </a:r>
            <a:r>
              <a:rPr lang="en-US" sz="1800" i="1" dirty="0">
                <a:solidFill>
                  <a:schemeClr val="dk1"/>
                </a:solidFill>
              </a:rPr>
              <a:t>edge</a:t>
            </a:r>
            <a:r>
              <a:rPr lang="en-US" sz="1800" dirty="0">
                <a:solidFill>
                  <a:schemeClr val="dk1"/>
                </a:solidFill>
              </a:rPr>
              <a:t> </a:t>
            </a:r>
            <a:r>
              <a:rPr lang="en-US" sz="1800" i="1" dirty="0">
                <a:solidFill>
                  <a:schemeClr val="dk1"/>
                </a:solidFill>
              </a:rPr>
              <a:t>computing</a:t>
            </a:r>
            <a:r>
              <a:rPr lang="en-US" sz="1800" dirty="0">
                <a:solidFill>
                  <a:schemeClr val="dk1"/>
                </a:solidFill>
              </a:rPr>
              <a:t> </a:t>
            </a:r>
            <a:r>
              <a:rPr lang="en-US" sz="1800" dirty="0" err="1">
                <a:solidFill>
                  <a:schemeClr val="dk1"/>
                </a:solidFill>
              </a:rPr>
              <a:t>dalam</a:t>
            </a:r>
            <a:r>
              <a:rPr lang="en-US" sz="1800" dirty="0">
                <a:solidFill>
                  <a:schemeClr val="dk1"/>
                </a:solidFill>
              </a:rPr>
              <a:t> </a:t>
            </a:r>
            <a:r>
              <a:rPr lang="en-US" sz="1800" dirty="0" err="1">
                <a:solidFill>
                  <a:schemeClr val="dk1"/>
                </a:solidFill>
              </a:rPr>
              <a:t>deteksi</a:t>
            </a:r>
            <a:r>
              <a:rPr lang="en-US" sz="1800" dirty="0">
                <a:solidFill>
                  <a:schemeClr val="dk1"/>
                </a:solidFill>
              </a:rPr>
              <a:t> </a:t>
            </a:r>
            <a:r>
              <a:rPr lang="en-US" sz="1800" dirty="0" err="1">
                <a:solidFill>
                  <a:schemeClr val="dk1"/>
                </a:solidFill>
              </a:rPr>
              <a:t>pelanggaran</a:t>
            </a:r>
            <a:r>
              <a:rPr lang="en-US" sz="1800" dirty="0">
                <a:solidFill>
                  <a:schemeClr val="dk1"/>
                </a:solidFill>
              </a:rPr>
              <a:t> pada </a:t>
            </a:r>
            <a:r>
              <a:rPr lang="en-US" sz="1800" dirty="0" err="1">
                <a:solidFill>
                  <a:schemeClr val="dk1"/>
                </a:solidFill>
              </a:rPr>
              <a:t>permainan</a:t>
            </a:r>
            <a:r>
              <a:rPr lang="en-US" sz="1800" dirty="0">
                <a:solidFill>
                  <a:schemeClr val="dk1"/>
                </a:solidFill>
              </a:rPr>
              <a:t> 9-</a:t>
            </a:r>
            <a:r>
              <a:rPr lang="en-US" sz="1800" i="1" dirty="0">
                <a:solidFill>
                  <a:schemeClr val="dk1"/>
                </a:solidFill>
              </a:rPr>
              <a:t>ball pool</a:t>
            </a:r>
            <a:r>
              <a:rPr lang="en-US" sz="1800" dirty="0">
                <a:solidFill>
                  <a:schemeClr val="dk1"/>
                </a:solidFill>
              </a:rPr>
              <a:t>.</a:t>
            </a:r>
          </a:p>
          <a:p>
            <a:pPr marL="571500" lvl="0" indent="-342900" algn="l" rtl="0">
              <a:lnSpc>
                <a:spcPct val="100000"/>
              </a:lnSpc>
              <a:spcBef>
                <a:spcPts val="1000"/>
              </a:spcBef>
              <a:spcAft>
                <a:spcPts val="0"/>
              </a:spcAft>
              <a:buClr>
                <a:schemeClr val="dk1"/>
              </a:buClr>
              <a:buSzPts val="1800"/>
              <a:buFont typeface="+mj-lt"/>
              <a:buAutoNum type="arabicPeriod"/>
            </a:pPr>
            <a:r>
              <a:rPr lang="en-US" sz="1800" dirty="0" err="1">
                <a:solidFill>
                  <a:schemeClr val="dk1"/>
                </a:solidFill>
              </a:rPr>
              <a:t>Pemilik</a:t>
            </a:r>
            <a:r>
              <a:rPr lang="en-US" sz="1800" dirty="0">
                <a:solidFill>
                  <a:schemeClr val="dk1"/>
                </a:solidFill>
              </a:rPr>
              <a:t> </a:t>
            </a:r>
            <a:r>
              <a:rPr lang="en-US" sz="1800" dirty="0" err="1">
                <a:solidFill>
                  <a:schemeClr val="dk1"/>
                </a:solidFill>
              </a:rPr>
              <a:t>usaha</a:t>
            </a:r>
            <a:r>
              <a:rPr lang="en-US" sz="1800" dirty="0">
                <a:solidFill>
                  <a:schemeClr val="dk1"/>
                </a:solidFill>
              </a:rPr>
              <a:t> </a:t>
            </a:r>
            <a:r>
              <a:rPr lang="en-US" sz="1800" dirty="0" err="1">
                <a:solidFill>
                  <a:schemeClr val="dk1"/>
                </a:solidFill>
              </a:rPr>
              <a:t>biliar</a:t>
            </a:r>
            <a:r>
              <a:rPr lang="en-US" sz="1800" dirty="0">
                <a:solidFill>
                  <a:schemeClr val="dk1"/>
                </a:solidFill>
              </a:rPr>
              <a:t> dan </a:t>
            </a:r>
            <a:r>
              <a:rPr lang="en-US" sz="1800" dirty="0" err="1">
                <a:solidFill>
                  <a:schemeClr val="dk1"/>
                </a:solidFill>
              </a:rPr>
              <a:t>pemain</a:t>
            </a:r>
            <a:r>
              <a:rPr lang="en-US" sz="1800" dirty="0">
                <a:solidFill>
                  <a:schemeClr val="dk1"/>
                </a:solidFill>
              </a:rPr>
              <a:t> </a:t>
            </a:r>
            <a:r>
              <a:rPr lang="en-US" sz="1800" dirty="0" err="1">
                <a:solidFill>
                  <a:schemeClr val="dk1"/>
                </a:solidFill>
              </a:rPr>
              <a:t>biliar</a:t>
            </a:r>
            <a:r>
              <a:rPr lang="en-US" sz="1800" dirty="0">
                <a:solidFill>
                  <a:schemeClr val="dk1"/>
                </a:solidFill>
              </a:rPr>
              <a:t>: </a:t>
            </a:r>
            <a:r>
              <a:rPr lang="en-US" sz="1800" dirty="0" err="1">
                <a:solidFill>
                  <a:schemeClr val="dk1"/>
                </a:solidFill>
              </a:rPr>
              <a:t>Dapat</a:t>
            </a:r>
            <a:r>
              <a:rPr lang="en-US" sz="1800" dirty="0">
                <a:solidFill>
                  <a:schemeClr val="dk1"/>
                </a:solidFill>
              </a:rPr>
              <a:t> </a:t>
            </a:r>
            <a:r>
              <a:rPr lang="en-US" sz="1800" dirty="0" err="1">
                <a:solidFill>
                  <a:schemeClr val="dk1"/>
                </a:solidFill>
              </a:rPr>
              <a:t>menjadi</a:t>
            </a:r>
            <a:r>
              <a:rPr lang="en-US" sz="1800" dirty="0">
                <a:solidFill>
                  <a:schemeClr val="dk1"/>
                </a:solidFill>
              </a:rPr>
              <a:t> </a:t>
            </a:r>
            <a:r>
              <a:rPr lang="en-US" sz="1800" dirty="0" err="1">
                <a:solidFill>
                  <a:schemeClr val="dk1"/>
                </a:solidFill>
              </a:rPr>
              <a:t>dasar</a:t>
            </a:r>
            <a:r>
              <a:rPr lang="en-US" sz="1800" dirty="0">
                <a:solidFill>
                  <a:schemeClr val="dk1"/>
                </a:solidFill>
              </a:rPr>
              <a:t> </a:t>
            </a:r>
            <a:r>
              <a:rPr lang="en-US" sz="1800" dirty="0" err="1">
                <a:solidFill>
                  <a:schemeClr val="dk1"/>
                </a:solidFill>
              </a:rPr>
              <a:t>pengembangan</a:t>
            </a:r>
            <a:r>
              <a:rPr lang="en-US" sz="1800" dirty="0">
                <a:solidFill>
                  <a:schemeClr val="dk1"/>
                </a:solidFill>
              </a:rPr>
              <a:t> </a:t>
            </a:r>
            <a:r>
              <a:rPr lang="en-US" sz="1800" dirty="0" err="1">
                <a:solidFill>
                  <a:schemeClr val="dk1"/>
                </a:solidFill>
              </a:rPr>
              <a:t>alat</a:t>
            </a:r>
            <a:r>
              <a:rPr lang="en-US" sz="1800" dirty="0">
                <a:solidFill>
                  <a:schemeClr val="dk1"/>
                </a:solidFill>
              </a:rPr>
              <a:t> </a:t>
            </a:r>
            <a:r>
              <a:rPr lang="en-US" sz="1800" dirty="0" err="1">
                <a:solidFill>
                  <a:schemeClr val="dk1"/>
                </a:solidFill>
              </a:rPr>
              <a:t>bantu</a:t>
            </a:r>
            <a:r>
              <a:rPr lang="en-US" sz="1800" dirty="0">
                <a:solidFill>
                  <a:schemeClr val="dk1"/>
                </a:solidFill>
              </a:rPr>
              <a:t> </a:t>
            </a:r>
            <a:r>
              <a:rPr lang="en-US" sz="1800" dirty="0" err="1">
                <a:solidFill>
                  <a:schemeClr val="dk1"/>
                </a:solidFill>
              </a:rPr>
              <a:t>wasit</a:t>
            </a:r>
            <a:r>
              <a:rPr lang="en-US" sz="1800" dirty="0">
                <a:solidFill>
                  <a:schemeClr val="dk1"/>
                </a:solidFill>
              </a:rPr>
              <a:t> </a:t>
            </a:r>
            <a:r>
              <a:rPr lang="en-US" sz="1800" dirty="0" err="1">
                <a:solidFill>
                  <a:schemeClr val="dk1"/>
                </a:solidFill>
              </a:rPr>
              <a:t>atau</a:t>
            </a:r>
            <a:r>
              <a:rPr lang="en-US" sz="1800" dirty="0">
                <a:solidFill>
                  <a:schemeClr val="dk1"/>
                </a:solidFill>
              </a:rPr>
              <a:t> </a:t>
            </a:r>
            <a:r>
              <a:rPr lang="en-US" sz="1800" dirty="0" err="1">
                <a:solidFill>
                  <a:schemeClr val="dk1"/>
                </a:solidFill>
              </a:rPr>
              <a:t>sistem</a:t>
            </a:r>
            <a:r>
              <a:rPr lang="en-US" sz="1800" dirty="0">
                <a:solidFill>
                  <a:schemeClr val="dk1"/>
                </a:solidFill>
              </a:rPr>
              <a:t> </a:t>
            </a:r>
            <a:r>
              <a:rPr lang="en-US" sz="1800" dirty="0" err="1">
                <a:solidFill>
                  <a:schemeClr val="dk1"/>
                </a:solidFill>
              </a:rPr>
              <a:t>evaluasi</a:t>
            </a:r>
            <a:r>
              <a:rPr lang="en-US" sz="1800" dirty="0">
                <a:solidFill>
                  <a:schemeClr val="dk1"/>
                </a:solidFill>
              </a:rPr>
              <a:t> </a:t>
            </a:r>
            <a:r>
              <a:rPr lang="en-US" sz="1800" dirty="0" err="1">
                <a:solidFill>
                  <a:schemeClr val="dk1"/>
                </a:solidFill>
              </a:rPr>
              <a:t>permainan</a:t>
            </a:r>
            <a:r>
              <a:rPr lang="en-US" sz="1800" dirty="0">
                <a:solidFill>
                  <a:schemeClr val="dk1"/>
                </a:solidFill>
              </a:rPr>
              <a:t> agar </a:t>
            </a:r>
            <a:r>
              <a:rPr lang="en-US" sz="1800" dirty="0" err="1">
                <a:solidFill>
                  <a:schemeClr val="dk1"/>
                </a:solidFill>
              </a:rPr>
              <a:t>keputusan</a:t>
            </a:r>
            <a:r>
              <a:rPr lang="en-US" sz="1800" dirty="0">
                <a:solidFill>
                  <a:schemeClr val="dk1"/>
                </a:solidFill>
              </a:rPr>
              <a:t> </a:t>
            </a:r>
            <a:r>
              <a:rPr lang="en-US" sz="1800" dirty="0" err="1">
                <a:solidFill>
                  <a:schemeClr val="dk1"/>
                </a:solidFill>
              </a:rPr>
              <a:t>pelanggaran</a:t>
            </a:r>
            <a:r>
              <a:rPr lang="en-US" sz="1800" dirty="0">
                <a:solidFill>
                  <a:schemeClr val="dk1"/>
                </a:solidFill>
              </a:rPr>
              <a:t> </a:t>
            </a:r>
            <a:r>
              <a:rPr lang="en-US" sz="1800" dirty="0" err="1">
                <a:solidFill>
                  <a:schemeClr val="dk1"/>
                </a:solidFill>
              </a:rPr>
              <a:t>lebih</a:t>
            </a:r>
            <a:r>
              <a:rPr lang="en-US" sz="1800" dirty="0">
                <a:solidFill>
                  <a:schemeClr val="dk1"/>
                </a:solidFill>
              </a:rPr>
              <a:t> </a:t>
            </a:r>
            <a:r>
              <a:rPr lang="en-US" sz="1800" dirty="0" err="1">
                <a:solidFill>
                  <a:schemeClr val="dk1"/>
                </a:solidFill>
              </a:rPr>
              <a:t>objektif</a:t>
            </a:r>
            <a:r>
              <a:rPr lang="en-US" sz="1800" dirty="0">
                <a:solidFill>
                  <a:schemeClr val="dk1"/>
                </a:solidFill>
              </a:rPr>
              <a:t> dan </a:t>
            </a:r>
            <a:r>
              <a:rPr lang="en-US" sz="1800" dirty="0" err="1">
                <a:solidFill>
                  <a:schemeClr val="dk1"/>
                </a:solidFill>
              </a:rPr>
              <a:t>konsisten</a:t>
            </a:r>
            <a:r>
              <a:rPr lang="en-US" sz="1800" dirty="0">
                <a:solidFill>
                  <a:schemeClr val="dk1"/>
                </a:solidFill>
              </a:rPr>
              <a:t>.</a:t>
            </a:r>
          </a:p>
        </p:txBody>
      </p:sp>
    </p:spTree>
    <p:extLst>
      <p:ext uri="{BB962C8B-B14F-4D97-AF65-F5344CB8AC3E}">
        <p14:creationId xmlns:p14="http://schemas.microsoft.com/office/powerpoint/2010/main" val="3870144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g370bcdc0c5d_0_65"/>
          <p:cNvSpPr txBox="1">
            <a:spLocks noGrp="1"/>
          </p:cNvSpPr>
          <p:nvPr>
            <p:ph type="body" idx="1"/>
          </p:nvPr>
        </p:nvSpPr>
        <p:spPr>
          <a:xfrm>
            <a:off x="838200" y="2276599"/>
            <a:ext cx="4984800" cy="3900599"/>
          </a:xfrm>
          <a:prstGeom prst="rect">
            <a:avLst/>
          </a:prstGeom>
          <a:noFill/>
          <a:ln>
            <a:noFill/>
          </a:ln>
        </p:spPr>
        <p:txBody>
          <a:bodyPr spcFirstLastPara="1" wrap="square" lIns="91425" tIns="45700" rIns="91425" bIns="45700" anchor="t" anchorCtr="0">
            <a:normAutofit/>
          </a:bodyPr>
          <a:lstStyle/>
          <a:p>
            <a:pPr marL="101600" indent="0">
              <a:buNone/>
            </a:pPr>
            <a:r>
              <a:rPr lang="id-ID" dirty="0"/>
              <a:t>Penelitian ini berfokus pada permainan 9-</a:t>
            </a:r>
            <a:r>
              <a:rPr lang="id-ID" i="1" dirty="0"/>
              <a:t>ball pool</a:t>
            </a:r>
            <a:r>
              <a:rPr lang="id-ID" dirty="0"/>
              <a:t> dengan sistem deteksi berbasis kamera dan visi komputer. </a:t>
            </a:r>
            <a:endParaRPr lang="en-US" dirty="0"/>
          </a:p>
          <a:p>
            <a:pPr marL="101600" indent="0">
              <a:buNone/>
            </a:pPr>
            <a:r>
              <a:rPr lang="id-ID" dirty="0"/>
              <a:t>Objek utama yang dianalisis meliputi </a:t>
            </a:r>
            <a:r>
              <a:rPr lang="id-ID" i="1" dirty="0"/>
              <a:t>cue</a:t>
            </a:r>
            <a:r>
              <a:rPr lang="id-ID" dirty="0"/>
              <a:t> </a:t>
            </a:r>
            <a:r>
              <a:rPr lang="id-ID" i="1" dirty="0"/>
              <a:t>ball</a:t>
            </a:r>
            <a:r>
              <a:rPr lang="id-ID" dirty="0"/>
              <a:t>, bola bernomor, </a:t>
            </a:r>
            <a:r>
              <a:rPr lang="id-ID" i="1" dirty="0"/>
              <a:t>pocket</a:t>
            </a:r>
            <a:r>
              <a:rPr lang="id-ID" dirty="0"/>
              <a:t>, </a:t>
            </a:r>
            <a:r>
              <a:rPr lang="id-ID" i="1" dirty="0"/>
              <a:t>rail</a:t>
            </a:r>
            <a:r>
              <a:rPr lang="id-ID" dirty="0"/>
              <a:t>, dan area meja</a:t>
            </a:r>
            <a:r>
              <a:rPr lang="en-US" dirty="0"/>
              <a:t>.</a:t>
            </a:r>
            <a:endParaRPr lang="id-ID" dirty="0"/>
          </a:p>
          <a:p>
            <a:pPr marL="101600" lvl="0" indent="0" algn="l" rtl="0">
              <a:lnSpc>
                <a:spcPct val="90000"/>
              </a:lnSpc>
              <a:spcBef>
                <a:spcPts val="1000"/>
              </a:spcBef>
              <a:spcAft>
                <a:spcPts val="0"/>
              </a:spcAft>
              <a:buSzPts val="2000"/>
              <a:buNone/>
            </a:pPr>
            <a:endParaRPr dirty="0"/>
          </a:p>
        </p:txBody>
      </p:sp>
      <p:sp>
        <p:nvSpPr>
          <p:cNvPr id="201" name="Google Shape;201;g370bcdc0c5d_0_65"/>
          <p:cNvSpPr txBox="1">
            <a:spLocks noGrp="1"/>
          </p:cNvSpPr>
          <p:nvPr>
            <p:ph type="title"/>
          </p:nvPr>
        </p:nvSpPr>
        <p:spPr>
          <a:xfrm>
            <a:off x="838200" y="506525"/>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Ruang Lingkup Masalah</a:t>
            </a:r>
            <a:endParaRPr/>
          </a:p>
        </p:txBody>
      </p:sp>
      <p:sp>
        <p:nvSpPr>
          <p:cNvPr id="202" name="Google Shape;202;g370bcdc0c5d_0_65"/>
          <p:cNvSpPr txBox="1">
            <a:spLocks noGrp="1"/>
          </p:cNvSpPr>
          <p:nvPr>
            <p:ph type="body" idx="1"/>
          </p:nvPr>
        </p:nvSpPr>
        <p:spPr>
          <a:xfrm>
            <a:off x="838200" y="1426800"/>
            <a:ext cx="7337612" cy="5367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dirty="0"/>
              <a:t>Ruang </a:t>
            </a:r>
            <a:r>
              <a:rPr lang="en-US" dirty="0" err="1"/>
              <a:t>lingkup</a:t>
            </a:r>
            <a:r>
              <a:rPr lang="en-US" dirty="0"/>
              <a:t> </a:t>
            </a:r>
            <a:r>
              <a:rPr lang="en-US" dirty="0" err="1"/>
              <a:t>masalah</a:t>
            </a:r>
            <a:r>
              <a:rPr lang="en-US" dirty="0"/>
              <a:t> </a:t>
            </a:r>
            <a:r>
              <a:rPr lang="en-US" dirty="0" err="1"/>
              <a:t>dalam</a:t>
            </a:r>
            <a:r>
              <a:rPr lang="en-US" dirty="0"/>
              <a:t> </a:t>
            </a:r>
            <a:r>
              <a:rPr lang="en-US" dirty="0" err="1"/>
              <a:t>penelitian</a:t>
            </a:r>
            <a:r>
              <a:rPr lang="en-US" dirty="0"/>
              <a:t> </a:t>
            </a:r>
            <a:r>
              <a:rPr lang="en-US" dirty="0" err="1"/>
              <a:t>ini</a:t>
            </a:r>
            <a:r>
              <a:rPr lang="en-US" dirty="0"/>
              <a:t> </a:t>
            </a:r>
            <a:r>
              <a:rPr lang="en-US" dirty="0" err="1"/>
              <a:t>dibatasi</a:t>
            </a:r>
            <a:r>
              <a:rPr lang="en-US" dirty="0"/>
              <a:t> pada :</a:t>
            </a:r>
            <a:endParaRPr sz="2000" dirty="0">
              <a:latin typeface="Arial"/>
              <a:ea typeface="Arial"/>
              <a:cs typeface="Arial"/>
              <a:sym typeface="Arial"/>
            </a:endParaRPr>
          </a:p>
        </p:txBody>
      </p:sp>
      <p:sp>
        <p:nvSpPr>
          <p:cNvPr id="203" name="Google Shape;203;g370bcdc0c5d_0_65"/>
          <p:cNvSpPr txBox="1">
            <a:spLocks noGrp="1"/>
          </p:cNvSpPr>
          <p:nvPr>
            <p:ph type="body" idx="1"/>
          </p:nvPr>
        </p:nvSpPr>
        <p:spPr>
          <a:xfrm>
            <a:off x="6193178" y="2092804"/>
            <a:ext cx="5307000" cy="4258671"/>
          </a:xfrm>
          <a:prstGeom prst="rect">
            <a:avLst/>
          </a:prstGeom>
          <a:noFill/>
          <a:ln>
            <a:noFill/>
          </a:ln>
        </p:spPr>
        <p:txBody>
          <a:bodyPr spcFirstLastPara="1" wrap="square" lIns="91425" tIns="45700" rIns="91425" bIns="45700" anchor="t" anchorCtr="0">
            <a:normAutofit/>
          </a:bodyPr>
          <a:lstStyle/>
          <a:p>
            <a:pPr marL="101600" indent="0">
              <a:buNone/>
            </a:pPr>
            <a:r>
              <a:rPr lang="id-ID" dirty="0"/>
              <a:t>Pelanggaran yang dideteksi dibatasi pada empat jenis foul:</a:t>
            </a:r>
            <a:endParaRPr lang="en-US" dirty="0"/>
          </a:p>
          <a:p>
            <a:r>
              <a:rPr lang="en-US" dirty="0"/>
              <a:t>Cue ball scratch</a:t>
            </a:r>
          </a:p>
          <a:p>
            <a:r>
              <a:rPr lang="en-US" dirty="0"/>
              <a:t>No legal hit</a:t>
            </a:r>
          </a:p>
          <a:p>
            <a:r>
              <a:rPr lang="en-US" dirty="0"/>
              <a:t>Cue ball </a:t>
            </a:r>
            <a:r>
              <a:rPr lang="en-US" dirty="0" err="1"/>
              <a:t>keluar</a:t>
            </a:r>
            <a:r>
              <a:rPr lang="en-US" dirty="0"/>
              <a:t> area </a:t>
            </a:r>
            <a:r>
              <a:rPr lang="en-US" dirty="0" err="1"/>
              <a:t>permainan</a:t>
            </a:r>
            <a:endParaRPr lang="en-US" dirty="0"/>
          </a:p>
          <a:p>
            <a:r>
              <a:rPr lang="en-US" dirty="0"/>
              <a:t>No rail contact on shot</a:t>
            </a:r>
          </a:p>
          <a:p>
            <a:pPr marL="101600" indent="0">
              <a:buNone/>
            </a:pPr>
            <a:r>
              <a:rPr lang="en-US" dirty="0" err="1"/>
              <a:t>Deteksi</a:t>
            </a:r>
            <a:r>
              <a:rPr lang="en-US" dirty="0"/>
              <a:t> </a:t>
            </a:r>
            <a:r>
              <a:rPr lang="en-US" dirty="0" err="1"/>
              <a:t>dilakukan</a:t>
            </a:r>
            <a:r>
              <a:rPr lang="en-US" dirty="0"/>
              <a:t> </a:t>
            </a:r>
            <a:r>
              <a:rPr lang="en-US" dirty="0" err="1"/>
              <a:t>berdasarkan</a:t>
            </a:r>
            <a:r>
              <a:rPr lang="en-US" dirty="0"/>
              <a:t> </a:t>
            </a:r>
            <a:r>
              <a:rPr lang="en-US" dirty="0" err="1"/>
              <a:t>posisi</a:t>
            </a:r>
            <a:r>
              <a:rPr lang="en-US" dirty="0"/>
              <a:t> </a:t>
            </a:r>
            <a:r>
              <a:rPr lang="en-US" dirty="0" err="1"/>
              <a:t>objek</a:t>
            </a:r>
            <a:r>
              <a:rPr lang="en-US" dirty="0"/>
              <a:t>, </a:t>
            </a:r>
            <a:r>
              <a:rPr lang="en-US" i="1" dirty="0"/>
              <a:t>bounding</a:t>
            </a:r>
            <a:r>
              <a:rPr lang="en-US" dirty="0"/>
              <a:t> </a:t>
            </a:r>
            <a:r>
              <a:rPr lang="en-US" i="1" dirty="0"/>
              <a:t>box</a:t>
            </a:r>
            <a:r>
              <a:rPr lang="en-US" dirty="0"/>
              <a:t>, dan </a:t>
            </a:r>
            <a:r>
              <a:rPr lang="en-US" dirty="0" err="1"/>
              <a:t>interaksi</a:t>
            </a:r>
            <a:r>
              <a:rPr lang="en-US" dirty="0"/>
              <a:t> </a:t>
            </a:r>
            <a:r>
              <a:rPr lang="en-US" dirty="0" err="1"/>
              <a:t>antarbola</a:t>
            </a:r>
            <a:r>
              <a:rPr lang="en-US" dirty="0"/>
              <a:t>, </a:t>
            </a:r>
            <a:r>
              <a:rPr lang="en-US" dirty="0" err="1"/>
              <a:t>kemudian</a:t>
            </a:r>
            <a:r>
              <a:rPr lang="en-US" dirty="0"/>
              <a:t> </a:t>
            </a:r>
            <a:r>
              <a:rPr lang="en-US" dirty="0" err="1"/>
              <a:t>sistem</a:t>
            </a:r>
            <a:r>
              <a:rPr lang="en-US" dirty="0"/>
              <a:t> </a:t>
            </a:r>
            <a:r>
              <a:rPr lang="en-US" dirty="0" err="1"/>
              <a:t>diuji</a:t>
            </a:r>
            <a:r>
              <a:rPr lang="en-US" dirty="0"/>
              <a:t> pada Raspberry Pi 5 </a:t>
            </a:r>
            <a:r>
              <a:rPr lang="en-US" dirty="0" err="1"/>
              <a:t>dengan</a:t>
            </a:r>
            <a:r>
              <a:rPr lang="en-US" dirty="0"/>
              <a:t> Hailo-8L </a:t>
            </a:r>
            <a:r>
              <a:rPr lang="en-US" dirty="0" err="1"/>
              <a:t>untuk</a:t>
            </a:r>
            <a:r>
              <a:rPr lang="en-US" dirty="0"/>
              <a:t> </a:t>
            </a:r>
            <a:r>
              <a:rPr lang="en-US" dirty="0" err="1"/>
              <a:t>melihat</a:t>
            </a:r>
            <a:r>
              <a:rPr lang="en-US" dirty="0"/>
              <a:t> </a:t>
            </a:r>
            <a:r>
              <a:rPr lang="en-US" dirty="0" err="1"/>
              <a:t>akurasi</a:t>
            </a:r>
            <a:r>
              <a:rPr lang="en-US" dirty="0"/>
              <a:t> dan </a:t>
            </a:r>
            <a:r>
              <a:rPr lang="en-US" dirty="0" err="1"/>
              <a:t>performanya</a:t>
            </a:r>
            <a:r>
              <a:rPr lang="en-US" dirty="0"/>
              <a:t>.</a:t>
            </a:r>
          </a:p>
          <a:p>
            <a:pPr marL="101600" indent="0">
              <a:buNone/>
            </a:pPr>
            <a:endParaRPr lang="id-ID"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370ce3e83ae_0_6"/>
          <p:cNvSpPr txBox="1">
            <a:spLocks noGrp="1"/>
          </p:cNvSpPr>
          <p:nvPr>
            <p:ph type="body" idx="1"/>
          </p:nvPr>
        </p:nvSpPr>
        <p:spPr>
          <a:xfrm>
            <a:off x="838200" y="2428875"/>
            <a:ext cx="4984800" cy="3748200"/>
          </a:xfrm>
          <a:prstGeom prst="rect">
            <a:avLst/>
          </a:prstGeom>
          <a:noFill/>
          <a:ln>
            <a:noFill/>
          </a:ln>
        </p:spPr>
        <p:txBody>
          <a:bodyPr spcFirstLastPara="1" wrap="square" lIns="91425" tIns="45700" rIns="91425" bIns="45700" anchor="t" anchorCtr="0">
            <a:normAutofit/>
          </a:bodyPr>
          <a:lstStyle/>
          <a:p>
            <a:pPr>
              <a:lnSpc>
                <a:spcPct val="100000"/>
              </a:lnSpc>
              <a:spcBef>
                <a:spcPts val="0"/>
              </a:spcBef>
            </a:pPr>
            <a:r>
              <a:rPr lang="id-ID" dirty="0"/>
              <a:t>9-</a:t>
            </a:r>
            <a:r>
              <a:rPr lang="id-ID" i="1" dirty="0"/>
              <a:t>Ball</a:t>
            </a:r>
            <a:r>
              <a:rPr lang="id-ID" dirty="0"/>
              <a:t> dan </a:t>
            </a:r>
            <a:r>
              <a:rPr lang="id-ID" i="1" dirty="0"/>
              <a:t>Pelanggaran</a:t>
            </a:r>
            <a:r>
              <a:rPr lang="id-ID" dirty="0"/>
              <a:t> 9-</a:t>
            </a:r>
            <a:r>
              <a:rPr lang="id-ID" i="1" dirty="0"/>
              <a:t>Ball</a:t>
            </a:r>
            <a:r>
              <a:rPr lang="id-ID" dirty="0"/>
              <a:t> </a:t>
            </a:r>
          </a:p>
          <a:p>
            <a:pPr>
              <a:lnSpc>
                <a:spcPct val="100000"/>
              </a:lnSpc>
              <a:spcBef>
                <a:spcPts val="0"/>
              </a:spcBef>
            </a:pPr>
            <a:r>
              <a:rPr lang="id-ID" i="1" dirty="0"/>
              <a:t>Computer Vision </a:t>
            </a:r>
          </a:p>
          <a:p>
            <a:pPr>
              <a:lnSpc>
                <a:spcPct val="100000"/>
              </a:lnSpc>
              <a:spcBef>
                <a:spcPts val="0"/>
              </a:spcBef>
            </a:pPr>
            <a:r>
              <a:rPr lang="id-ID" i="1" dirty="0"/>
              <a:t>Object Detection </a:t>
            </a:r>
          </a:p>
          <a:p>
            <a:pPr>
              <a:lnSpc>
                <a:spcPct val="100000"/>
              </a:lnSpc>
              <a:spcBef>
                <a:spcPts val="0"/>
              </a:spcBef>
            </a:pPr>
            <a:r>
              <a:rPr lang="id-ID" dirty="0"/>
              <a:t>YOLO </a:t>
            </a:r>
          </a:p>
          <a:p>
            <a:pPr>
              <a:lnSpc>
                <a:spcPct val="100000"/>
              </a:lnSpc>
              <a:spcBef>
                <a:spcPts val="0"/>
              </a:spcBef>
            </a:pPr>
            <a:r>
              <a:rPr lang="id-ID" i="1" dirty="0"/>
              <a:t>Data Annotation </a:t>
            </a:r>
          </a:p>
          <a:p>
            <a:pPr>
              <a:lnSpc>
                <a:spcPct val="100000"/>
              </a:lnSpc>
              <a:spcBef>
                <a:spcPts val="0"/>
              </a:spcBef>
            </a:pPr>
            <a:r>
              <a:rPr lang="id-ID" i="1" dirty="0"/>
              <a:t>Data Augmentation </a:t>
            </a:r>
          </a:p>
          <a:p>
            <a:pPr>
              <a:lnSpc>
                <a:spcPct val="100000"/>
              </a:lnSpc>
              <a:spcBef>
                <a:spcPts val="0"/>
              </a:spcBef>
            </a:pPr>
            <a:r>
              <a:rPr lang="id-ID" i="1" dirty="0"/>
              <a:t>Rule-Based Reasoning </a:t>
            </a:r>
          </a:p>
          <a:p>
            <a:pPr marL="101600" lvl="0" indent="0" algn="l" rtl="0">
              <a:lnSpc>
                <a:spcPct val="100000"/>
              </a:lnSpc>
              <a:spcBef>
                <a:spcPts val="0"/>
              </a:spcBef>
              <a:spcAft>
                <a:spcPts val="0"/>
              </a:spcAft>
              <a:buSzPts val="2000"/>
              <a:buNone/>
            </a:pPr>
            <a:endParaRPr lang="en-US" dirty="0"/>
          </a:p>
        </p:txBody>
      </p:sp>
      <p:sp>
        <p:nvSpPr>
          <p:cNvPr id="222" name="Google Shape;222;g370ce3e83ae_0_6"/>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dirty="0" err="1">
                <a:solidFill>
                  <a:schemeClr val="dk1"/>
                </a:solidFill>
              </a:rPr>
              <a:t>Tinjauan</a:t>
            </a:r>
            <a:r>
              <a:rPr lang="en-US" sz="3600" dirty="0">
                <a:solidFill>
                  <a:schemeClr val="dk1"/>
                </a:solidFill>
              </a:rPr>
              <a:t> </a:t>
            </a:r>
            <a:r>
              <a:rPr lang="en-US" sz="3600" dirty="0" err="1">
                <a:solidFill>
                  <a:schemeClr val="dk1"/>
                </a:solidFill>
              </a:rPr>
              <a:t>Teori</a:t>
            </a:r>
            <a:endParaRPr b="1" dirty="0">
              <a:latin typeface="Arial"/>
              <a:ea typeface="Arial"/>
              <a:cs typeface="Arial"/>
              <a:sym typeface="Arial"/>
            </a:endParaRPr>
          </a:p>
        </p:txBody>
      </p:sp>
      <p:sp>
        <p:nvSpPr>
          <p:cNvPr id="223" name="Google Shape;223;g370ce3e83ae_0_6"/>
          <p:cNvSpPr txBox="1">
            <a:spLocks noGrp="1"/>
          </p:cNvSpPr>
          <p:nvPr>
            <p:ph type="body" idx="1"/>
          </p:nvPr>
        </p:nvSpPr>
        <p:spPr>
          <a:xfrm>
            <a:off x="6369050" y="2428875"/>
            <a:ext cx="4984800" cy="3748200"/>
          </a:xfrm>
          <a:prstGeom prst="rect">
            <a:avLst/>
          </a:prstGeom>
          <a:noFill/>
          <a:ln>
            <a:noFill/>
          </a:ln>
        </p:spPr>
        <p:txBody>
          <a:bodyPr spcFirstLastPara="1" wrap="square" lIns="91425" tIns="45700" rIns="91425" bIns="45700" anchor="t" anchorCtr="0">
            <a:normAutofit/>
          </a:bodyPr>
          <a:lstStyle/>
          <a:p>
            <a:pPr>
              <a:spcBef>
                <a:spcPts val="0"/>
              </a:spcBef>
            </a:pPr>
            <a:r>
              <a:rPr lang="id-ID" i="1" dirty="0"/>
              <a:t>Bounding Box </a:t>
            </a:r>
            <a:r>
              <a:rPr lang="id-ID" dirty="0"/>
              <a:t>dan </a:t>
            </a:r>
            <a:r>
              <a:rPr lang="id-ID" i="1" dirty="0"/>
              <a:t>Confidence Score </a:t>
            </a:r>
          </a:p>
          <a:p>
            <a:pPr>
              <a:spcBef>
                <a:spcPts val="0"/>
              </a:spcBef>
            </a:pPr>
            <a:r>
              <a:rPr lang="id-ID" i="1" dirty="0"/>
              <a:t>Edge Computing </a:t>
            </a:r>
          </a:p>
          <a:p>
            <a:pPr>
              <a:spcBef>
                <a:spcPts val="0"/>
              </a:spcBef>
            </a:pPr>
            <a:r>
              <a:rPr lang="id-ID" i="1" dirty="0"/>
              <a:t>AI Accelerator </a:t>
            </a:r>
          </a:p>
          <a:p>
            <a:pPr>
              <a:spcBef>
                <a:spcPts val="0"/>
              </a:spcBef>
            </a:pPr>
            <a:r>
              <a:rPr lang="id-ID" i="1" dirty="0"/>
              <a:t>Hailo Dataflow Compiler / HailoRT </a:t>
            </a:r>
          </a:p>
          <a:p>
            <a:pPr>
              <a:spcBef>
                <a:spcPts val="0"/>
              </a:spcBef>
            </a:pPr>
            <a:r>
              <a:rPr lang="id-ID" dirty="0"/>
              <a:t>Metrik Evaluasi </a:t>
            </a:r>
            <a:r>
              <a:rPr lang="id-ID" i="1" dirty="0"/>
              <a:t>Object Detection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370ce3e83ae_0_12"/>
          <p:cNvSpPr txBox="1">
            <a:spLocks noGrp="1"/>
          </p:cNvSpPr>
          <p:nvPr>
            <p:ph type="title"/>
          </p:nvPr>
        </p:nvSpPr>
        <p:spPr>
          <a:xfrm>
            <a:off x="527703" y="1924142"/>
            <a:ext cx="5254532" cy="150485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4400"/>
              <a:buFont typeface="Arial"/>
              <a:buNone/>
            </a:pPr>
            <a:r>
              <a:rPr lang="en-US" sz="4800" dirty="0"/>
              <a:t>Gambaran </a:t>
            </a:r>
            <a:r>
              <a:rPr lang="en-US" sz="4800" dirty="0" err="1"/>
              <a:t>Umum</a:t>
            </a:r>
            <a:r>
              <a:rPr lang="en-US" sz="4800" dirty="0"/>
              <a:t> </a:t>
            </a:r>
            <a:r>
              <a:rPr lang="en-US" sz="4800" dirty="0" err="1"/>
              <a:t>Penelitian</a:t>
            </a:r>
            <a:endParaRPr sz="4800" dirty="0"/>
          </a:p>
        </p:txBody>
      </p:sp>
      <p:pic>
        <p:nvPicPr>
          <p:cNvPr id="3" name="Picture 2">
            <a:extLst>
              <a:ext uri="{FF2B5EF4-FFF2-40B4-BE49-F238E27FC236}">
                <a16:creationId xmlns:a16="http://schemas.microsoft.com/office/drawing/2014/main" id="{B53605E1-68CC-42D9-8462-D351CB1736B2}"/>
              </a:ext>
            </a:extLst>
          </p:cNvPr>
          <p:cNvPicPr>
            <a:picLocks noChangeAspect="1"/>
          </p:cNvPicPr>
          <p:nvPr/>
        </p:nvPicPr>
        <p:blipFill>
          <a:blip r:embed="rId3"/>
          <a:stretch>
            <a:fillRect/>
          </a:stretch>
        </p:blipFill>
        <p:spPr>
          <a:xfrm>
            <a:off x="7352906" y="277905"/>
            <a:ext cx="4782961" cy="630218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370ce3e83ae_0_0"/>
          <p:cNvSpPr txBox="1">
            <a:spLocks noGrp="1"/>
          </p:cNvSpPr>
          <p:nvPr>
            <p:ph type="body" idx="1"/>
          </p:nvPr>
        </p:nvSpPr>
        <p:spPr>
          <a:xfrm>
            <a:off x="838200" y="2428875"/>
            <a:ext cx="4984800" cy="37482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dirty="0"/>
              <a:t>Attention-Pool: 9-Ball Game Video Analytics with Object Attention and Temporal Context Gated Attention [A. Zheng, W. Q. Yan]</a:t>
            </a:r>
          </a:p>
          <a:p>
            <a:pPr marL="457200" lvl="0" indent="-228600" algn="l" rtl="0">
              <a:lnSpc>
                <a:spcPct val="90000"/>
              </a:lnSpc>
              <a:spcBef>
                <a:spcPts val="1000"/>
              </a:spcBef>
              <a:spcAft>
                <a:spcPts val="0"/>
              </a:spcAft>
              <a:buClr>
                <a:srgbClr val="F26E21"/>
              </a:buClr>
              <a:buSzPts val="2000"/>
              <a:buFont typeface="Noto Sans Symbols"/>
              <a:buNone/>
            </a:pPr>
            <a:r>
              <a:rPr lang="en-US" dirty="0"/>
              <a:t>Snooker video event detection using multimodal features [J. Yu, Y. Huang, Y. He]</a:t>
            </a:r>
          </a:p>
          <a:p>
            <a:pPr marL="457200" lvl="0" indent="-228600" algn="l" rtl="0">
              <a:lnSpc>
                <a:spcPct val="90000"/>
              </a:lnSpc>
              <a:spcBef>
                <a:spcPts val="1000"/>
              </a:spcBef>
              <a:spcAft>
                <a:spcPts val="0"/>
              </a:spcAft>
              <a:buClr>
                <a:srgbClr val="F26E21"/>
              </a:buClr>
              <a:buSzPts val="2000"/>
              <a:buFont typeface="Noto Sans Symbols"/>
              <a:buNone/>
            </a:pPr>
            <a:r>
              <a:rPr lang="id-ID" dirty="0"/>
              <a:t>Intelligent Carom Billiards Assistive System</a:t>
            </a:r>
            <a:r>
              <a:rPr lang="en-US" dirty="0"/>
              <a:t> [</a:t>
            </a:r>
            <a:r>
              <a:rPr lang="id-ID" dirty="0"/>
              <a:t>J. K. Park &amp; J. Park</a:t>
            </a:r>
            <a:r>
              <a:rPr lang="en-US" dirty="0"/>
              <a:t>]</a:t>
            </a:r>
            <a:r>
              <a:rPr lang="id-ID" dirty="0"/>
              <a:t> </a:t>
            </a:r>
            <a:endParaRPr dirty="0"/>
          </a:p>
        </p:txBody>
      </p:sp>
      <p:sp>
        <p:nvSpPr>
          <p:cNvPr id="215" name="Google Shape;215;g370ce3e83ae_0_0"/>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dirty="0" err="1">
                <a:solidFill>
                  <a:schemeClr val="dk1"/>
                </a:solidFill>
              </a:rPr>
              <a:t>Studi</a:t>
            </a:r>
            <a:r>
              <a:rPr lang="en-US" sz="3600" dirty="0">
                <a:solidFill>
                  <a:schemeClr val="dk1"/>
                </a:solidFill>
              </a:rPr>
              <a:t> </a:t>
            </a:r>
            <a:r>
              <a:rPr lang="en-US" sz="3600" dirty="0" err="1">
                <a:solidFill>
                  <a:schemeClr val="dk1"/>
                </a:solidFill>
              </a:rPr>
              <a:t>Preseden</a:t>
            </a:r>
            <a:endParaRPr b="1" dirty="0">
              <a:latin typeface="Arial"/>
              <a:ea typeface="Arial"/>
              <a:cs typeface="Arial"/>
              <a:sym typeface="Arial"/>
            </a:endParaRPr>
          </a:p>
        </p:txBody>
      </p:sp>
      <p:sp>
        <p:nvSpPr>
          <p:cNvPr id="216" name="Google Shape;216;g370ce3e83ae_0_0"/>
          <p:cNvSpPr txBox="1">
            <a:spLocks noGrp="1"/>
          </p:cNvSpPr>
          <p:nvPr>
            <p:ph type="body" idx="1"/>
          </p:nvPr>
        </p:nvSpPr>
        <p:spPr>
          <a:xfrm>
            <a:off x="6369050" y="2428875"/>
            <a:ext cx="4984800" cy="37482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dirty="0"/>
              <a:t>System for Table Run Strategy in Peruvian Billiards with Real-Time Object Detection using YOLOv8n [I. Silva, R. Chavez, J. L. Castillo-</a:t>
            </a:r>
            <a:r>
              <a:rPr lang="en-US" dirty="0" err="1"/>
              <a:t>Sequera</a:t>
            </a:r>
            <a:r>
              <a:rPr lang="en-US" dirty="0"/>
              <a:t>, L. Wong]</a:t>
            </a:r>
          </a:p>
          <a:p>
            <a:pPr indent="-228600">
              <a:buNone/>
            </a:pPr>
            <a:r>
              <a:rPr lang="en-US" dirty="0"/>
              <a:t>Ball detection using YOLO and mask R-CNN [M. </a:t>
            </a:r>
            <a:r>
              <a:rPr lang="en-US" dirty="0" err="1"/>
              <a:t>Buric</a:t>
            </a:r>
            <a:r>
              <a:rPr lang="en-US" dirty="0"/>
              <a:t>, M. </a:t>
            </a:r>
            <a:r>
              <a:rPr lang="en-US" dirty="0" err="1"/>
              <a:t>Pobar</a:t>
            </a:r>
            <a:r>
              <a:rPr lang="en-US" dirty="0"/>
              <a:t>, M. </a:t>
            </a:r>
            <a:r>
              <a:rPr lang="en-US" dirty="0" err="1"/>
              <a:t>Ivasic</a:t>
            </a:r>
            <a:r>
              <a:rPr lang="en-US" dirty="0"/>
              <a:t>-Kos]</a:t>
            </a:r>
          </a:p>
          <a:p>
            <a:pPr marL="457200" lvl="0" indent="-228600" algn="l" rtl="0">
              <a:lnSpc>
                <a:spcPct val="90000"/>
              </a:lnSpc>
              <a:spcBef>
                <a:spcPts val="1000"/>
              </a:spcBef>
              <a:spcAft>
                <a:spcPts val="0"/>
              </a:spcAft>
              <a:buClr>
                <a:srgbClr val="F26E21"/>
              </a:buClr>
              <a:buSzPts val="2000"/>
              <a:buFont typeface="Noto Sans Symbols"/>
              <a:buNone/>
            </a:pPr>
            <a:endParaRPr lang="id-ID"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6" name="Google Shape;286;g370f4e648af_0_72"/>
          <p:cNvSpPr txBox="1">
            <a:spLocks noGrp="1"/>
          </p:cNvSpPr>
          <p:nvPr>
            <p:ph type="title"/>
          </p:nvPr>
        </p:nvSpPr>
        <p:spPr>
          <a:xfrm>
            <a:off x="1652867" y="715182"/>
            <a:ext cx="8886265" cy="101189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Arial"/>
              <a:buNone/>
            </a:pPr>
            <a:r>
              <a:rPr lang="en-US" sz="3200" dirty="0" err="1">
                <a:solidFill>
                  <a:schemeClr val="dk1"/>
                </a:solidFill>
              </a:rPr>
              <a:t>Komponen</a:t>
            </a:r>
            <a:r>
              <a:rPr lang="en-US" sz="3200" dirty="0">
                <a:solidFill>
                  <a:schemeClr val="dk1"/>
                </a:solidFill>
              </a:rPr>
              <a:t> </a:t>
            </a:r>
            <a:r>
              <a:rPr lang="en-US" sz="3200" dirty="0" err="1">
                <a:solidFill>
                  <a:schemeClr val="dk1"/>
                </a:solidFill>
              </a:rPr>
              <a:t>Studi</a:t>
            </a:r>
            <a:r>
              <a:rPr lang="en-US" sz="3200" dirty="0">
                <a:solidFill>
                  <a:schemeClr val="dk1"/>
                </a:solidFill>
              </a:rPr>
              <a:t> </a:t>
            </a:r>
            <a:r>
              <a:rPr lang="en-US" sz="3200" dirty="0" err="1">
                <a:solidFill>
                  <a:schemeClr val="dk1"/>
                </a:solidFill>
              </a:rPr>
              <a:t>Preseden</a:t>
            </a:r>
            <a:r>
              <a:rPr lang="en-US" sz="3200" dirty="0">
                <a:solidFill>
                  <a:schemeClr val="dk1"/>
                </a:solidFill>
              </a:rPr>
              <a:t>/Framework </a:t>
            </a:r>
            <a:r>
              <a:rPr lang="en-US" sz="3200" dirty="0" err="1">
                <a:solidFill>
                  <a:schemeClr val="dk1"/>
                </a:solidFill>
              </a:rPr>
              <a:t>Sistem</a:t>
            </a:r>
            <a:r>
              <a:rPr lang="en-US" sz="3200" dirty="0">
                <a:solidFill>
                  <a:schemeClr val="dk1"/>
                </a:solidFill>
              </a:rPr>
              <a:t> </a:t>
            </a:r>
            <a:r>
              <a:rPr lang="en-US" sz="3200" dirty="0" err="1">
                <a:solidFill>
                  <a:schemeClr val="dk1"/>
                </a:solidFill>
              </a:rPr>
              <a:t>Deteksi</a:t>
            </a:r>
            <a:r>
              <a:rPr lang="en-US" sz="3200" dirty="0">
                <a:solidFill>
                  <a:schemeClr val="dk1"/>
                </a:solidFill>
              </a:rPr>
              <a:t> </a:t>
            </a:r>
            <a:r>
              <a:rPr lang="en-US" sz="3200" dirty="0" err="1">
                <a:solidFill>
                  <a:schemeClr val="dk1"/>
                </a:solidFill>
              </a:rPr>
              <a:t>Pelanggaran</a:t>
            </a:r>
            <a:r>
              <a:rPr lang="en-US" sz="3200" dirty="0">
                <a:solidFill>
                  <a:schemeClr val="dk1"/>
                </a:solidFill>
              </a:rPr>
              <a:t> </a:t>
            </a:r>
            <a:endParaRPr b="1" dirty="0">
              <a:latin typeface="Arial"/>
              <a:ea typeface="Arial"/>
              <a:cs typeface="Arial"/>
              <a:sym typeface="Arial"/>
            </a:endParaRPr>
          </a:p>
        </p:txBody>
      </p:sp>
      <p:pic>
        <p:nvPicPr>
          <p:cNvPr id="5" name="Picture 4">
            <a:extLst>
              <a:ext uri="{FF2B5EF4-FFF2-40B4-BE49-F238E27FC236}">
                <a16:creationId xmlns:a16="http://schemas.microsoft.com/office/drawing/2014/main" id="{494022ED-1DDC-488E-BC9C-DD3BD5F72344}"/>
              </a:ext>
            </a:extLst>
          </p:cNvPr>
          <p:cNvPicPr>
            <a:picLocks noChangeAspect="1"/>
          </p:cNvPicPr>
          <p:nvPr/>
        </p:nvPicPr>
        <p:blipFill>
          <a:blip r:embed="rId3"/>
          <a:stretch>
            <a:fillRect/>
          </a:stretch>
        </p:blipFill>
        <p:spPr>
          <a:xfrm>
            <a:off x="3648505" y="1727073"/>
            <a:ext cx="4894989" cy="460201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370ce3e83ae_0_6"/>
          <p:cNvSpPr txBox="1">
            <a:spLocks noGrp="1"/>
          </p:cNvSpPr>
          <p:nvPr>
            <p:ph type="body" idx="1"/>
          </p:nvPr>
        </p:nvSpPr>
        <p:spPr>
          <a:xfrm>
            <a:off x="838200" y="2428875"/>
            <a:ext cx="4984800" cy="3748200"/>
          </a:xfrm>
          <a:prstGeom prst="rect">
            <a:avLst/>
          </a:prstGeom>
          <a:noFill/>
          <a:ln>
            <a:noFill/>
          </a:ln>
        </p:spPr>
        <p:txBody>
          <a:bodyPr spcFirstLastPara="1" wrap="square" lIns="91425" tIns="45700" rIns="91425" bIns="45700" anchor="t" anchorCtr="0">
            <a:normAutofit/>
          </a:bodyPr>
          <a:lstStyle/>
          <a:p>
            <a:pPr marL="101600" indent="0">
              <a:lnSpc>
                <a:spcPct val="100000"/>
              </a:lnSpc>
              <a:spcBef>
                <a:spcPts val="0"/>
              </a:spcBef>
              <a:buNone/>
            </a:pPr>
            <a:r>
              <a:rPr lang="en-US" i="1" dirty="0"/>
              <a:t>Software</a:t>
            </a:r>
          </a:p>
          <a:p>
            <a:pPr>
              <a:lnSpc>
                <a:spcPct val="100000"/>
              </a:lnSpc>
              <a:spcBef>
                <a:spcPts val="0"/>
              </a:spcBef>
            </a:pPr>
            <a:r>
              <a:rPr lang="en-US" dirty="0"/>
              <a:t>Python</a:t>
            </a:r>
          </a:p>
          <a:p>
            <a:pPr>
              <a:lnSpc>
                <a:spcPct val="100000"/>
              </a:lnSpc>
              <a:spcBef>
                <a:spcPts val="0"/>
              </a:spcBef>
            </a:pPr>
            <a:r>
              <a:rPr lang="en-US" dirty="0" err="1"/>
              <a:t>Roboflow</a:t>
            </a:r>
            <a:endParaRPr lang="en-US" dirty="0"/>
          </a:p>
          <a:p>
            <a:pPr>
              <a:lnSpc>
                <a:spcPct val="100000"/>
              </a:lnSpc>
              <a:spcBef>
                <a:spcPts val="0"/>
              </a:spcBef>
            </a:pPr>
            <a:r>
              <a:rPr lang="en-US" dirty="0" err="1"/>
              <a:t>Ultralytics</a:t>
            </a:r>
            <a:r>
              <a:rPr lang="en-US" dirty="0"/>
              <a:t> YOLO</a:t>
            </a:r>
          </a:p>
          <a:p>
            <a:pPr>
              <a:lnSpc>
                <a:spcPct val="100000"/>
              </a:lnSpc>
              <a:spcBef>
                <a:spcPts val="0"/>
              </a:spcBef>
            </a:pPr>
            <a:r>
              <a:rPr lang="en-US" dirty="0"/>
              <a:t>OpenCV</a:t>
            </a:r>
          </a:p>
          <a:p>
            <a:pPr>
              <a:lnSpc>
                <a:spcPct val="100000"/>
              </a:lnSpc>
              <a:spcBef>
                <a:spcPts val="0"/>
              </a:spcBef>
            </a:pPr>
            <a:r>
              <a:rPr lang="en-US" dirty="0" err="1"/>
              <a:t>Hailo</a:t>
            </a:r>
            <a:r>
              <a:rPr lang="en-US" dirty="0"/>
              <a:t> </a:t>
            </a:r>
            <a:r>
              <a:rPr lang="en-US" i="1" dirty="0"/>
              <a:t>Dataflow</a:t>
            </a:r>
            <a:r>
              <a:rPr lang="en-US" dirty="0"/>
              <a:t> </a:t>
            </a:r>
            <a:r>
              <a:rPr lang="en-US" i="1" dirty="0"/>
              <a:t>Compiler</a:t>
            </a:r>
            <a:r>
              <a:rPr lang="en-US" dirty="0"/>
              <a:t>/</a:t>
            </a:r>
            <a:r>
              <a:rPr lang="en-US" dirty="0" err="1"/>
              <a:t>HailoRT</a:t>
            </a:r>
            <a:endParaRPr lang="en-US" dirty="0"/>
          </a:p>
          <a:p>
            <a:pPr>
              <a:lnSpc>
                <a:spcPct val="100000"/>
              </a:lnSpc>
              <a:spcBef>
                <a:spcPts val="0"/>
              </a:spcBef>
            </a:pPr>
            <a:r>
              <a:rPr lang="en-US" dirty="0"/>
              <a:t>VLC </a:t>
            </a:r>
            <a:r>
              <a:rPr lang="en-US" i="1" dirty="0"/>
              <a:t>Media</a:t>
            </a:r>
            <a:r>
              <a:rPr lang="en-US" dirty="0"/>
              <a:t> </a:t>
            </a:r>
            <a:r>
              <a:rPr lang="en-US" i="1" dirty="0"/>
              <a:t>Player</a:t>
            </a:r>
            <a:endParaRPr lang="id-ID" i="1" dirty="0"/>
          </a:p>
          <a:p>
            <a:pPr marL="101600" lvl="0" indent="0" algn="l" rtl="0">
              <a:lnSpc>
                <a:spcPct val="100000"/>
              </a:lnSpc>
              <a:spcBef>
                <a:spcPts val="0"/>
              </a:spcBef>
              <a:spcAft>
                <a:spcPts val="0"/>
              </a:spcAft>
              <a:buSzPts val="2000"/>
              <a:buNone/>
            </a:pPr>
            <a:endParaRPr lang="en-US" dirty="0"/>
          </a:p>
        </p:txBody>
      </p:sp>
      <p:sp>
        <p:nvSpPr>
          <p:cNvPr id="222" name="Google Shape;222;g370ce3e83ae_0_6"/>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i="1" dirty="0">
                <a:solidFill>
                  <a:schemeClr val="dk1"/>
                </a:solidFill>
              </a:rPr>
              <a:t>Software</a:t>
            </a:r>
            <a:r>
              <a:rPr lang="en-US" sz="3600" dirty="0">
                <a:solidFill>
                  <a:schemeClr val="dk1"/>
                </a:solidFill>
              </a:rPr>
              <a:t> dan </a:t>
            </a:r>
            <a:r>
              <a:rPr lang="en-US" sz="3600" i="1" dirty="0">
                <a:solidFill>
                  <a:schemeClr val="dk1"/>
                </a:solidFill>
              </a:rPr>
              <a:t>Hardware</a:t>
            </a:r>
            <a:endParaRPr b="1" i="1" dirty="0">
              <a:latin typeface="Arial"/>
              <a:ea typeface="Arial"/>
              <a:cs typeface="Arial"/>
              <a:sym typeface="Arial"/>
            </a:endParaRPr>
          </a:p>
        </p:txBody>
      </p:sp>
      <p:sp>
        <p:nvSpPr>
          <p:cNvPr id="223" name="Google Shape;223;g370ce3e83ae_0_6"/>
          <p:cNvSpPr txBox="1">
            <a:spLocks noGrp="1"/>
          </p:cNvSpPr>
          <p:nvPr>
            <p:ph type="body" idx="1"/>
          </p:nvPr>
        </p:nvSpPr>
        <p:spPr>
          <a:xfrm>
            <a:off x="6369050" y="2428875"/>
            <a:ext cx="4984800" cy="3748200"/>
          </a:xfrm>
          <a:prstGeom prst="rect">
            <a:avLst/>
          </a:prstGeom>
          <a:noFill/>
          <a:ln>
            <a:noFill/>
          </a:ln>
        </p:spPr>
        <p:txBody>
          <a:bodyPr spcFirstLastPara="1" wrap="square" lIns="91425" tIns="45700" rIns="91425" bIns="45700" anchor="t" anchorCtr="0">
            <a:normAutofit/>
          </a:bodyPr>
          <a:lstStyle/>
          <a:p>
            <a:pPr marL="101600" indent="0">
              <a:spcBef>
                <a:spcPts val="0"/>
              </a:spcBef>
              <a:buNone/>
            </a:pPr>
            <a:r>
              <a:rPr lang="en-US" i="1" dirty="0"/>
              <a:t>Hardware</a:t>
            </a:r>
          </a:p>
          <a:p>
            <a:pPr>
              <a:spcBef>
                <a:spcPts val="0"/>
              </a:spcBef>
            </a:pPr>
            <a:r>
              <a:rPr lang="en-US" dirty="0"/>
              <a:t>Raspberry Pi 5</a:t>
            </a:r>
          </a:p>
          <a:p>
            <a:pPr>
              <a:spcBef>
                <a:spcPts val="0"/>
              </a:spcBef>
            </a:pPr>
            <a:r>
              <a:rPr lang="en-US" dirty="0"/>
              <a:t>Hailo-8L </a:t>
            </a:r>
            <a:r>
              <a:rPr lang="en-US" i="1" dirty="0"/>
              <a:t>Accelerator</a:t>
            </a:r>
          </a:p>
          <a:p>
            <a:pPr>
              <a:spcBef>
                <a:spcPts val="0"/>
              </a:spcBef>
            </a:pPr>
            <a:r>
              <a:rPr lang="en-US" dirty="0"/>
              <a:t>Webcam Logitech C922 Pro Stream</a:t>
            </a:r>
          </a:p>
          <a:p>
            <a:pPr>
              <a:spcBef>
                <a:spcPts val="0"/>
              </a:spcBef>
            </a:pPr>
            <a:r>
              <a:rPr lang="en-US" dirty="0"/>
              <a:t>Laptop Axioo RTX 4060</a:t>
            </a:r>
          </a:p>
          <a:p>
            <a:pPr>
              <a:spcBef>
                <a:spcPts val="0"/>
              </a:spcBef>
            </a:pPr>
            <a:r>
              <a:rPr lang="en-US" dirty="0" err="1"/>
              <a:t>Meja</a:t>
            </a:r>
            <a:r>
              <a:rPr lang="en-US" dirty="0"/>
              <a:t> </a:t>
            </a:r>
            <a:r>
              <a:rPr lang="en-US" dirty="0" err="1"/>
              <a:t>Biliar</a:t>
            </a:r>
            <a:r>
              <a:rPr lang="en-US" dirty="0"/>
              <a:t> </a:t>
            </a:r>
            <a:r>
              <a:rPr lang="en-US" dirty="0" err="1"/>
              <a:t>Mainan</a:t>
            </a:r>
            <a:endParaRPr lang="en-US" dirty="0"/>
          </a:p>
          <a:p>
            <a:pPr>
              <a:spcBef>
                <a:spcPts val="0"/>
              </a:spcBef>
            </a:pPr>
            <a:r>
              <a:rPr lang="en-US" dirty="0"/>
              <a:t>Tripod/Holder </a:t>
            </a:r>
            <a:r>
              <a:rPr lang="en-US" dirty="0" err="1"/>
              <a:t>Kamera</a:t>
            </a:r>
            <a:endParaRPr lang="id-ID" dirty="0"/>
          </a:p>
        </p:txBody>
      </p:sp>
    </p:spTree>
    <p:extLst>
      <p:ext uri="{BB962C8B-B14F-4D97-AF65-F5344CB8AC3E}">
        <p14:creationId xmlns:p14="http://schemas.microsoft.com/office/powerpoint/2010/main" val="2402813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3711bd63d4f_0_78"/>
          <p:cNvSpPr txBox="1">
            <a:spLocks noGrp="1"/>
          </p:cNvSpPr>
          <p:nvPr>
            <p:ph type="title"/>
          </p:nvPr>
        </p:nvSpPr>
        <p:spPr>
          <a:xfrm>
            <a:off x="838200" y="336143"/>
            <a:ext cx="10515600" cy="7683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dirty="0" err="1">
                <a:solidFill>
                  <a:schemeClr val="dk1"/>
                </a:solidFill>
              </a:rPr>
              <a:t>Contoh</a:t>
            </a:r>
            <a:r>
              <a:rPr lang="en-US" sz="3600" dirty="0">
                <a:solidFill>
                  <a:schemeClr val="dk1"/>
                </a:solidFill>
              </a:rPr>
              <a:t> Dataset</a:t>
            </a:r>
            <a:endParaRPr dirty="0"/>
          </a:p>
        </p:txBody>
      </p:sp>
      <p:pic>
        <p:nvPicPr>
          <p:cNvPr id="5" name="Picture 4">
            <a:extLst>
              <a:ext uri="{FF2B5EF4-FFF2-40B4-BE49-F238E27FC236}">
                <a16:creationId xmlns:a16="http://schemas.microsoft.com/office/drawing/2014/main" id="{0750A45B-D183-49EC-870B-161BBB365233}"/>
              </a:ext>
            </a:extLst>
          </p:cNvPr>
          <p:cNvPicPr>
            <a:picLocks noChangeAspect="1"/>
          </p:cNvPicPr>
          <p:nvPr/>
        </p:nvPicPr>
        <p:blipFill>
          <a:blip r:embed="rId3"/>
          <a:stretch>
            <a:fillRect/>
          </a:stretch>
        </p:blipFill>
        <p:spPr>
          <a:xfrm>
            <a:off x="1663700" y="1525818"/>
            <a:ext cx="3383434" cy="1903182"/>
          </a:xfrm>
          <a:prstGeom prst="rect">
            <a:avLst/>
          </a:prstGeom>
        </p:spPr>
      </p:pic>
      <p:pic>
        <p:nvPicPr>
          <p:cNvPr id="9" name="Picture 8">
            <a:extLst>
              <a:ext uri="{FF2B5EF4-FFF2-40B4-BE49-F238E27FC236}">
                <a16:creationId xmlns:a16="http://schemas.microsoft.com/office/drawing/2014/main" id="{96EC736C-937A-474C-91FE-D96C1C8D8873}"/>
              </a:ext>
            </a:extLst>
          </p:cNvPr>
          <p:cNvPicPr>
            <a:picLocks noChangeAspect="1"/>
          </p:cNvPicPr>
          <p:nvPr/>
        </p:nvPicPr>
        <p:blipFill>
          <a:blip r:embed="rId4"/>
          <a:stretch>
            <a:fillRect/>
          </a:stretch>
        </p:blipFill>
        <p:spPr>
          <a:xfrm>
            <a:off x="6347758" y="1525818"/>
            <a:ext cx="3394635" cy="1909482"/>
          </a:xfrm>
          <a:prstGeom prst="rect">
            <a:avLst/>
          </a:prstGeom>
        </p:spPr>
      </p:pic>
      <p:pic>
        <p:nvPicPr>
          <p:cNvPr id="11" name="Picture 10">
            <a:extLst>
              <a:ext uri="{FF2B5EF4-FFF2-40B4-BE49-F238E27FC236}">
                <a16:creationId xmlns:a16="http://schemas.microsoft.com/office/drawing/2014/main" id="{FBD61E32-DC86-4546-B913-BBDC455BC85C}"/>
              </a:ext>
            </a:extLst>
          </p:cNvPr>
          <p:cNvPicPr>
            <a:picLocks noChangeAspect="1"/>
          </p:cNvPicPr>
          <p:nvPr/>
        </p:nvPicPr>
        <p:blipFill>
          <a:blip r:embed="rId5"/>
          <a:stretch>
            <a:fillRect/>
          </a:stretch>
        </p:blipFill>
        <p:spPr>
          <a:xfrm>
            <a:off x="1663700" y="3976449"/>
            <a:ext cx="3383434" cy="1903182"/>
          </a:xfrm>
          <a:prstGeom prst="rect">
            <a:avLst/>
          </a:prstGeom>
        </p:spPr>
      </p:pic>
      <p:pic>
        <p:nvPicPr>
          <p:cNvPr id="13" name="Picture 12">
            <a:extLst>
              <a:ext uri="{FF2B5EF4-FFF2-40B4-BE49-F238E27FC236}">
                <a16:creationId xmlns:a16="http://schemas.microsoft.com/office/drawing/2014/main" id="{4DFE57B6-623E-4A70-888C-07047161B909}"/>
              </a:ext>
            </a:extLst>
          </p:cNvPr>
          <p:cNvPicPr>
            <a:picLocks noChangeAspect="1"/>
          </p:cNvPicPr>
          <p:nvPr/>
        </p:nvPicPr>
        <p:blipFill>
          <a:blip r:embed="rId6"/>
          <a:stretch>
            <a:fillRect/>
          </a:stretch>
        </p:blipFill>
        <p:spPr>
          <a:xfrm>
            <a:off x="6393376" y="3948953"/>
            <a:ext cx="3432316" cy="1930678"/>
          </a:xfrm>
          <a:prstGeom prst="rect">
            <a:avLst/>
          </a:prstGeom>
        </p:spPr>
      </p:pic>
      <p:sp>
        <p:nvSpPr>
          <p:cNvPr id="14" name="TextBox 13">
            <a:extLst>
              <a:ext uri="{FF2B5EF4-FFF2-40B4-BE49-F238E27FC236}">
                <a16:creationId xmlns:a16="http://schemas.microsoft.com/office/drawing/2014/main" id="{68472F2E-40F1-432A-BF69-AB1A5A6E4AF1}"/>
              </a:ext>
            </a:extLst>
          </p:cNvPr>
          <p:cNvSpPr txBox="1"/>
          <p:nvPr/>
        </p:nvSpPr>
        <p:spPr>
          <a:xfrm>
            <a:off x="6253257" y="1161242"/>
            <a:ext cx="3572435" cy="307777"/>
          </a:xfrm>
          <a:prstGeom prst="rect">
            <a:avLst/>
          </a:prstGeom>
          <a:noFill/>
        </p:spPr>
        <p:txBody>
          <a:bodyPr wrap="square" rtlCol="0">
            <a:spAutoFit/>
          </a:bodyPr>
          <a:lstStyle/>
          <a:p>
            <a:r>
              <a:rPr lang="en-US" dirty="0"/>
              <a:t>2. </a:t>
            </a:r>
            <a:r>
              <a:rPr lang="en-US" dirty="0" err="1"/>
              <a:t>Pertandingan</a:t>
            </a:r>
            <a:r>
              <a:rPr lang="en-US" dirty="0"/>
              <a:t> </a:t>
            </a:r>
            <a:r>
              <a:rPr lang="en-US" dirty="0" err="1"/>
              <a:t>Biliar</a:t>
            </a:r>
            <a:r>
              <a:rPr lang="en-US" dirty="0"/>
              <a:t> </a:t>
            </a:r>
            <a:r>
              <a:rPr lang="en-US" i="1" dirty="0"/>
              <a:t>View </a:t>
            </a:r>
            <a:r>
              <a:rPr lang="en-US" i="1" dirty="0" err="1"/>
              <a:t>Alternatif</a:t>
            </a:r>
            <a:endParaRPr lang="id-ID" dirty="0"/>
          </a:p>
        </p:txBody>
      </p:sp>
      <p:sp>
        <p:nvSpPr>
          <p:cNvPr id="28" name="TextBox 27">
            <a:extLst>
              <a:ext uri="{FF2B5EF4-FFF2-40B4-BE49-F238E27FC236}">
                <a16:creationId xmlns:a16="http://schemas.microsoft.com/office/drawing/2014/main" id="{07C4A70A-6E73-4B1C-B776-E9DB2C312ED8}"/>
              </a:ext>
            </a:extLst>
          </p:cNvPr>
          <p:cNvSpPr txBox="1"/>
          <p:nvPr/>
        </p:nvSpPr>
        <p:spPr>
          <a:xfrm>
            <a:off x="1569199" y="1161242"/>
            <a:ext cx="3572435" cy="307777"/>
          </a:xfrm>
          <a:prstGeom prst="rect">
            <a:avLst/>
          </a:prstGeom>
          <a:noFill/>
        </p:spPr>
        <p:txBody>
          <a:bodyPr wrap="square" rtlCol="0">
            <a:spAutoFit/>
          </a:bodyPr>
          <a:lstStyle/>
          <a:p>
            <a:r>
              <a:rPr lang="en-US" dirty="0"/>
              <a:t>1. </a:t>
            </a:r>
            <a:r>
              <a:rPr lang="en-US" dirty="0" err="1"/>
              <a:t>Pertandingan</a:t>
            </a:r>
            <a:r>
              <a:rPr lang="en-US" dirty="0"/>
              <a:t> </a:t>
            </a:r>
            <a:r>
              <a:rPr lang="en-US" dirty="0" err="1"/>
              <a:t>Biliar</a:t>
            </a:r>
            <a:r>
              <a:rPr lang="en-US" dirty="0"/>
              <a:t> </a:t>
            </a:r>
            <a:r>
              <a:rPr lang="en-US" i="1" dirty="0"/>
              <a:t>Top-Down</a:t>
            </a:r>
            <a:r>
              <a:rPr lang="en-US" dirty="0"/>
              <a:t> </a:t>
            </a:r>
            <a:r>
              <a:rPr lang="en-US" i="1" dirty="0"/>
              <a:t>View</a:t>
            </a:r>
            <a:endParaRPr lang="id-ID" i="1" dirty="0"/>
          </a:p>
        </p:txBody>
      </p:sp>
      <p:sp>
        <p:nvSpPr>
          <p:cNvPr id="29" name="TextBox 28">
            <a:extLst>
              <a:ext uri="{FF2B5EF4-FFF2-40B4-BE49-F238E27FC236}">
                <a16:creationId xmlns:a16="http://schemas.microsoft.com/office/drawing/2014/main" id="{8D10A283-A73F-48DE-B220-0B6A9E78C6B2}"/>
              </a:ext>
            </a:extLst>
          </p:cNvPr>
          <p:cNvSpPr txBox="1"/>
          <p:nvPr/>
        </p:nvSpPr>
        <p:spPr>
          <a:xfrm>
            <a:off x="6347758" y="3584377"/>
            <a:ext cx="3572435" cy="307777"/>
          </a:xfrm>
          <a:prstGeom prst="rect">
            <a:avLst/>
          </a:prstGeom>
          <a:noFill/>
        </p:spPr>
        <p:txBody>
          <a:bodyPr wrap="square" rtlCol="0">
            <a:spAutoFit/>
          </a:bodyPr>
          <a:lstStyle/>
          <a:p>
            <a:r>
              <a:rPr lang="en-US" dirty="0"/>
              <a:t>4. </a:t>
            </a:r>
            <a:r>
              <a:rPr lang="en-US" dirty="0" err="1"/>
              <a:t>Meja</a:t>
            </a:r>
            <a:r>
              <a:rPr lang="en-US" dirty="0"/>
              <a:t> </a:t>
            </a:r>
            <a:r>
              <a:rPr lang="en-US" dirty="0" err="1"/>
              <a:t>Biliar</a:t>
            </a:r>
            <a:r>
              <a:rPr lang="en-US" dirty="0"/>
              <a:t> </a:t>
            </a:r>
            <a:r>
              <a:rPr lang="en-US" dirty="0" err="1"/>
              <a:t>Mainan</a:t>
            </a:r>
            <a:r>
              <a:rPr lang="en-US" dirty="0"/>
              <a:t> </a:t>
            </a:r>
            <a:r>
              <a:rPr lang="en-US" i="1" dirty="0"/>
              <a:t>Lighting</a:t>
            </a:r>
            <a:r>
              <a:rPr lang="en-US" dirty="0"/>
              <a:t> </a:t>
            </a:r>
            <a:r>
              <a:rPr lang="en-US" dirty="0" err="1"/>
              <a:t>Alternatif</a:t>
            </a:r>
            <a:endParaRPr lang="id-ID" dirty="0"/>
          </a:p>
        </p:txBody>
      </p:sp>
      <p:sp>
        <p:nvSpPr>
          <p:cNvPr id="30" name="TextBox 29">
            <a:extLst>
              <a:ext uri="{FF2B5EF4-FFF2-40B4-BE49-F238E27FC236}">
                <a16:creationId xmlns:a16="http://schemas.microsoft.com/office/drawing/2014/main" id="{CEA76A2E-26B5-4393-9C0F-4B537B690E10}"/>
              </a:ext>
            </a:extLst>
          </p:cNvPr>
          <p:cNvSpPr txBox="1"/>
          <p:nvPr/>
        </p:nvSpPr>
        <p:spPr>
          <a:xfrm>
            <a:off x="1569199" y="3556315"/>
            <a:ext cx="3572435" cy="307777"/>
          </a:xfrm>
          <a:prstGeom prst="rect">
            <a:avLst/>
          </a:prstGeom>
          <a:noFill/>
        </p:spPr>
        <p:txBody>
          <a:bodyPr wrap="square" rtlCol="0">
            <a:spAutoFit/>
          </a:bodyPr>
          <a:lstStyle/>
          <a:p>
            <a:r>
              <a:rPr lang="en-US" dirty="0"/>
              <a:t>3. </a:t>
            </a:r>
            <a:r>
              <a:rPr lang="en-US" dirty="0" err="1"/>
              <a:t>Meja</a:t>
            </a:r>
            <a:r>
              <a:rPr lang="en-US" dirty="0"/>
              <a:t> </a:t>
            </a:r>
            <a:r>
              <a:rPr lang="en-US" dirty="0" err="1"/>
              <a:t>Biliar</a:t>
            </a:r>
            <a:r>
              <a:rPr lang="en-US" dirty="0"/>
              <a:t> </a:t>
            </a:r>
            <a:r>
              <a:rPr lang="en-US" dirty="0" err="1"/>
              <a:t>Mainan</a:t>
            </a:r>
            <a:endParaRPr lang="id-ID" dirty="0"/>
          </a:p>
        </p:txBody>
      </p:sp>
      <p:sp>
        <p:nvSpPr>
          <p:cNvPr id="31" name="TextBox 30">
            <a:extLst>
              <a:ext uri="{FF2B5EF4-FFF2-40B4-BE49-F238E27FC236}">
                <a16:creationId xmlns:a16="http://schemas.microsoft.com/office/drawing/2014/main" id="{1F77EC60-D49B-4FD1-9523-E9E9829BFE23}"/>
              </a:ext>
            </a:extLst>
          </p:cNvPr>
          <p:cNvSpPr txBox="1"/>
          <p:nvPr/>
        </p:nvSpPr>
        <p:spPr>
          <a:xfrm>
            <a:off x="1577608" y="6142817"/>
            <a:ext cx="3572435" cy="307777"/>
          </a:xfrm>
          <a:prstGeom prst="rect">
            <a:avLst/>
          </a:prstGeom>
          <a:noFill/>
        </p:spPr>
        <p:txBody>
          <a:bodyPr wrap="square" rtlCol="0">
            <a:spAutoFit/>
          </a:bodyPr>
          <a:lstStyle/>
          <a:p>
            <a:r>
              <a:rPr lang="en-US" dirty="0"/>
              <a:t>Total Gambar: 1.201 Gambar</a:t>
            </a:r>
            <a:endParaRPr lang="id-ID" i="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370ce3e83ae_0_6"/>
          <p:cNvSpPr txBox="1">
            <a:spLocks noGrp="1"/>
          </p:cNvSpPr>
          <p:nvPr>
            <p:ph type="body" idx="1"/>
          </p:nvPr>
        </p:nvSpPr>
        <p:spPr>
          <a:xfrm>
            <a:off x="838200" y="2428875"/>
            <a:ext cx="4984800" cy="3748200"/>
          </a:xfrm>
          <a:prstGeom prst="rect">
            <a:avLst/>
          </a:prstGeom>
          <a:noFill/>
          <a:ln>
            <a:noFill/>
          </a:ln>
        </p:spPr>
        <p:txBody>
          <a:bodyPr spcFirstLastPara="1" wrap="square" lIns="91425" tIns="45700" rIns="91425" bIns="45700" anchor="t" anchorCtr="0">
            <a:normAutofit/>
          </a:bodyPr>
          <a:lstStyle/>
          <a:p>
            <a:pPr marL="558800" lvl="0" indent="-457200" algn="l" rtl="0">
              <a:lnSpc>
                <a:spcPct val="150000"/>
              </a:lnSpc>
              <a:spcBef>
                <a:spcPts val="0"/>
              </a:spcBef>
              <a:spcAft>
                <a:spcPts val="0"/>
              </a:spcAft>
              <a:buSzPts val="2000"/>
              <a:buFont typeface="+mj-lt"/>
              <a:buAutoNum type="arabicPeriod"/>
            </a:pPr>
            <a:r>
              <a:rPr lang="en-US" dirty="0"/>
              <a:t>Horizontal Flip  </a:t>
            </a:r>
          </a:p>
          <a:p>
            <a:pPr marL="558800" lvl="0" indent="-457200" algn="l" rtl="0">
              <a:lnSpc>
                <a:spcPct val="150000"/>
              </a:lnSpc>
              <a:spcBef>
                <a:spcPts val="0"/>
              </a:spcBef>
              <a:spcAft>
                <a:spcPts val="0"/>
              </a:spcAft>
              <a:buSzPts val="2000"/>
              <a:buFont typeface="+mj-lt"/>
              <a:buAutoNum type="arabicPeriod"/>
            </a:pPr>
            <a:r>
              <a:rPr lang="en-US" dirty="0" err="1"/>
              <a:t>ShiftScaleRotate</a:t>
            </a:r>
            <a:r>
              <a:rPr lang="en-US" dirty="0"/>
              <a:t>  </a:t>
            </a:r>
          </a:p>
          <a:p>
            <a:pPr marL="558800" lvl="0" indent="-457200" algn="l" rtl="0">
              <a:lnSpc>
                <a:spcPct val="150000"/>
              </a:lnSpc>
              <a:spcBef>
                <a:spcPts val="0"/>
              </a:spcBef>
              <a:spcAft>
                <a:spcPts val="0"/>
              </a:spcAft>
              <a:buSzPts val="2000"/>
              <a:buFont typeface="+mj-lt"/>
              <a:buAutoNum type="arabicPeriod"/>
            </a:pPr>
            <a:r>
              <a:rPr lang="en-US" dirty="0"/>
              <a:t>Random scale  </a:t>
            </a:r>
          </a:p>
          <a:p>
            <a:pPr marL="558800" lvl="0" indent="-457200" algn="l" rtl="0">
              <a:lnSpc>
                <a:spcPct val="150000"/>
              </a:lnSpc>
              <a:spcBef>
                <a:spcPts val="0"/>
              </a:spcBef>
              <a:spcAft>
                <a:spcPts val="0"/>
              </a:spcAft>
              <a:buSzPts val="2000"/>
              <a:buFont typeface="+mj-lt"/>
              <a:buAutoNum type="arabicPeriod"/>
            </a:pPr>
            <a:r>
              <a:rPr lang="en-US" dirty="0"/>
              <a:t>Perspective  </a:t>
            </a:r>
          </a:p>
          <a:p>
            <a:pPr marL="558800" lvl="0" indent="-457200" algn="l" rtl="0">
              <a:lnSpc>
                <a:spcPct val="150000"/>
              </a:lnSpc>
              <a:spcBef>
                <a:spcPts val="0"/>
              </a:spcBef>
              <a:spcAft>
                <a:spcPts val="0"/>
              </a:spcAft>
              <a:buSzPts val="2000"/>
              <a:buFont typeface="+mj-lt"/>
              <a:buAutoNum type="arabicPeriod"/>
            </a:pPr>
            <a:r>
              <a:rPr lang="en-US" dirty="0"/>
              <a:t>Motion Blur  </a:t>
            </a:r>
          </a:p>
        </p:txBody>
      </p:sp>
      <p:sp>
        <p:nvSpPr>
          <p:cNvPr id="222" name="Google Shape;222;g370ce3e83ae_0_6"/>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dirty="0" err="1">
                <a:solidFill>
                  <a:schemeClr val="dk1"/>
                </a:solidFill>
              </a:rPr>
              <a:t>Augmentasi</a:t>
            </a:r>
            <a:r>
              <a:rPr lang="en-US" sz="3600" dirty="0">
                <a:solidFill>
                  <a:schemeClr val="dk1"/>
                </a:solidFill>
              </a:rPr>
              <a:t> Data</a:t>
            </a:r>
            <a:endParaRPr b="1" dirty="0">
              <a:latin typeface="Arial"/>
              <a:ea typeface="Arial"/>
              <a:cs typeface="Arial"/>
              <a:sym typeface="Arial"/>
            </a:endParaRPr>
          </a:p>
        </p:txBody>
      </p:sp>
      <p:sp>
        <p:nvSpPr>
          <p:cNvPr id="223" name="Google Shape;223;g370ce3e83ae_0_6"/>
          <p:cNvSpPr txBox="1">
            <a:spLocks noGrp="1"/>
          </p:cNvSpPr>
          <p:nvPr>
            <p:ph type="body" idx="1"/>
          </p:nvPr>
        </p:nvSpPr>
        <p:spPr>
          <a:xfrm>
            <a:off x="6369050" y="2428875"/>
            <a:ext cx="4984800" cy="3748200"/>
          </a:xfrm>
          <a:prstGeom prst="rect">
            <a:avLst/>
          </a:prstGeom>
          <a:noFill/>
          <a:ln>
            <a:noFill/>
          </a:ln>
        </p:spPr>
        <p:txBody>
          <a:bodyPr spcFirstLastPara="1" wrap="square" lIns="91425" tIns="45700" rIns="91425" bIns="45700" anchor="t" anchorCtr="0">
            <a:normAutofit/>
          </a:bodyPr>
          <a:lstStyle/>
          <a:p>
            <a:pPr marL="558800" lvl="0" indent="-457200" algn="l" rtl="0">
              <a:lnSpc>
                <a:spcPct val="150000"/>
              </a:lnSpc>
              <a:spcBef>
                <a:spcPts val="0"/>
              </a:spcBef>
              <a:spcAft>
                <a:spcPts val="0"/>
              </a:spcAft>
              <a:buSzPts val="2000"/>
              <a:buFont typeface="+mj-lt"/>
              <a:buAutoNum type="arabicPeriod" startAt="6"/>
            </a:pPr>
            <a:r>
              <a:rPr lang="en-US" dirty="0"/>
              <a:t>Gaussian Blur  </a:t>
            </a:r>
          </a:p>
          <a:p>
            <a:pPr marL="558800" lvl="0" indent="-457200" algn="l" rtl="0">
              <a:lnSpc>
                <a:spcPct val="150000"/>
              </a:lnSpc>
              <a:spcBef>
                <a:spcPts val="0"/>
              </a:spcBef>
              <a:spcAft>
                <a:spcPts val="0"/>
              </a:spcAft>
              <a:buSzPts val="2000"/>
              <a:buFont typeface="+mj-lt"/>
              <a:buAutoNum type="arabicPeriod" startAt="6"/>
            </a:pPr>
            <a:r>
              <a:rPr lang="en-US" dirty="0"/>
              <a:t>CLAHE  </a:t>
            </a:r>
          </a:p>
          <a:p>
            <a:pPr marL="558800" lvl="0" indent="-457200" algn="l" rtl="0">
              <a:lnSpc>
                <a:spcPct val="150000"/>
              </a:lnSpc>
              <a:spcBef>
                <a:spcPts val="0"/>
              </a:spcBef>
              <a:spcAft>
                <a:spcPts val="0"/>
              </a:spcAft>
              <a:buSzPts val="2000"/>
              <a:buFont typeface="+mj-lt"/>
              <a:buAutoNum type="arabicPeriod" startAt="6"/>
            </a:pPr>
            <a:r>
              <a:rPr lang="en-US" dirty="0"/>
              <a:t>Random Shadow  </a:t>
            </a:r>
          </a:p>
          <a:p>
            <a:pPr marL="558800" lvl="0" indent="-457200" algn="l" rtl="0">
              <a:lnSpc>
                <a:spcPct val="150000"/>
              </a:lnSpc>
              <a:spcBef>
                <a:spcPts val="0"/>
              </a:spcBef>
              <a:spcAft>
                <a:spcPts val="0"/>
              </a:spcAft>
              <a:buSzPts val="2000"/>
              <a:buFont typeface="+mj-lt"/>
              <a:buAutoNum type="arabicPeriod" startAt="6"/>
            </a:pPr>
            <a:r>
              <a:rPr lang="en-US" dirty="0"/>
              <a:t>Image Compression  </a:t>
            </a:r>
          </a:p>
          <a:p>
            <a:pPr marL="558800" lvl="0" indent="-457200" algn="l" rtl="0">
              <a:lnSpc>
                <a:spcPct val="150000"/>
              </a:lnSpc>
              <a:spcBef>
                <a:spcPts val="0"/>
              </a:spcBef>
              <a:spcAft>
                <a:spcPts val="0"/>
              </a:spcAft>
              <a:buSzPts val="2000"/>
              <a:buFont typeface="+mj-lt"/>
              <a:buAutoNum type="arabicPeriod" startAt="6"/>
            </a:pPr>
            <a:r>
              <a:rPr lang="en-US" dirty="0"/>
              <a:t>Gauss Noise</a:t>
            </a:r>
          </a:p>
        </p:txBody>
      </p:sp>
    </p:spTree>
    <p:extLst>
      <p:ext uri="{BB962C8B-B14F-4D97-AF65-F5344CB8AC3E}">
        <p14:creationId xmlns:p14="http://schemas.microsoft.com/office/powerpoint/2010/main" val="1497985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9" name="Rectangle 8">
            <a:extLst>
              <a:ext uri="{FF2B5EF4-FFF2-40B4-BE49-F238E27FC236}">
                <a16:creationId xmlns:a16="http://schemas.microsoft.com/office/drawing/2014/main" id="{F6B27167-4836-4213-9621-E087162ED557}"/>
              </a:ext>
            </a:extLst>
          </p:cNvPr>
          <p:cNvSpPr/>
          <p:nvPr/>
        </p:nvSpPr>
        <p:spPr>
          <a:xfrm>
            <a:off x="5735978" y="1107440"/>
            <a:ext cx="1066800" cy="4643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5" name="Google Shape;475;p6"/>
          <p:cNvSpPr txBox="1">
            <a:spLocks noGrp="1"/>
          </p:cNvSpPr>
          <p:nvPr>
            <p:ph type="title"/>
          </p:nvPr>
        </p:nvSpPr>
        <p:spPr>
          <a:xfrm>
            <a:off x="2449001" y="140540"/>
            <a:ext cx="5558400" cy="9669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4400"/>
              <a:buFont typeface="Arial"/>
              <a:buNone/>
            </a:pPr>
            <a:r>
              <a:rPr lang="en-US" sz="4800" dirty="0">
                <a:solidFill>
                  <a:schemeClr val="dk1"/>
                </a:solidFill>
              </a:rPr>
              <a:t>Kelas/Label</a:t>
            </a:r>
            <a:endParaRPr dirty="0">
              <a:solidFill>
                <a:schemeClr val="dk1"/>
              </a:solidFill>
            </a:endParaRPr>
          </a:p>
        </p:txBody>
      </p:sp>
      <p:pic>
        <p:nvPicPr>
          <p:cNvPr id="476" name="Google Shape;476;p6" descr="A close up of a ceiling&#10;&#10;Description automatically generated"/>
          <p:cNvPicPr preferRelativeResize="0">
            <a:picLocks noGrp="1"/>
          </p:cNvPicPr>
          <p:nvPr>
            <p:ph type="body" idx="1"/>
          </p:nvPr>
        </p:nvPicPr>
        <p:blipFill rotWithShape="1">
          <a:blip r:embed="rId3">
            <a:alphaModFix/>
          </a:blip>
          <a:srcRect l="43838" r="32193"/>
          <a:stretch/>
        </p:blipFill>
        <p:spPr>
          <a:xfrm>
            <a:off x="0" y="0"/>
            <a:ext cx="2170112" cy="6400800"/>
          </a:xfrm>
          <a:prstGeom prst="rect">
            <a:avLst/>
          </a:prstGeom>
          <a:noFill/>
          <a:ln>
            <a:noFill/>
          </a:ln>
        </p:spPr>
      </p:pic>
      <p:graphicFrame>
        <p:nvGraphicFramePr>
          <p:cNvPr id="4" name="Table 4">
            <a:extLst>
              <a:ext uri="{FF2B5EF4-FFF2-40B4-BE49-F238E27FC236}">
                <a16:creationId xmlns:a16="http://schemas.microsoft.com/office/drawing/2014/main" id="{FE19BED5-FBBF-4EC9-854F-F5544551168C}"/>
              </a:ext>
            </a:extLst>
          </p:cNvPr>
          <p:cNvGraphicFramePr>
            <a:graphicFrameLocks noGrp="1"/>
          </p:cNvGraphicFramePr>
          <p:nvPr>
            <p:extLst>
              <p:ext uri="{D42A27DB-BD31-4B8C-83A1-F6EECF244321}">
                <p14:modId xmlns:p14="http://schemas.microsoft.com/office/powerpoint/2010/main" val="3431835824"/>
              </p:ext>
            </p:extLst>
          </p:nvPr>
        </p:nvGraphicFramePr>
        <p:xfrm>
          <a:off x="2708993" y="993559"/>
          <a:ext cx="3121025" cy="5191760"/>
        </p:xfrm>
        <a:graphic>
          <a:graphicData uri="http://schemas.openxmlformats.org/drawingml/2006/table">
            <a:tbl>
              <a:tblPr firstRow="1" bandRow="1">
                <a:tableStyleId>{BAB51536-194C-4DF1-BF3E-D65146005E30}</a:tableStyleId>
              </a:tblPr>
              <a:tblGrid>
                <a:gridCol w="654050">
                  <a:extLst>
                    <a:ext uri="{9D8B030D-6E8A-4147-A177-3AD203B41FA5}">
                      <a16:colId xmlns:a16="http://schemas.microsoft.com/office/drawing/2014/main" val="3700469510"/>
                    </a:ext>
                  </a:extLst>
                </a:gridCol>
                <a:gridCol w="1343025">
                  <a:extLst>
                    <a:ext uri="{9D8B030D-6E8A-4147-A177-3AD203B41FA5}">
                      <a16:colId xmlns:a16="http://schemas.microsoft.com/office/drawing/2014/main" val="1858386585"/>
                    </a:ext>
                  </a:extLst>
                </a:gridCol>
                <a:gridCol w="1123950">
                  <a:extLst>
                    <a:ext uri="{9D8B030D-6E8A-4147-A177-3AD203B41FA5}">
                      <a16:colId xmlns:a16="http://schemas.microsoft.com/office/drawing/2014/main" val="2304891267"/>
                    </a:ext>
                  </a:extLst>
                </a:gridCol>
              </a:tblGrid>
              <a:tr h="370840">
                <a:tc>
                  <a:txBody>
                    <a:bodyPr/>
                    <a:lstStyle/>
                    <a:p>
                      <a:pPr algn="ctr"/>
                      <a:r>
                        <a:rPr lang="en-US" b="1" dirty="0"/>
                        <a:t>ID</a:t>
                      </a:r>
                      <a:endParaRPr lang="id-ID" b="1" dirty="0"/>
                    </a:p>
                  </a:txBody>
                  <a:tcPr anchor="ctr"/>
                </a:tc>
                <a:tc>
                  <a:txBody>
                    <a:bodyPr/>
                    <a:lstStyle/>
                    <a:p>
                      <a:pPr algn="ctr"/>
                      <a:r>
                        <a:rPr lang="en-US" b="1" dirty="0"/>
                        <a:t>Nama Kelas</a:t>
                      </a:r>
                      <a:endParaRPr lang="id-ID" b="1" dirty="0"/>
                    </a:p>
                  </a:txBody>
                  <a:tcPr anchor="ctr"/>
                </a:tc>
                <a:tc>
                  <a:txBody>
                    <a:bodyPr/>
                    <a:lstStyle/>
                    <a:p>
                      <a:pPr algn="ctr"/>
                      <a:r>
                        <a:rPr lang="en-US" b="1" dirty="0" err="1"/>
                        <a:t>Kuantitas</a:t>
                      </a:r>
                      <a:endParaRPr lang="id-ID" b="1" dirty="0"/>
                    </a:p>
                  </a:txBody>
                  <a:tcPr anchor="ctr"/>
                </a:tc>
                <a:extLst>
                  <a:ext uri="{0D108BD9-81ED-4DB2-BD59-A6C34878D82A}">
                    <a16:rowId xmlns:a16="http://schemas.microsoft.com/office/drawing/2014/main" val="2833796453"/>
                  </a:ext>
                </a:extLst>
              </a:tr>
              <a:tr h="370840">
                <a:tc>
                  <a:txBody>
                    <a:bodyPr/>
                    <a:lstStyle/>
                    <a:p>
                      <a:pPr algn="ctr"/>
                      <a:r>
                        <a:rPr lang="en-US" dirty="0"/>
                        <a:t>0</a:t>
                      </a:r>
                      <a:endParaRPr lang="id-ID" dirty="0"/>
                    </a:p>
                  </a:txBody>
                  <a:tcPr/>
                </a:tc>
                <a:tc>
                  <a:txBody>
                    <a:bodyPr/>
                    <a:lstStyle/>
                    <a:p>
                      <a:pPr algn="ctr"/>
                      <a:r>
                        <a:rPr lang="en-US" dirty="0"/>
                        <a:t>1-ball</a:t>
                      </a:r>
                      <a:endParaRPr lang="id-ID" dirty="0"/>
                    </a:p>
                  </a:txBody>
                  <a:tcPr/>
                </a:tc>
                <a:tc>
                  <a:txBody>
                    <a:bodyPr/>
                    <a:lstStyle/>
                    <a:p>
                      <a:pPr algn="ctr"/>
                      <a:r>
                        <a:rPr lang="en-US" dirty="0"/>
                        <a:t>607</a:t>
                      </a:r>
                      <a:endParaRPr lang="id-ID" dirty="0"/>
                    </a:p>
                  </a:txBody>
                  <a:tcPr anchor="ctr"/>
                </a:tc>
                <a:extLst>
                  <a:ext uri="{0D108BD9-81ED-4DB2-BD59-A6C34878D82A}">
                    <a16:rowId xmlns:a16="http://schemas.microsoft.com/office/drawing/2014/main" val="1774670095"/>
                  </a:ext>
                </a:extLst>
              </a:tr>
              <a:tr h="370840">
                <a:tc>
                  <a:txBody>
                    <a:bodyPr/>
                    <a:lstStyle/>
                    <a:p>
                      <a:pPr algn="ctr"/>
                      <a:r>
                        <a:rPr lang="en-US" dirty="0"/>
                        <a:t>1</a:t>
                      </a:r>
                      <a:endParaRPr lang="id-ID" dirty="0"/>
                    </a:p>
                  </a:txBody>
                  <a:tcPr/>
                </a:tc>
                <a:tc>
                  <a:txBody>
                    <a:bodyPr/>
                    <a:lstStyle/>
                    <a:p>
                      <a:pPr algn="ctr"/>
                      <a:r>
                        <a:rPr lang="en-US" dirty="0"/>
                        <a:t>2-ball</a:t>
                      </a:r>
                      <a:endParaRPr lang="id-ID" dirty="0"/>
                    </a:p>
                  </a:txBody>
                  <a:tcPr/>
                </a:tc>
                <a:tc>
                  <a:txBody>
                    <a:bodyPr/>
                    <a:lstStyle/>
                    <a:p>
                      <a:pPr algn="ctr"/>
                      <a:r>
                        <a:rPr lang="en-US" dirty="0"/>
                        <a:t>650</a:t>
                      </a:r>
                      <a:endParaRPr lang="id-ID" dirty="0"/>
                    </a:p>
                  </a:txBody>
                  <a:tcPr anchor="ctr"/>
                </a:tc>
                <a:extLst>
                  <a:ext uri="{0D108BD9-81ED-4DB2-BD59-A6C34878D82A}">
                    <a16:rowId xmlns:a16="http://schemas.microsoft.com/office/drawing/2014/main" val="1716135522"/>
                  </a:ext>
                </a:extLst>
              </a:tr>
              <a:tr h="370840">
                <a:tc>
                  <a:txBody>
                    <a:bodyPr/>
                    <a:lstStyle/>
                    <a:p>
                      <a:pPr algn="ctr"/>
                      <a:r>
                        <a:rPr lang="en-US" dirty="0"/>
                        <a:t>2</a:t>
                      </a:r>
                      <a:endParaRPr lang="id-ID" dirty="0"/>
                    </a:p>
                  </a:txBody>
                  <a:tcPr/>
                </a:tc>
                <a:tc>
                  <a:txBody>
                    <a:bodyPr/>
                    <a:lstStyle/>
                    <a:p>
                      <a:pPr algn="ctr"/>
                      <a:r>
                        <a:rPr lang="en-US" dirty="0"/>
                        <a:t>3-ball</a:t>
                      </a:r>
                      <a:endParaRPr lang="id-ID" dirty="0"/>
                    </a:p>
                  </a:txBody>
                  <a:tcPr/>
                </a:tc>
                <a:tc>
                  <a:txBody>
                    <a:bodyPr/>
                    <a:lstStyle/>
                    <a:p>
                      <a:pPr algn="ctr"/>
                      <a:r>
                        <a:rPr lang="en-US" dirty="0"/>
                        <a:t>898</a:t>
                      </a:r>
                      <a:endParaRPr lang="id-ID" dirty="0"/>
                    </a:p>
                  </a:txBody>
                  <a:tcPr anchor="ctr"/>
                </a:tc>
                <a:extLst>
                  <a:ext uri="{0D108BD9-81ED-4DB2-BD59-A6C34878D82A}">
                    <a16:rowId xmlns:a16="http://schemas.microsoft.com/office/drawing/2014/main" val="138739729"/>
                  </a:ext>
                </a:extLst>
              </a:tr>
              <a:tr h="370840">
                <a:tc>
                  <a:txBody>
                    <a:bodyPr/>
                    <a:lstStyle/>
                    <a:p>
                      <a:pPr algn="ctr"/>
                      <a:r>
                        <a:rPr lang="en-US" dirty="0"/>
                        <a:t>3</a:t>
                      </a:r>
                      <a:endParaRPr lang="id-ID" dirty="0"/>
                    </a:p>
                  </a:txBody>
                  <a:tcPr/>
                </a:tc>
                <a:tc>
                  <a:txBody>
                    <a:bodyPr/>
                    <a:lstStyle/>
                    <a:p>
                      <a:pPr algn="ctr"/>
                      <a:r>
                        <a:rPr lang="en-US" dirty="0"/>
                        <a:t>4-ball</a:t>
                      </a:r>
                      <a:endParaRPr lang="id-ID" dirty="0"/>
                    </a:p>
                  </a:txBody>
                  <a:tcPr/>
                </a:tc>
                <a:tc>
                  <a:txBody>
                    <a:bodyPr/>
                    <a:lstStyle/>
                    <a:p>
                      <a:pPr algn="ctr"/>
                      <a:r>
                        <a:rPr lang="en-US" dirty="0"/>
                        <a:t>950</a:t>
                      </a:r>
                      <a:endParaRPr lang="id-ID" dirty="0"/>
                    </a:p>
                  </a:txBody>
                  <a:tcPr anchor="ctr"/>
                </a:tc>
                <a:extLst>
                  <a:ext uri="{0D108BD9-81ED-4DB2-BD59-A6C34878D82A}">
                    <a16:rowId xmlns:a16="http://schemas.microsoft.com/office/drawing/2014/main" val="1029570137"/>
                  </a:ext>
                </a:extLst>
              </a:tr>
              <a:tr h="370840">
                <a:tc>
                  <a:txBody>
                    <a:bodyPr/>
                    <a:lstStyle/>
                    <a:p>
                      <a:pPr algn="ctr"/>
                      <a:r>
                        <a:rPr lang="en-US" dirty="0"/>
                        <a:t>4</a:t>
                      </a:r>
                      <a:endParaRPr lang="id-ID" dirty="0"/>
                    </a:p>
                  </a:txBody>
                  <a:tcPr/>
                </a:tc>
                <a:tc>
                  <a:txBody>
                    <a:bodyPr/>
                    <a:lstStyle/>
                    <a:p>
                      <a:pPr algn="ctr"/>
                      <a:r>
                        <a:rPr lang="en-US" dirty="0"/>
                        <a:t>5-ball</a:t>
                      </a:r>
                      <a:endParaRPr lang="id-ID" dirty="0"/>
                    </a:p>
                  </a:txBody>
                  <a:tcPr/>
                </a:tc>
                <a:tc>
                  <a:txBody>
                    <a:bodyPr/>
                    <a:lstStyle/>
                    <a:p>
                      <a:pPr algn="ctr"/>
                      <a:r>
                        <a:rPr lang="en-US" dirty="0"/>
                        <a:t>854</a:t>
                      </a:r>
                      <a:endParaRPr lang="id-ID" dirty="0"/>
                    </a:p>
                  </a:txBody>
                  <a:tcPr anchor="ctr"/>
                </a:tc>
                <a:extLst>
                  <a:ext uri="{0D108BD9-81ED-4DB2-BD59-A6C34878D82A}">
                    <a16:rowId xmlns:a16="http://schemas.microsoft.com/office/drawing/2014/main" val="3976809794"/>
                  </a:ext>
                </a:extLst>
              </a:tr>
              <a:tr h="370840">
                <a:tc>
                  <a:txBody>
                    <a:bodyPr/>
                    <a:lstStyle/>
                    <a:p>
                      <a:pPr algn="ctr"/>
                      <a:r>
                        <a:rPr lang="en-US" dirty="0"/>
                        <a:t>5</a:t>
                      </a:r>
                      <a:endParaRPr lang="id-ID" dirty="0"/>
                    </a:p>
                  </a:txBody>
                  <a:tcPr/>
                </a:tc>
                <a:tc>
                  <a:txBody>
                    <a:bodyPr/>
                    <a:lstStyle/>
                    <a:p>
                      <a:pPr algn="ctr"/>
                      <a:r>
                        <a:rPr lang="en-US" dirty="0"/>
                        <a:t>6-ball</a:t>
                      </a:r>
                      <a:endParaRPr lang="id-ID" dirty="0"/>
                    </a:p>
                  </a:txBody>
                  <a:tcPr/>
                </a:tc>
                <a:tc>
                  <a:txBody>
                    <a:bodyPr/>
                    <a:lstStyle/>
                    <a:p>
                      <a:pPr algn="ctr"/>
                      <a:r>
                        <a:rPr lang="en-US" dirty="0"/>
                        <a:t>889</a:t>
                      </a:r>
                      <a:endParaRPr lang="id-ID" dirty="0"/>
                    </a:p>
                  </a:txBody>
                  <a:tcPr anchor="ctr"/>
                </a:tc>
                <a:extLst>
                  <a:ext uri="{0D108BD9-81ED-4DB2-BD59-A6C34878D82A}">
                    <a16:rowId xmlns:a16="http://schemas.microsoft.com/office/drawing/2014/main" val="427886556"/>
                  </a:ext>
                </a:extLst>
              </a:tr>
              <a:tr h="370840">
                <a:tc>
                  <a:txBody>
                    <a:bodyPr/>
                    <a:lstStyle/>
                    <a:p>
                      <a:pPr algn="ctr"/>
                      <a:r>
                        <a:rPr lang="en-US" dirty="0"/>
                        <a:t>6</a:t>
                      </a:r>
                      <a:endParaRPr lang="id-ID" dirty="0"/>
                    </a:p>
                  </a:txBody>
                  <a:tcPr/>
                </a:tc>
                <a:tc>
                  <a:txBody>
                    <a:bodyPr/>
                    <a:lstStyle/>
                    <a:p>
                      <a:pPr algn="ctr"/>
                      <a:r>
                        <a:rPr lang="en-US" dirty="0"/>
                        <a:t>7-ball</a:t>
                      </a:r>
                      <a:endParaRPr lang="id-ID" dirty="0"/>
                    </a:p>
                  </a:txBody>
                  <a:tcPr/>
                </a:tc>
                <a:tc>
                  <a:txBody>
                    <a:bodyPr/>
                    <a:lstStyle/>
                    <a:p>
                      <a:pPr algn="ctr"/>
                      <a:r>
                        <a:rPr lang="en-US" dirty="0"/>
                        <a:t>954</a:t>
                      </a:r>
                      <a:endParaRPr lang="id-ID" dirty="0"/>
                    </a:p>
                  </a:txBody>
                  <a:tcPr anchor="ctr"/>
                </a:tc>
                <a:extLst>
                  <a:ext uri="{0D108BD9-81ED-4DB2-BD59-A6C34878D82A}">
                    <a16:rowId xmlns:a16="http://schemas.microsoft.com/office/drawing/2014/main" val="760161910"/>
                  </a:ext>
                </a:extLst>
              </a:tr>
              <a:tr h="370840">
                <a:tc>
                  <a:txBody>
                    <a:bodyPr/>
                    <a:lstStyle/>
                    <a:p>
                      <a:pPr algn="ctr"/>
                      <a:r>
                        <a:rPr lang="en-US" dirty="0"/>
                        <a:t>7</a:t>
                      </a:r>
                      <a:endParaRPr lang="id-ID" dirty="0"/>
                    </a:p>
                  </a:txBody>
                  <a:tcPr/>
                </a:tc>
                <a:tc>
                  <a:txBody>
                    <a:bodyPr/>
                    <a:lstStyle/>
                    <a:p>
                      <a:pPr algn="ctr"/>
                      <a:r>
                        <a:rPr lang="en-US" dirty="0"/>
                        <a:t>8-ball</a:t>
                      </a:r>
                      <a:endParaRPr lang="id-ID" dirty="0"/>
                    </a:p>
                  </a:txBody>
                  <a:tcPr/>
                </a:tc>
                <a:tc>
                  <a:txBody>
                    <a:bodyPr/>
                    <a:lstStyle/>
                    <a:p>
                      <a:pPr algn="ctr"/>
                      <a:r>
                        <a:rPr lang="en-US" dirty="0"/>
                        <a:t>1,065</a:t>
                      </a:r>
                      <a:endParaRPr lang="id-ID" dirty="0"/>
                    </a:p>
                  </a:txBody>
                  <a:tcPr anchor="ctr"/>
                </a:tc>
                <a:extLst>
                  <a:ext uri="{0D108BD9-81ED-4DB2-BD59-A6C34878D82A}">
                    <a16:rowId xmlns:a16="http://schemas.microsoft.com/office/drawing/2014/main" val="3700459352"/>
                  </a:ext>
                </a:extLst>
              </a:tr>
              <a:tr h="370840">
                <a:tc>
                  <a:txBody>
                    <a:bodyPr/>
                    <a:lstStyle/>
                    <a:p>
                      <a:pPr algn="ctr"/>
                      <a:r>
                        <a:rPr lang="en-US" dirty="0"/>
                        <a:t>8</a:t>
                      </a:r>
                      <a:endParaRPr lang="id-ID" dirty="0"/>
                    </a:p>
                  </a:txBody>
                  <a:tcPr/>
                </a:tc>
                <a:tc>
                  <a:txBody>
                    <a:bodyPr/>
                    <a:lstStyle/>
                    <a:p>
                      <a:pPr algn="ctr"/>
                      <a:r>
                        <a:rPr lang="en-US" dirty="0"/>
                        <a:t>9-ball</a:t>
                      </a:r>
                      <a:endParaRPr lang="id-ID" dirty="0"/>
                    </a:p>
                  </a:txBody>
                  <a:tcPr/>
                </a:tc>
                <a:tc>
                  <a:txBody>
                    <a:bodyPr/>
                    <a:lstStyle/>
                    <a:p>
                      <a:pPr algn="ctr"/>
                      <a:r>
                        <a:rPr lang="en-US" dirty="0"/>
                        <a:t>1,169</a:t>
                      </a:r>
                      <a:endParaRPr lang="id-ID" dirty="0"/>
                    </a:p>
                  </a:txBody>
                  <a:tcPr anchor="ctr"/>
                </a:tc>
                <a:extLst>
                  <a:ext uri="{0D108BD9-81ED-4DB2-BD59-A6C34878D82A}">
                    <a16:rowId xmlns:a16="http://schemas.microsoft.com/office/drawing/2014/main" val="568607767"/>
                  </a:ext>
                </a:extLst>
              </a:tr>
              <a:tr h="370840">
                <a:tc>
                  <a:txBody>
                    <a:bodyPr/>
                    <a:lstStyle/>
                    <a:p>
                      <a:pPr algn="ctr"/>
                      <a:r>
                        <a:rPr lang="en-US" dirty="0"/>
                        <a:t>9</a:t>
                      </a:r>
                      <a:endParaRPr lang="id-ID" dirty="0"/>
                    </a:p>
                  </a:txBody>
                  <a:tcPr/>
                </a:tc>
                <a:tc>
                  <a:txBody>
                    <a:bodyPr/>
                    <a:lstStyle/>
                    <a:p>
                      <a:pPr algn="ctr"/>
                      <a:r>
                        <a:rPr lang="en-US" dirty="0" err="1"/>
                        <a:t>cue_ball</a:t>
                      </a:r>
                      <a:endParaRPr lang="id-ID" dirty="0"/>
                    </a:p>
                  </a:txBody>
                  <a:tcPr/>
                </a:tc>
                <a:tc>
                  <a:txBody>
                    <a:bodyPr/>
                    <a:lstStyle/>
                    <a:p>
                      <a:pPr algn="ctr"/>
                      <a:r>
                        <a:rPr lang="en-US" dirty="0"/>
                        <a:t>1,254</a:t>
                      </a:r>
                      <a:endParaRPr lang="id-ID" dirty="0"/>
                    </a:p>
                  </a:txBody>
                  <a:tcPr anchor="ctr"/>
                </a:tc>
                <a:extLst>
                  <a:ext uri="{0D108BD9-81ED-4DB2-BD59-A6C34878D82A}">
                    <a16:rowId xmlns:a16="http://schemas.microsoft.com/office/drawing/2014/main" val="827684535"/>
                  </a:ext>
                </a:extLst>
              </a:tr>
              <a:tr h="370840">
                <a:tc>
                  <a:txBody>
                    <a:bodyPr/>
                    <a:lstStyle/>
                    <a:p>
                      <a:pPr algn="ctr"/>
                      <a:r>
                        <a:rPr lang="en-US" dirty="0"/>
                        <a:t>10</a:t>
                      </a:r>
                      <a:endParaRPr lang="id-ID" dirty="0"/>
                    </a:p>
                  </a:txBody>
                  <a:tcPr/>
                </a:tc>
                <a:tc>
                  <a:txBody>
                    <a:bodyPr/>
                    <a:lstStyle/>
                    <a:p>
                      <a:pPr algn="ctr"/>
                      <a:r>
                        <a:rPr lang="en-US" dirty="0" err="1"/>
                        <a:t>cue_stick</a:t>
                      </a:r>
                      <a:endParaRPr lang="id-ID" dirty="0"/>
                    </a:p>
                  </a:txBody>
                  <a:tcPr/>
                </a:tc>
                <a:tc>
                  <a:txBody>
                    <a:bodyPr/>
                    <a:lstStyle/>
                    <a:p>
                      <a:pPr algn="ctr"/>
                      <a:r>
                        <a:rPr lang="en-US" dirty="0"/>
                        <a:t>237</a:t>
                      </a:r>
                      <a:endParaRPr lang="id-ID" dirty="0"/>
                    </a:p>
                  </a:txBody>
                  <a:tcPr anchor="ctr"/>
                </a:tc>
                <a:extLst>
                  <a:ext uri="{0D108BD9-81ED-4DB2-BD59-A6C34878D82A}">
                    <a16:rowId xmlns:a16="http://schemas.microsoft.com/office/drawing/2014/main" val="1704808566"/>
                  </a:ext>
                </a:extLst>
              </a:tr>
              <a:tr h="370840">
                <a:tc>
                  <a:txBody>
                    <a:bodyPr/>
                    <a:lstStyle/>
                    <a:p>
                      <a:pPr algn="ctr"/>
                      <a:r>
                        <a:rPr lang="en-US" dirty="0"/>
                        <a:t>11</a:t>
                      </a:r>
                      <a:endParaRPr lang="id-ID" dirty="0"/>
                    </a:p>
                  </a:txBody>
                  <a:tcPr/>
                </a:tc>
                <a:tc>
                  <a:txBody>
                    <a:bodyPr/>
                    <a:lstStyle/>
                    <a:p>
                      <a:pPr algn="ctr"/>
                      <a:r>
                        <a:rPr lang="en-US" dirty="0"/>
                        <a:t>pocket</a:t>
                      </a:r>
                      <a:endParaRPr lang="id-ID" dirty="0"/>
                    </a:p>
                  </a:txBody>
                  <a:tcPr/>
                </a:tc>
                <a:tc>
                  <a:txBody>
                    <a:bodyPr/>
                    <a:lstStyle/>
                    <a:p>
                      <a:pPr algn="ctr"/>
                      <a:r>
                        <a:rPr lang="en-US" dirty="0"/>
                        <a:t>7,016</a:t>
                      </a:r>
                      <a:endParaRPr lang="id-ID" dirty="0"/>
                    </a:p>
                  </a:txBody>
                  <a:tcPr anchor="ctr"/>
                </a:tc>
                <a:extLst>
                  <a:ext uri="{0D108BD9-81ED-4DB2-BD59-A6C34878D82A}">
                    <a16:rowId xmlns:a16="http://schemas.microsoft.com/office/drawing/2014/main" val="1079794271"/>
                  </a:ext>
                </a:extLst>
              </a:tr>
              <a:tr h="370840">
                <a:tc>
                  <a:txBody>
                    <a:bodyPr/>
                    <a:lstStyle/>
                    <a:p>
                      <a:pPr algn="ctr"/>
                      <a:r>
                        <a:rPr lang="en-US" dirty="0"/>
                        <a:t>12</a:t>
                      </a:r>
                      <a:endParaRPr lang="id-ID" dirty="0"/>
                    </a:p>
                  </a:txBody>
                  <a:tcPr/>
                </a:tc>
                <a:tc>
                  <a:txBody>
                    <a:bodyPr/>
                    <a:lstStyle/>
                    <a:p>
                      <a:pPr algn="ctr"/>
                      <a:r>
                        <a:rPr lang="en-US" dirty="0"/>
                        <a:t>rack</a:t>
                      </a:r>
                      <a:endParaRPr lang="id-ID" dirty="0"/>
                    </a:p>
                  </a:txBody>
                  <a:tcPr/>
                </a:tc>
                <a:tc>
                  <a:txBody>
                    <a:bodyPr/>
                    <a:lstStyle/>
                    <a:p>
                      <a:pPr algn="ctr"/>
                      <a:r>
                        <a:rPr lang="en-US" dirty="0"/>
                        <a:t>46</a:t>
                      </a:r>
                      <a:endParaRPr lang="id-ID" dirty="0"/>
                    </a:p>
                  </a:txBody>
                  <a:tcPr anchor="ctr"/>
                </a:tc>
                <a:extLst>
                  <a:ext uri="{0D108BD9-81ED-4DB2-BD59-A6C34878D82A}">
                    <a16:rowId xmlns:a16="http://schemas.microsoft.com/office/drawing/2014/main" val="610774879"/>
                  </a:ext>
                </a:extLst>
              </a:tr>
            </a:tbl>
          </a:graphicData>
        </a:graphic>
      </p:graphicFrame>
      <p:graphicFrame>
        <p:nvGraphicFramePr>
          <p:cNvPr id="8" name="Chart 7">
            <a:extLst>
              <a:ext uri="{FF2B5EF4-FFF2-40B4-BE49-F238E27FC236}">
                <a16:creationId xmlns:a16="http://schemas.microsoft.com/office/drawing/2014/main" id="{B06A1375-2E16-4A18-99E7-98DD89162B4C}"/>
              </a:ext>
            </a:extLst>
          </p:cNvPr>
          <p:cNvGraphicFramePr/>
          <p:nvPr>
            <p:extLst>
              <p:ext uri="{D42A27DB-BD31-4B8C-83A1-F6EECF244321}">
                <p14:modId xmlns:p14="http://schemas.microsoft.com/office/powerpoint/2010/main" val="2537485070"/>
              </p:ext>
            </p:extLst>
          </p:nvPr>
        </p:nvGraphicFramePr>
        <p:xfrm>
          <a:off x="5969463" y="1446959"/>
          <a:ext cx="5558400" cy="519176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87167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2" name="Rectangle 1">
            <a:extLst>
              <a:ext uri="{FF2B5EF4-FFF2-40B4-BE49-F238E27FC236}">
                <a16:creationId xmlns:a16="http://schemas.microsoft.com/office/drawing/2014/main" id="{8B0F03D9-73D3-4EAA-8688-361860D83213}"/>
              </a:ext>
            </a:extLst>
          </p:cNvPr>
          <p:cNvSpPr/>
          <p:nvPr/>
        </p:nvSpPr>
        <p:spPr>
          <a:xfrm>
            <a:off x="5735978" y="1107440"/>
            <a:ext cx="1066800" cy="4643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5" name="Google Shape;475;p6"/>
          <p:cNvSpPr txBox="1">
            <a:spLocks noGrp="1"/>
          </p:cNvSpPr>
          <p:nvPr>
            <p:ph type="title"/>
          </p:nvPr>
        </p:nvSpPr>
        <p:spPr>
          <a:xfrm>
            <a:off x="3690475" y="211200"/>
            <a:ext cx="5558400" cy="9669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lt1"/>
              </a:buClr>
              <a:buSzPts val="4400"/>
              <a:buFont typeface="Arial"/>
              <a:buNone/>
            </a:pPr>
            <a:r>
              <a:rPr lang="en-US" sz="4800" i="1" dirty="0">
                <a:solidFill>
                  <a:schemeClr val="dk1"/>
                </a:solidFill>
              </a:rPr>
              <a:t>Model</a:t>
            </a:r>
            <a:r>
              <a:rPr lang="en-US" sz="4800" dirty="0">
                <a:solidFill>
                  <a:schemeClr val="dk1"/>
                </a:solidFill>
              </a:rPr>
              <a:t> </a:t>
            </a:r>
            <a:r>
              <a:rPr lang="en-US" sz="4800" i="1" dirty="0">
                <a:solidFill>
                  <a:schemeClr val="dk1"/>
                </a:solidFill>
              </a:rPr>
              <a:t>Comparison</a:t>
            </a:r>
            <a:endParaRPr i="1" dirty="0">
              <a:solidFill>
                <a:schemeClr val="dk1"/>
              </a:solidFill>
            </a:endParaRPr>
          </a:p>
        </p:txBody>
      </p:sp>
      <p:pic>
        <p:nvPicPr>
          <p:cNvPr id="476" name="Google Shape;476;p6" descr="A close up of a ceiling&#10;&#10;Description automatically generated"/>
          <p:cNvPicPr preferRelativeResize="0">
            <a:picLocks noGrp="1"/>
          </p:cNvPicPr>
          <p:nvPr>
            <p:ph type="body" idx="1"/>
          </p:nvPr>
        </p:nvPicPr>
        <p:blipFill rotWithShape="1">
          <a:blip r:embed="rId3">
            <a:alphaModFix/>
          </a:blip>
          <a:srcRect l="32196" r="32193"/>
          <a:stretch/>
        </p:blipFill>
        <p:spPr>
          <a:xfrm>
            <a:off x="0" y="0"/>
            <a:ext cx="3224212" cy="6400800"/>
          </a:xfrm>
          <a:prstGeom prst="rect">
            <a:avLst/>
          </a:prstGeom>
          <a:noFill/>
          <a:ln>
            <a:noFill/>
          </a:ln>
        </p:spPr>
      </p:pic>
      <p:graphicFrame>
        <p:nvGraphicFramePr>
          <p:cNvPr id="4" name="Table 4">
            <a:extLst>
              <a:ext uri="{FF2B5EF4-FFF2-40B4-BE49-F238E27FC236}">
                <a16:creationId xmlns:a16="http://schemas.microsoft.com/office/drawing/2014/main" id="{FE19BED5-FBBF-4EC9-854F-F5544551168C}"/>
              </a:ext>
            </a:extLst>
          </p:cNvPr>
          <p:cNvGraphicFramePr>
            <a:graphicFrameLocks noGrp="1"/>
          </p:cNvGraphicFramePr>
          <p:nvPr>
            <p:extLst>
              <p:ext uri="{D42A27DB-BD31-4B8C-83A1-F6EECF244321}">
                <p14:modId xmlns:p14="http://schemas.microsoft.com/office/powerpoint/2010/main" val="1857088744"/>
              </p:ext>
            </p:extLst>
          </p:nvPr>
        </p:nvGraphicFramePr>
        <p:xfrm>
          <a:off x="3770315" y="1346200"/>
          <a:ext cx="5197475" cy="1854200"/>
        </p:xfrm>
        <a:graphic>
          <a:graphicData uri="http://schemas.openxmlformats.org/drawingml/2006/table">
            <a:tbl>
              <a:tblPr firstRow="1" bandRow="1">
                <a:tableStyleId>{BAB51536-194C-4DF1-BF3E-D65146005E30}</a:tableStyleId>
              </a:tblPr>
              <a:tblGrid>
                <a:gridCol w="1473200">
                  <a:extLst>
                    <a:ext uri="{9D8B030D-6E8A-4147-A177-3AD203B41FA5}">
                      <a16:colId xmlns:a16="http://schemas.microsoft.com/office/drawing/2014/main" val="3700469510"/>
                    </a:ext>
                  </a:extLst>
                </a:gridCol>
                <a:gridCol w="1181100">
                  <a:extLst>
                    <a:ext uri="{9D8B030D-6E8A-4147-A177-3AD203B41FA5}">
                      <a16:colId xmlns:a16="http://schemas.microsoft.com/office/drawing/2014/main" val="1858386585"/>
                    </a:ext>
                  </a:extLst>
                </a:gridCol>
                <a:gridCol w="1362075">
                  <a:extLst>
                    <a:ext uri="{9D8B030D-6E8A-4147-A177-3AD203B41FA5}">
                      <a16:colId xmlns:a16="http://schemas.microsoft.com/office/drawing/2014/main" val="2304891267"/>
                    </a:ext>
                  </a:extLst>
                </a:gridCol>
                <a:gridCol w="1181100">
                  <a:extLst>
                    <a:ext uri="{9D8B030D-6E8A-4147-A177-3AD203B41FA5}">
                      <a16:colId xmlns:a16="http://schemas.microsoft.com/office/drawing/2014/main" val="3578790816"/>
                    </a:ext>
                  </a:extLst>
                </a:gridCol>
              </a:tblGrid>
              <a:tr h="370840">
                <a:tc>
                  <a:txBody>
                    <a:bodyPr/>
                    <a:lstStyle/>
                    <a:p>
                      <a:pPr algn="ctr"/>
                      <a:r>
                        <a:rPr lang="en-US" b="1" dirty="0" err="1"/>
                        <a:t>Metrik</a:t>
                      </a:r>
                      <a:endParaRPr lang="id-ID" b="1" dirty="0"/>
                    </a:p>
                  </a:txBody>
                  <a:tcPr anchor="ctr"/>
                </a:tc>
                <a:tc>
                  <a:txBody>
                    <a:bodyPr/>
                    <a:lstStyle/>
                    <a:p>
                      <a:pPr algn="ctr"/>
                      <a:r>
                        <a:rPr lang="en-US" b="1" dirty="0"/>
                        <a:t>YOLOv8n</a:t>
                      </a:r>
                      <a:endParaRPr lang="id-ID" b="1" dirty="0"/>
                    </a:p>
                  </a:txBody>
                  <a:tcPr anchor="ctr"/>
                </a:tc>
                <a:tc>
                  <a:txBody>
                    <a:bodyPr/>
                    <a:lstStyle/>
                    <a:p>
                      <a:pPr algn="ctr"/>
                      <a:r>
                        <a:rPr lang="en-US" b="1" dirty="0"/>
                        <a:t>YOLOv10n</a:t>
                      </a:r>
                      <a:endParaRPr lang="id-ID" b="1" dirty="0"/>
                    </a:p>
                  </a:txBody>
                  <a:tcPr anchor="ctr"/>
                </a:tc>
                <a:tc>
                  <a:txBody>
                    <a:bodyPr/>
                    <a:lstStyle/>
                    <a:p>
                      <a:pPr algn="ctr"/>
                      <a:r>
                        <a:rPr lang="en-US" b="1" dirty="0"/>
                        <a:t>YOLO11n</a:t>
                      </a:r>
                      <a:endParaRPr lang="id-ID" b="1" dirty="0"/>
                    </a:p>
                  </a:txBody>
                  <a:tcPr anchor="ctr"/>
                </a:tc>
                <a:extLst>
                  <a:ext uri="{0D108BD9-81ED-4DB2-BD59-A6C34878D82A}">
                    <a16:rowId xmlns:a16="http://schemas.microsoft.com/office/drawing/2014/main" val="2833796453"/>
                  </a:ext>
                </a:extLst>
              </a:tr>
              <a:tr h="370840">
                <a:tc>
                  <a:txBody>
                    <a:bodyPr/>
                    <a:lstStyle/>
                    <a:p>
                      <a:pPr algn="ctr"/>
                      <a:r>
                        <a:rPr lang="en-US" dirty="0"/>
                        <a:t>mAP@50-90</a:t>
                      </a:r>
                      <a:endParaRPr lang="id-ID" dirty="0"/>
                    </a:p>
                  </a:txBody>
                  <a:tcPr/>
                </a:tc>
                <a:tc>
                  <a:txBody>
                    <a:bodyPr/>
                    <a:lstStyle/>
                    <a:p>
                      <a:pPr algn="ctr"/>
                      <a:r>
                        <a:rPr lang="en-US" dirty="0"/>
                        <a:t>37.3</a:t>
                      </a:r>
                      <a:endParaRPr lang="id-ID" dirty="0"/>
                    </a:p>
                  </a:txBody>
                  <a:tcPr/>
                </a:tc>
                <a:tc>
                  <a:txBody>
                    <a:bodyPr/>
                    <a:lstStyle/>
                    <a:p>
                      <a:pPr algn="ctr"/>
                      <a:r>
                        <a:rPr lang="en-US" dirty="0"/>
                        <a:t>39.5</a:t>
                      </a:r>
                      <a:endParaRPr lang="id-ID" dirty="0"/>
                    </a:p>
                  </a:txBody>
                  <a:tcPr anchor="ctr"/>
                </a:tc>
                <a:tc>
                  <a:txBody>
                    <a:bodyPr/>
                    <a:lstStyle/>
                    <a:p>
                      <a:pPr algn="ctr"/>
                      <a:r>
                        <a:rPr lang="en-US" dirty="0"/>
                        <a:t>39.5</a:t>
                      </a:r>
                      <a:endParaRPr lang="id-ID" dirty="0"/>
                    </a:p>
                  </a:txBody>
                  <a:tcPr anchor="ctr"/>
                </a:tc>
                <a:extLst>
                  <a:ext uri="{0D108BD9-81ED-4DB2-BD59-A6C34878D82A}">
                    <a16:rowId xmlns:a16="http://schemas.microsoft.com/office/drawing/2014/main" val="1774670095"/>
                  </a:ext>
                </a:extLst>
              </a:tr>
              <a:tr h="370840">
                <a:tc>
                  <a:txBody>
                    <a:bodyPr/>
                    <a:lstStyle/>
                    <a:p>
                      <a:pPr algn="ctr"/>
                      <a:r>
                        <a:rPr lang="en-US" i="1" dirty="0"/>
                        <a:t>Parameters</a:t>
                      </a:r>
                      <a:endParaRPr lang="id-ID" i="1" dirty="0"/>
                    </a:p>
                  </a:txBody>
                  <a:tcPr/>
                </a:tc>
                <a:tc>
                  <a:txBody>
                    <a:bodyPr/>
                    <a:lstStyle/>
                    <a:p>
                      <a:pPr algn="ctr"/>
                      <a:r>
                        <a:rPr lang="en-US" dirty="0"/>
                        <a:t>3.2 </a:t>
                      </a:r>
                      <a:r>
                        <a:rPr lang="en-US" i="1" dirty="0"/>
                        <a:t>million</a:t>
                      </a:r>
                      <a:endParaRPr lang="id-ID" dirty="0"/>
                    </a:p>
                  </a:txBody>
                  <a:tcPr/>
                </a:tc>
                <a:tc>
                  <a:txBody>
                    <a:bodyPr/>
                    <a:lstStyle/>
                    <a:p>
                      <a:pPr algn="ctr"/>
                      <a:r>
                        <a:rPr lang="en-US" dirty="0"/>
                        <a:t>2.3 </a:t>
                      </a:r>
                      <a:r>
                        <a:rPr lang="en-US" i="1" dirty="0"/>
                        <a:t>million</a:t>
                      </a:r>
                      <a:endParaRPr lang="id-ID" dirty="0"/>
                    </a:p>
                  </a:txBody>
                  <a:tcPr anchor="ctr"/>
                </a:tc>
                <a:tc>
                  <a:txBody>
                    <a:bodyPr/>
                    <a:lstStyle/>
                    <a:p>
                      <a:pPr algn="ctr"/>
                      <a:r>
                        <a:rPr lang="en-US" dirty="0"/>
                        <a:t>2.6 </a:t>
                      </a:r>
                      <a:r>
                        <a:rPr lang="en-US" i="1" dirty="0"/>
                        <a:t>million</a:t>
                      </a:r>
                      <a:endParaRPr lang="id-ID" dirty="0"/>
                    </a:p>
                  </a:txBody>
                  <a:tcPr anchor="ctr"/>
                </a:tc>
                <a:extLst>
                  <a:ext uri="{0D108BD9-81ED-4DB2-BD59-A6C34878D82A}">
                    <a16:rowId xmlns:a16="http://schemas.microsoft.com/office/drawing/2014/main" val="1716135522"/>
                  </a:ext>
                </a:extLst>
              </a:tr>
              <a:tr h="370840">
                <a:tc>
                  <a:txBody>
                    <a:bodyPr/>
                    <a:lstStyle/>
                    <a:p>
                      <a:pPr algn="ctr"/>
                      <a:r>
                        <a:rPr lang="en-US" dirty="0"/>
                        <a:t>FLOPs</a:t>
                      </a:r>
                      <a:endParaRPr lang="id-ID" dirty="0"/>
                    </a:p>
                  </a:txBody>
                  <a:tcPr/>
                </a:tc>
                <a:tc>
                  <a:txBody>
                    <a:bodyPr/>
                    <a:lstStyle/>
                    <a:p>
                      <a:pPr algn="ctr"/>
                      <a:r>
                        <a:rPr lang="en-US" dirty="0"/>
                        <a:t>8.7 </a:t>
                      </a:r>
                      <a:r>
                        <a:rPr lang="en-US" i="1" dirty="0"/>
                        <a:t>billion</a:t>
                      </a:r>
                      <a:endParaRPr lang="id-ID" dirty="0"/>
                    </a:p>
                  </a:txBody>
                  <a:tcPr/>
                </a:tc>
                <a:tc>
                  <a:txBody>
                    <a:bodyPr/>
                    <a:lstStyle/>
                    <a:p>
                      <a:pPr algn="ctr"/>
                      <a:r>
                        <a:rPr lang="en-US" dirty="0"/>
                        <a:t>6.7 </a:t>
                      </a:r>
                      <a:r>
                        <a:rPr lang="en-US" i="1" dirty="0"/>
                        <a:t>billion</a:t>
                      </a:r>
                      <a:endParaRPr lang="id-ID" dirty="0"/>
                    </a:p>
                  </a:txBody>
                  <a:tcPr anchor="ctr"/>
                </a:tc>
                <a:tc>
                  <a:txBody>
                    <a:bodyPr/>
                    <a:lstStyle/>
                    <a:p>
                      <a:pPr algn="ctr"/>
                      <a:r>
                        <a:rPr lang="en-US" dirty="0"/>
                        <a:t>6.5 </a:t>
                      </a:r>
                      <a:r>
                        <a:rPr lang="en-US" i="1" dirty="0"/>
                        <a:t>billion</a:t>
                      </a:r>
                      <a:endParaRPr lang="id-ID" dirty="0"/>
                    </a:p>
                  </a:txBody>
                  <a:tcPr anchor="ctr"/>
                </a:tc>
                <a:extLst>
                  <a:ext uri="{0D108BD9-81ED-4DB2-BD59-A6C34878D82A}">
                    <a16:rowId xmlns:a16="http://schemas.microsoft.com/office/drawing/2014/main" val="138739729"/>
                  </a:ext>
                </a:extLst>
              </a:tr>
              <a:tr h="370840">
                <a:tc>
                  <a:txBody>
                    <a:bodyPr/>
                    <a:lstStyle/>
                    <a:p>
                      <a:pPr algn="ctr"/>
                      <a:r>
                        <a:rPr lang="en-US" dirty="0" err="1"/>
                        <a:t>Dukungan</a:t>
                      </a:r>
                      <a:r>
                        <a:rPr lang="en-US" dirty="0"/>
                        <a:t> </a:t>
                      </a:r>
                      <a:r>
                        <a:rPr lang="en-US" dirty="0" err="1"/>
                        <a:t>Hailo</a:t>
                      </a:r>
                      <a:endParaRPr lang="id-ID" dirty="0"/>
                    </a:p>
                  </a:txBody>
                  <a:tcPr/>
                </a:tc>
                <a:tc>
                  <a:txBody>
                    <a:bodyPr/>
                    <a:lstStyle/>
                    <a:p>
                      <a:pPr algn="ctr"/>
                      <a:r>
                        <a:rPr lang="en-US" dirty="0" err="1"/>
                        <a:t>Ya</a:t>
                      </a:r>
                      <a:endParaRPr lang="id-ID" dirty="0"/>
                    </a:p>
                  </a:txBody>
                  <a:tcPr/>
                </a:tc>
                <a:tc>
                  <a:txBody>
                    <a:bodyPr/>
                    <a:lstStyle/>
                    <a:p>
                      <a:pPr algn="ctr"/>
                      <a:r>
                        <a:rPr lang="en-US" dirty="0" err="1"/>
                        <a:t>Ya</a:t>
                      </a:r>
                      <a:endParaRPr lang="id-ID" dirty="0"/>
                    </a:p>
                  </a:txBody>
                  <a:tcPr anchor="ctr"/>
                </a:tc>
                <a:tc>
                  <a:txBody>
                    <a:bodyPr/>
                    <a:lstStyle/>
                    <a:p>
                      <a:pPr algn="ctr"/>
                      <a:r>
                        <a:rPr lang="en-US" dirty="0" err="1"/>
                        <a:t>Ya</a:t>
                      </a:r>
                      <a:endParaRPr lang="id-ID" dirty="0"/>
                    </a:p>
                  </a:txBody>
                  <a:tcPr anchor="ctr"/>
                </a:tc>
                <a:extLst>
                  <a:ext uri="{0D108BD9-81ED-4DB2-BD59-A6C34878D82A}">
                    <a16:rowId xmlns:a16="http://schemas.microsoft.com/office/drawing/2014/main" val="2240828641"/>
                  </a:ext>
                </a:extLst>
              </a:tr>
            </a:tbl>
          </a:graphicData>
        </a:graphic>
      </p:graphicFrame>
    </p:spTree>
    <p:extLst>
      <p:ext uri="{BB962C8B-B14F-4D97-AF65-F5344CB8AC3E}">
        <p14:creationId xmlns:p14="http://schemas.microsoft.com/office/powerpoint/2010/main" val="538763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2" name="Rectangle 1">
            <a:extLst>
              <a:ext uri="{FF2B5EF4-FFF2-40B4-BE49-F238E27FC236}">
                <a16:creationId xmlns:a16="http://schemas.microsoft.com/office/drawing/2014/main" id="{8B0F03D9-73D3-4EAA-8688-361860D83213}"/>
              </a:ext>
            </a:extLst>
          </p:cNvPr>
          <p:cNvSpPr/>
          <p:nvPr/>
        </p:nvSpPr>
        <p:spPr>
          <a:xfrm>
            <a:off x="5735978" y="1107440"/>
            <a:ext cx="1066800" cy="4643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5" name="Google Shape;475;p6"/>
          <p:cNvSpPr txBox="1">
            <a:spLocks noGrp="1"/>
          </p:cNvSpPr>
          <p:nvPr>
            <p:ph type="title"/>
          </p:nvPr>
        </p:nvSpPr>
        <p:spPr>
          <a:xfrm>
            <a:off x="3690475" y="211200"/>
            <a:ext cx="5558400" cy="9669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lt1"/>
              </a:buClr>
              <a:buSzPts val="4400"/>
              <a:buFont typeface="Arial"/>
              <a:buNone/>
            </a:pPr>
            <a:r>
              <a:rPr lang="en-US" sz="4800" dirty="0" err="1">
                <a:solidFill>
                  <a:schemeClr val="dk1"/>
                </a:solidFill>
              </a:rPr>
              <a:t>Konfigurasi</a:t>
            </a:r>
            <a:r>
              <a:rPr lang="en-US" sz="4800" dirty="0">
                <a:solidFill>
                  <a:schemeClr val="dk1"/>
                </a:solidFill>
              </a:rPr>
              <a:t> </a:t>
            </a:r>
            <a:r>
              <a:rPr lang="en-US" sz="4800" i="1" dirty="0">
                <a:solidFill>
                  <a:schemeClr val="dk1"/>
                </a:solidFill>
              </a:rPr>
              <a:t>Training</a:t>
            </a:r>
            <a:endParaRPr i="1" dirty="0">
              <a:solidFill>
                <a:schemeClr val="dk1"/>
              </a:solidFill>
            </a:endParaRPr>
          </a:p>
        </p:txBody>
      </p:sp>
      <p:pic>
        <p:nvPicPr>
          <p:cNvPr id="476" name="Google Shape;476;p6" descr="A close up of a ceiling&#10;&#10;Description automatically generated"/>
          <p:cNvPicPr preferRelativeResize="0">
            <a:picLocks noGrp="1"/>
          </p:cNvPicPr>
          <p:nvPr>
            <p:ph type="body" idx="1"/>
          </p:nvPr>
        </p:nvPicPr>
        <p:blipFill rotWithShape="1">
          <a:blip r:embed="rId3">
            <a:alphaModFix/>
          </a:blip>
          <a:srcRect l="32196" r="32193"/>
          <a:stretch/>
        </p:blipFill>
        <p:spPr>
          <a:xfrm>
            <a:off x="0" y="0"/>
            <a:ext cx="3224212" cy="6400800"/>
          </a:xfrm>
          <a:prstGeom prst="rect">
            <a:avLst/>
          </a:prstGeom>
          <a:noFill/>
          <a:ln>
            <a:noFill/>
          </a:ln>
        </p:spPr>
      </p:pic>
      <p:graphicFrame>
        <p:nvGraphicFramePr>
          <p:cNvPr id="4" name="Table 4">
            <a:extLst>
              <a:ext uri="{FF2B5EF4-FFF2-40B4-BE49-F238E27FC236}">
                <a16:creationId xmlns:a16="http://schemas.microsoft.com/office/drawing/2014/main" id="{FE19BED5-FBBF-4EC9-854F-F5544551168C}"/>
              </a:ext>
            </a:extLst>
          </p:cNvPr>
          <p:cNvGraphicFramePr>
            <a:graphicFrameLocks noGrp="1"/>
          </p:cNvGraphicFramePr>
          <p:nvPr>
            <p:extLst>
              <p:ext uri="{D42A27DB-BD31-4B8C-83A1-F6EECF244321}">
                <p14:modId xmlns:p14="http://schemas.microsoft.com/office/powerpoint/2010/main" val="3205586369"/>
              </p:ext>
            </p:extLst>
          </p:nvPr>
        </p:nvGraphicFramePr>
        <p:xfrm>
          <a:off x="4768850" y="1475510"/>
          <a:ext cx="2654300" cy="2225040"/>
        </p:xfrm>
        <a:graphic>
          <a:graphicData uri="http://schemas.openxmlformats.org/drawingml/2006/table">
            <a:tbl>
              <a:tblPr firstRow="1" bandRow="1">
                <a:tableStyleId>{BAB51536-194C-4DF1-BF3E-D65146005E30}</a:tableStyleId>
              </a:tblPr>
              <a:tblGrid>
                <a:gridCol w="1473200">
                  <a:extLst>
                    <a:ext uri="{9D8B030D-6E8A-4147-A177-3AD203B41FA5}">
                      <a16:colId xmlns:a16="http://schemas.microsoft.com/office/drawing/2014/main" val="3700469510"/>
                    </a:ext>
                  </a:extLst>
                </a:gridCol>
                <a:gridCol w="1181100">
                  <a:extLst>
                    <a:ext uri="{9D8B030D-6E8A-4147-A177-3AD203B41FA5}">
                      <a16:colId xmlns:a16="http://schemas.microsoft.com/office/drawing/2014/main" val="1858386585"/>
                    </a:ext>
                  </a:extLst>
                </a:gridCol>
              </a:tblGrid>
              <a:tr h="370840">
                <a:tc>
                  <a:txBody>
                    <a:bodyPr/>
                    <a:lstStyle/>
                    <a:p>
                      <a:pPr algn="ctr"/>
                      <a:r>
                        <a:rPr lang="en-US" b="1" dirty="0"/>
                        <a:t>Parameter</a:t>
                      </a:r>
                      <a:endParaRPr lang="id-ID" b="1" dirty="0"/>
                    </a:p>
                  </a:txBody>
                  <a:tcPr anchor="ctr"/>
                </a:tc>
                <a:tc>
                  <a:txBody>
                    <a:bodyPr/>
                    <a:lstStyle/>
                    <a:p>
                      <a:pPr algn="ctr"/>
                      <a:r>
                        <a:rPr lang="en-US" b="1" dirty="0"/>
                        <a:t>Nilai</a:t>
                      </a:r>
                      <a:endParaRPr lang="id-ID" b="1" dirty="0"/>
                    </a:p>
                  </a:txBody>
                  <a:tcPr anchor="ctr"/>
                </a:tc>
                <a:extLst>
                  <a:ext uri="{0D108BD9-81ED-4DB2-BD59-A6C34878D82A}">
                    <a16:rowId xmlns:a16="http://schemas.microsoft.com/office/drawing/2014/main" val="2833796453"/>
                  </a:ext>
                </a:extLst>
              </a:tr>
              <a:tr h="370840">
                <a:tc>
                  <a:txBody>
                    <a:bodyPr/>
                    <a:lstStyle/>
                    <a:p>
                      <a:pPr algn="ctr"/>
                      <a:r>
                        <a:rPr lang="en-US" dirty="0"/>
                        <a:t>Epochs</a:t>
                      </a:r>
                      <a:endParaRPr lang="id-ID" dirty="0"/>
                    </a:p>
                  </a:txBody>
                  <a:tcPr/>
                </a:tc>
                <a:tc>
                  <a:txBody>
                    <a:bodyPr/>
                    <a:lstStyle/>
                    <a:p>
                      <a:pPr algn="ctr"/>
                      <a:r>
                        <a:rPr lang="en-US" dirty="0"/>
                        <a:t>100</a:t>
                      </a:r>
                      <a:endParaRPr lang="id-ID" dirty="0"/>
                    </a:p>
                  </a:txBody>
                  <a:tcPr/>
                </a:tc>
                <a:extLst>
                  <a:ext uri="{0D108BD9-81ED-4DB2-BD59-A6C34878D82A}">
                    <a16:rowId xmlns:a16="http://schemas.microsoft.com/office/drawing/2014/main" val="1774670095"/>
                  </a:ext>
                </a:extLst>
              </a:tr>
              <a:tr h="370840">
                <a:tc>
                  <a:txBody>
                    <a:bodyPr/>
                    <a:lstStyle/>
                    <a:p>
                      <a:pPr algn="ctr"/>
                      <a:r>
                        <a:rPr lang="en-US" i="1" dirty="0"/>
                        <a:t>Image Size</a:t>
                      </a:r>
                      <a:endParaRPr lang="id-ID" i="1" dirty="0"/>
                    </a:p>
                  </a:txBody>
                  <a:tcPr/>
                </a:tc>
                <a:tc>
                  <a:txBody>
                    <a:bodyPr/>
                    <a:lstStyle/>
                    <a:p>
                      <a:pPr algn="ctr"/>
                      <a:r>
                        <a:rPr lang="en-US" dirty="0"/>
                        <a:t>640</a:t>
                      </a:r>
                      <a:endParaRPr lang="id-ID" dirty="0"/>
                    </a:p>
                  </a:txBody>
                  <a:tcPr/>
                </a:tc>
                <a:extLst>
                  <a:ext uri="{0D108BD9-81ED-4DB2-BD59-A6C34878D82A}">
                    <a16:rowId xmlns:a16="http://schemas.microsoft.com/office/drawing/2014/main" val="1716135522"/>
                  </a:ext>
                </a:extLst>
              </a:tr>
              <a:tr h="370840">
                <a:tc>
                  <a:txBody>
                    <a:bodyPr/>
                    <a:lstStyle/>
                    <a:p>
                      <a:pPr algn="ctr"/>
                      <a:r>
                        <a:rPr lang="en-US" i="1" dirty="0"/>
                        <a:t>Batch Size</a:t>
                      </a:r>
                      <a:endParaRPr lang="id-ID" i="1" dirty="0"/>
                    </a:p>
                  </a:txBody>
                  <a:tcPr/>
                </a:tc>
                <a:tc>
                  <a:txBody>
                    <a:bodyPr/>
                    <a:lstStyle/>
                    <a:p>
                      <a:pPr algn="ctr"/>
                      <a:r>
                        <a:rPr lang="en-US" dirty="0"/>
                        <a:t>8</a:t>
                      </a:r>
                      <a:endParaRPr lang="id-ID" dirty="0"/>
                    </a:p>
                  </a:txBody>
                  <a:tcPr/>
                </a:tc>
                <a:extLst>
                  <a:ext uri="{0D108BD9-81ED-4DB2-BD59-A6C34878D82A}">
                    <a16:rowId xmlns:a16="http://schemas.microsoft.com/office/drawing/2014/main" val="138739729"/>
                  </a:ext>
                </a:extLst>
              </a:tr>
              <a:tr h="370840">
                <a:tc>
                  <a:txBody>
                    <a:bodyPr/>
                    <a:lstStyle/>
                    <a:p>
                      <a:pPr algn="ctr"/>
                      <a:r>
                        <a:rPr lang="en-US" i="1" dirty="0"/>
                        <a:t>Patience</a:t>
                      </a:r>
                      <a:endParaRPr lang="id-ID" i="1" dirty="0"/>
                    </a:p>
                  </a:txBody>
                  <a:tcPr/>
                </a:tc>
                <a:tc>
                  <a:txBody>
                    <a:bodyPr/>
                    <a:lstStyle/>
                    <a:p>
                      <a:pPr algn="ctr"/>
                      <a:r>
                        <a:rPr lang="en-US" dirty="0"/>
                        <a:t>10</a:t>
                      </a:r>
                      <a:endParaRPr lang="id-ID" dirty="0"/>
                    </a:p>
                  </a:txBody>
                  <a:tcPr/>
                </a:tc>
                <a:extLst>
                  <a:ext uri="{0D108BD9-81ED-4DB2-BD59-A6C34878D82A}">
                    <a16:rowId xmlns:a16="http://schemas.microsoft.com/office/drawing/2014/main" val="2240828641"/>
                  </a:ext>
                </a:extLst>
              </a:tr>
              <a:tr h="370840">
                <a:tc>
                  <a:txBody>
                    <a:bodyPr/>
                    <a:lstStyle/>
                    <a:p>
                      <a:pPr algn="ctr"/>
                      <a:r>
                        <a:rPr lang="en-US" i="1" dirty="0"/>
                        <a:t>Workers</a:t>
                      </a:r>
                      <a:endParaRPr lang="id-ID" i="1" dirty="0"/>
                    </a:p>
                  </a:txBody>
                  <a:tcPr/>
                </a:tc>
                <a:tc>
                  <a:txBody>
                    <a:bodyPr/>
                    <a:lstStyle/>
                    <a:p>
                      <a:pPr algn="ctr"/>
                      <a:r>
                        <a:rPr lang="en-US" dirty="0"/>
                        <a:t>4</a:t>
                      </a:r>
                      <a:endParaRPr lang="id-ID" dirty="0"/>
                    </a:p>
                  </a:txBody>
                  <a:tcPr/>
                </a:tc>
                <a:extLst>
                  <a:ext uri="{0D108BD9-81ED-4DB2-BD59-A6C34878D82A}">
                    <a16:rowId xmlns:a16="http://schemas.microsoft.com/office/drawing/2014/main" val="1072262388"/>
                  </a:ext>
                </a:extLst>
              </a:tr>
            </a:tbl>
          </a:graphicData>
        </a:graphic>
      </p:graphicFrame>
    </p:spTree>
    <p:extLst>
      <p:ext uri="{BB962C8B-B14F-4D97-AF65-F5344CB8AC3E}">
        <p14:creationId xmlns:p14="http://schemas.microsoft.com/office/powerpoint/2010/main" val="513218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g370f4e648af_0_26"/>
          <p:cNvSpPr txBox="1">
            <a:spLocks noGrp="1"/>
          </p:cNvSpPr>
          <p:nvPr>
            <p:ph type="title"/>
          </p:nvPr>
        </p:nvSpPr>
        <p:spPr>
          <a:xfrm>
            <a:off x="838200" y="5592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b="1" dirty="0">
                <a:solidFill>
                  <a:schemeClr val="dk1"/>
                </a:solidFill>
                <a:latin typeface="Arial"/>
                <a:ea typeface="Arial"/>
                <a:cs typeface="Arial"/>
                <a:sym typeface="Arial"/>
              </a:rPr>
              <a:t>Area </a:t>
            </a:r>
            <a:r>
              <a:rPr lang="en-US" sz="3600" b="1" dirty="0" err="1">
                <a:solidFill>
                  <a:schemeClr val="dk1"/>
                </a:solidFill>
                <a:latin typeface="Arial"/>
                <a:ea typeface="Arial"/>
                <a:cs typeface="Arial"/>
                <a:sym typeface="Arial"/>
              </a:rPr>
              <a:t>Deteksi</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Pelanggaran</a:t>
            </a:r>
            <a:endParaRPr b="1" dirty="0">
              <a:latin typeface="Arial"/>
              <a:ea typeface="Arial"/>
              <a:cs typeface="Arial"/>
              <a:sym typeface="Arial"/>
            </a:endParaRPr>
          </a:p>
        </p:txBody>
      </p:sp>
      <p:pic>
        <p:nvPicPr>
          <p:cNvPr id="5" name="Picture 4">
            <a:extLst>
              <a:ext uri="{FF2B5EF4-FFF2-40B4-BE49-F238E27FC236}">
                <a16:creationId xmlns:a16="http://schemas.microsoft.com/office/drawing/2014/main" id="{93E02EE5-C3F7-40FE-AEFF-04C598D83659}"/>
              </a:ext>
            </a:extLst>
          </p:cNvPr>
          <p:cNvPicPr>
            <a:picLocks noChangeAspect="1"/>
          </p:cNvPicPr>
          <p:nvPr/>
        </p:nvPicPr>
        <p:blipFill>
          <a:blip r:embed="rId3"/>
          <a:stretch>
            <a:fillRect/>
          </a:stretch>
        </p:blipFill>
        <p:spPr>
          <a:xfrm>
            <a:off x="2761784" y="1652339"/>
            <a:ext cx="6668431" cy="3553321"/>
          </a:xfrm>
          <a:prstGeom prst="rect">
            <a:avLst/>
          </a:prstGeom>
        </p:spPr>
      </p:pic>
    </p:spTree>
    <p:extLst>
      <p:ext uri="{BB962C8B-B14F-4D97-AF65-F5344CB8AC3E}">
        <p14:creationId xmlns:p14="http://schemas.microsoft.com/office/powerpoint/2010/main" val="3958255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g370f4e648af_0_26"/>
          <p:cNvSpPr txBox="1">
            <a:spLocks noGrp="1"/>
          </p:cNvSpPr>
          <p:nvPr>
            <p:ph type="title"/>
          </p:nvPr>
        </p:nvSpPr>
        <p:spPr>
          <a:xfrm>
            <a:off x="838200" y="685800"/>
            <a:ext cx="9245600" cy="1253580"/>
          </a:xfrm>
          <a:prstGeom prst="rect">
            <a:avLst/>
          </a:prstGeom>
          <a:noFill/>
          <a:ln>
            <a:noFill/>
          </a:ln>
        </p:spPr>
        <p:txBody>
          <a:bodyPr spcFirstLastPara="1" wrap="square" lIns="91425" tIns="45700" rIns="91425" bIns="45700" anchor="ctr" anchorCtr="0">
            <a:normAutofit fontScale="90000"/>
          </a:bodyPr>
          <a:lstStyle/>
          <a:p>
            <a:r>
              <a:rPr lang="id-ID" sz="4400" dirty="0"/>
              <a:t>Logika Deteksi per Jenis Pelanggaran</a:t>
            </a:r>
          </a:p>
        </p:txBody>
      </p:sp>
      <p:graphicFrame>
        <p:nvGraphicFramePr>
          <p:cNvPr id="3" name="Table 3">
            <a:extLst>
              <a:ext uri="{FF2B5EF4-FFF2-40B4-BE49-F238E27FC236}">
                <a16:creationId xmlns:a16="http://schemas.microsoft.com/office/drawing/2014/main" id="{E00D289B-7DD0-4656-B593-0B3EEC525113}"/>
              </a:ext>
            </a:extLst>
          </p:cNvPr>
          <p:cNvGraphicFramePr>
            <a:graphicFrameLocks noGrp="1"/>
          </p:cNvGraphicFramePr>
          <p:nvPr>
            <p:extLst>
              <p:ext uri="{D42A27DB-BD31-4B8C-83A1-F6EECF244321}">
                <p14:modId xmlns:p14="http://schemas.microsoft.com/office/powerpoint/2010/main" val="1714499904"/>
              </p:ext>
            </p:extLst>
          </p:nvPr>
        </p:nvGraphicFramePr>
        <p:xfrm>
          <a:off x="2374900" y="2484966"/>
          <a:ext cx="8128000" cy="2722880"/>
        </p:xfrm>
        <a:graphic>
          <a:graphicData uri="http://schemas.openxmlformats.org/drawingml/2006/table">
            <a:tbl>
              <a:tblPr firstRow="1" bandRow="1">
                <a:tableStyleId>{BAB51536-194C-4DF1-BF3E-D65146005E30}</a:tableStyleId>
              </a:tblPr>
              <a:tblGrid>
                <a:gridCol w="2781300">
                  <a:extLst>
                    <a:ext uri="{9D8B030D-6E8A-4147-A177-3AD203B41FA5}">
                      <a16:colId xmlns:a16="http://schemas.microsoft.com/office/drawing/2014/main" val="1795827445"/>
                    </a:ext>
                  </a:extLst>
                </a:gridCol>
                <a:gridCol w="5346700">
                  <a:extLst>
                    <a:ext uri="{9D8B030D-6E8A-4147-A177-3AD203B41FA5}">
                      <a16:colId xmlns:a16="http://schemas.microsoft.com/office/drawing/2014/main" val="3273439537"/>
                    </a:ext>
                  </a:extLst>
                </a:gridCol>
              </a:tblGrid>
              <a:tr h="370840">
                <a:tc>
                  <a:txBody>
                    <a:bodyPr/>
                    <a:lstStyle/>
                    <a:p>
                      <a:pPr algn="ctr"/>
                      <a:r>
                        <a:rPr lang="en-US" b="1" dirty="0" err="1"/>
                        <a:t>Jenis</a:t>
                      </a:r>
                      <a:r>
                        <a:rPr lang="en-US" b="1" dirty="0"/>
                        <a:t> </a:t>
                      </a:r>
                      <a:r>
                        <a:rPr lang="en-US" b="1" dirty="0" err="1"/>
                        <a:t>Pelanggaran</a:t>
                      </a:r>
                      <a:endParaRPr lang="id-ID" b="1" dirty="0"/>
                    </a:p>
                  </a:txBody>
                  <a:tcPr/>
                </a:tc>
                <a:tc>
                  <a:txBody>
                    <a:bodyPr/>
                    <a:lstStyle/>
                    <a:p>
                      <a:pPr algn="ctr"/>
                      <a:r>
                        <a:rPr lang="en-US" b="1" dirty="0" err="1"/>
                        <a:t>Logika</a:t>
                      </a:r>
                      <a:r>
                        <a:rPr lang="en-US" b="1" dirty="0"/>
                        <a:t> </a:t>
                      </a:r>
                      <a:r>
                        <a:rPr lang="en-US" b="1" dirty="0" err="1"/>
                        <a:t>Deteksi</a:t>
                      </a:r>
                      <a:endParaRPr lang="id-ID" b="1" dirty="0"/>
                    </a:p>
                  </a:txBody>
                  <a:tcPr/>
                </a:tc>
                <a:extLst>
                  <a:ext uri="{0D108BD9-81ED-4DB2-BD59-A6C34878D82A}">
                    <a16:rowId xmlns:a16="http://schemas.microsoft.com/office/drawing/2014/main" val="2541532503"/>
                  </a:ext>
                </a:extLst>
              </a:tr>
              <a:tr h="370840">
                <a:tc>
                  <a:txBody>
                    <a:bodyPr/>
                    <a:lstStyle/>
                    <a:p>
                      <a:r>
                        <a:rPr lang="en-US" dirty="0"/>
                        <a:t>Cue Ball Scratch</a:t>
                      </a:r>
                      <a:endParaRPr lang="id-ID" dirty="0"/>
                    </a:p>
                  </a:txBody>
                  <a:tcPr/>
                </a:tc>
                <a:tc>
                  <a:txBody>
                    <a:bodyPr/>
                    <a:lstStyle/>
                    <a:p>
                      <a:r>
                        <a:rPr lang="en-US" dirty="0" err="1"/>
                        <a:t>Terdeteksi</a:t>
                      </a:r>
                      <a:r>
                        <a:rPr lang="en-US" dirty="0"/>
                        <a:t> </a:t>
                      </a:r>
                      <a:r>
                        <a:rPr lang="en-US" dirty="0" err="1"/>
                        <a:t>ketika</a:t>
                      </a:r>
                      <a:r>
                        <a:rPr lang="en-US" dirty="0"/>
                        <a:t> </a:t>
                      </a:r>
                      <a:r>
                        <a:rPr lang="en-US" i="1" dirty="0"/>
                        <a:t>bounding box</a:t>
                      </a:r>
                      <a:r>
                        <a:rPr lang="en-US" dirty="0"/>
                        <a:t> </a:t>
                      </a:r>
                      <a:r>
                        <a:rPr lang="en-US" i="1" dirty="0"/>
                        <a:t>cue ball</a:t>
                      </a:r>
                      <a:r>
                        <a:rPr lang="en-US" i="0" dirty="0"/>
                        <a:t> </a:t>
                      </a:r>
                      <a:r>
                        <a:rPr lang="en-US" i="0" dirty="0" err="1"/>
                        <a:t>tumpang</a:t>
                      </a:r>
                      <a:r>
                        <a:rPr lang="en-US" i="0" dirty="0"/>
                        <a:t> </a:t>
                      </a:r>
                      <a:r>
                        <a:rPr lang="en-US" i="0" dirty="0" err="1"/>
                        <a:t>tindih</a:t>
                      </a:r>
                      <a:r>
                        <a:rPr lang="en-US" i="0" dirty="0"/>
                        <a:t> </a:t>
                      </a:r>
                      <a:r>
                        <a:rPr lang="en-US" i="0" dirty="0" err="1"/>
                        <a:t>sepenuhnya</a:t>
                      </a:r>
                      <a:r>
                        <a:rPr lang="en-US" i="0" dirty="0"/>
                        <a:t> </a:t>
                      </a:r>
                      <a:r>
                        <a:rPr lang="en-US" i="0" dirty="0" err="1"/>
                        <a:t>dengan</a:t>
                      </a:r>
                      <a:r>
                        <a:rPr lang="en-US" i="0" dirty="0"/>
                        <a:t> </a:t>
                      </a:r>
                      <a:r>
                        <a:rPr lang="en-US" i="1" dirty="0"/>
                        <a:t>bounding box pocket</a:t>
                      </a:r>
                      <a:r>
                        <a:rPr lang="en-US" i="0" dirty="0"/>
                        <a:t>, </a:t>
                      </a:r>
                      <a:r>
                        <a:rPr lang="en-US" i="0" dirty="0" err="1"/>
                        <a:t>atau</a:t>
                      </a:r>
                      <a:r>
                        <a:rPr lang="en-US" i="0" dirty="0"/>
                        <a:t> </a:t>
                      </a:r>
                      <a:r>
                        <a:rPr lang="en-US" i="1" dirty="0"/>
                        <a:t>cue ball</a:t>
                      </a:r>
                      <a:r>
                        <a:rPr lang="en-US" i="0" dirty="0"/>
                        <a:t> </a:t>
                      </a:r>
                      <a:r>
                        <a:rPr lang="en-US" i="0" dirty="0" err="1"/>
                        <a:t>menghilang</a:t>
                      </a:r>
                      <a:r>
                        <a:rPr lang="en-US" i="0" dirty="0"/>
                        <a:t> </a:t>
                      </a:r>
                      <a:r>
                        <a:rPr lang="en-US" i="0" dirty="0" err="1"/>
                        <a:t>tidak</a:t>
                      </a:r>
                      <a:r>
                        <a:rPr lang="en-US" i="0" dirty="0"/>
                        <a:t> </a:t>
                      </a:r>
                      <a:r>
                        <a:rPr lang="en-US" i="0" dirty="0" err="1"/>
                        <a:t>terdeteksi</a:t>
                      </a:r>
                      <a:r>
                        <a:rPr lang="en-US" i="0" dirty="0"/>
                        <a:t> </a:t>
                      </a:r>
                      <a:r>
                        <a:rPr lang="en-US" i="0" dirty="0" err="1"/>
                        <a:t>saat</a:t>
                      </a:r>
                      <a:r>
                        <a:rPr lang="en-US" i="0" dirty="0"/>
                        <a:t> </a:t>
                      </a:r>
                      <a:r>
                        <a:rPr lang="en-US" i="0" dirty="0" err="1"/>
                        <a:t>berdekatan</a:t>
                      </a:r>
                      <a:r>
                        <a:rPr lang="en-US" i="0" dirty="0"/>
                        <a:t> </a:t>
                      </a:r>
                      <a:r>
                        <a:rPr lang="en-US" i="0" dirty="0" err="1"/>
                        <a:t>dengan</a:t>
                      </a:r>
                      <a:r>
                        <a:rPr lang="en-US" i="0" dirty="0"/>
                        <a:t> </a:t>
                      </a:r>
                      <a:r>
                        <a:rPr lang="en-US" i="1" dirty="0"/>
                        <a:t>area pocket</a:t>
                      </a:r>
                      <a:r>
                        <a:rPr lang="en-US" i="0" dirty="0"/>
                        <a:t>.</a:t>
                      </a:r>
                      <a:endParaRPr lang="id-ID" dirty="0"/>
                    </a:p>
                  </a:txBody>
                  <a:tcPr/>
                </a:tc>
                <a:extLst>
                  <a:ext uri="{0D108BD9-81ED-4DB2-BD59-A6C34878D82A}">
                    <a16:rowId xmlns:a16="http://schemas.microsoft.com/office/drawing/2014/main" val="525255109"/>
                  </a:ext>
                </a:extLst>
              </a:tr>
              <a:tr h="370840">
                <a:tc>
                  <a:txBody>
                    <a:bodyPr/>
                    <a:lstStyle/>
                    <a:p>
                      <a:r>
                        <a:rPr lang="en-US" dirty="0"/>
                        <a:t>No Legal Hit</a:t>
                      </a:r>
                      <a:endParaRPr lang="id-ID" dirty="0"/>
                    </a:p>
                  </a:txBody>
                  <a:tcPr/>
                </a:tc>
                <a:tc>
                  <a:txBody>
                    <a:bodyPr/>
                    <a:lstStyle/>
                    <a:p>
                      <a:r>
                        <a:rPr lang="en-US" dirty="0" err="1"/>
                        <a:t>Bila</a:t>
                      </a:r>
                      <a:r>
                        <a:rPr lang="en-US" dirty="0"/>
                        <a:t> bola yang </a:t>
                      </a:r>
                      <a:r>
                        <a:rPr lang="en-US" dirty="0" err="1"/>
                        <a:t>dikenakan</a:t>
                      </a:r>
                      <a:r>
                        <a:rPr lang="en-US" dirty="0"/>
                        <a:t> oleh </a:t>
                      </a:r>
                      <a:r>
                        <a:rPr lang="en-US" i="1" dirty="0"/>
                        <a:t>cue ball </a:t>
                      </a:r>
                      <a:r>
                        <a:rPr lang="en-US" i="0" dirty="0" err="1"/>
                        <a:t>pertama</a:t>
                      </a:r>
                      <a:r>
                        <a:rPr lang="en-US" i="0" dirty="0"/>
                        <a:t> </a:t>
                      </a:r>
                      <a:r>
                        <a:rPr lang="en-US" i="0" dirty="0" err="1"/>
                        <a:t>bukan</a:t>
                      </a:r>
                      <a:r>
                        <a:rPr lang="en-US" i="0" dirty="0"/>
                        <a:t> target yang </a:t>
                      </a:r>
                      <a:r>
                        <a:rPr lang="en-US" i="0" dirty="0" err="1"/>
                        <a:t>sah</a:t>
                      </a:r>
                      <a:r>
                        <a:rPr lang="en-US" i="0" dirty="0"/>
                        <a:t>, </a:t>
                      </a:r>
                      <a:r>
                        <a:rPr lang="en-US" i="0" dirty="0" err="1"/>
                        <a:t>atau</a:t>
                      </a:r>
                      <a:r>
                        <a:rPr lang="en-US" i="0" dirty="0"/>
                        <a:t> </a:t>
                      </a:r>
                      <a:r>
                        <a:rPr lang="en-US" i="0" dirty="0" err="1"/>
                        <a:t>tidak</a:t>
                      </a:r>
                      <a:r>
                        <a:rPr lang="en-US" i="0" dirty="0"/>
                        <a:t> </a:t>
                      </a:r>
                      <a:r>
                        <a:rPr lang="en-US" i="0" dirty="0" err="1"/>
                        <a:t>ada</a:t>
                      </a:r>
                      <a:r>
                        <a:rPr lang="en-US" i="0" dirty="0"/>
                        <a:t> </a:t>
                      </a:r>
                      <a:r>
                        <a:rPr lang="en-US" i="0" dirty="0" err="1"/>
                        <a:t>kontak</a:t>
                      </a:r>
                      <a:r>
                        <a:rPr lang="en-US" i="0" dirty="0"/>
                        <a:t> yang </a:t>
                      </a:r>
                      <a:r>
                        <a:rPr lang="en-US" i="0" dirty="0" err="1"/>
                        <a:t>dapat</a:t>
                      </a:r>
                      <a:r>
                        <a:rPr lang="en-US" i="0" dirty="0"/>
                        <a:t> </a:t>
                      </a:r>
                      <a:r>
                        <a:rPr lang="en-US" i="0" dirty="0" err="1"/>
                        <a:t>dikonfirmasi</a:t>
                      </a:r>
                      <a:r>
                        <a:rPr lang="en-US" i="0" dirty="0"/>
                        <a:t>, </a:t>
                      </a:r>
                      <a:r>
                        <a:rPr lang="en-US" i="0" dirty="0" err="1"/>
                        <a:t>maka</a:t>
                      </a:r>
                      <a:r>
                        <a:rPr lang="en-US" i="0" dirty="0"/>
                        <a:t> </a:t>
                      </a:r>
                      <a:r>
                        <a:rPr lang="en-US" i="1" dirty="0"/>
                        <a:t>foul</a:t>
                      </a:r>
                      <a:r>
                        <a:rPr lang="en-US" i="0" dirty="0"/>
                        <a:t> </a:t>
                      </a:r>
                      <a:r>
                        <a:rPr lang="en-US" i="0" dirty="0" err="1"/>
                        <a:t>terjadi</a:t>
                      </a:r>
                      <a:r>
                        <a:rPr lang="en-US" i="0" dirty="0"/>
                        <a:t>.</a:t>
                      </a:r>
                      <a:endParaRPr lang="id-ID" dirty="0"/>
                    </a:p>
                  </a:txBody>
                  <a:tcPr/>
                </a:tc>
                <a:extLst>
                  <a:ext uri="{0D108BD9-81ED-4DB2-BD59-A6C34878D82A}">
                    <a16:rowId xmlns:a16="http://schemas.microsoft.com/office/drawing/2014/main" val="1695539640"/>
                  </a:ext>
                </a:extLst>
              </a:tr>
              <a:tr h="370840">
                <a:tc>
                  <a:txBody>
                    <a:bodyPr/>
                    <a:lstStyle/>
                    <a:p>
                      <a:r>
                        <a:rPr lang="en-US" dirty="0"/>
                        <a:t>Cue Ball Off Field</a:t>
                      </a:r>
                      <a:endParaRPr lang="id-ID"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d-ID" dirty="0"/>
                        <a:t>Terdeteksi ketika </a:t>
                      </a:r>
                      <a:r>
                        <a:rPr lang="id-ID" i="1" dirty="0"/>
                        <a:t>cue ball</a:t>
                      </a:r>
                      <a:r>
                        <a:rPr lang="id-ID" dirty="0"/>
                        <a:t> tidak lagi terdeteksi di area permainan.</a:t>
                      </a:r>
                    </a:p>
                  </a:txBody>
                  <a:tcPr/>
                </a:tc>
                <a:extLst>
                  <a:ext uri="{0D108BD9-81ED-4DB2-BD59-A6C34878D82A}">
                    <a16:rowId xmlns:a16="http://schemas.microsoft.com/office/drawing/2014/main" val="1053324844"/>
                  </a:ext>
                </a:extLst>
              </a:tr>
              <a:tr h="370840">
                <a:tc>
                  <a:txBody>
                    <a:bodyPr/>
                    <a:lstStyle/>
                    <a:p>
                      <a:r>
                        <a:rPr lang="en-US" dirty="0"/>
                        <a:t>No Rail Contact on Shot</a:t>
                      </a:r>
                      <a:endParaRPr lang="id-ID" dirty="0"/>
                    </a:p>
                  </a:txBody>
                  <a:tcPr/>
                </a:tc>
                <a:tc>
                  <a:txBody>
                    <a:bodyPr/>
                    <a:lstStyle/>
                    <a:p>
                      <a:r>
                        <a:rPr lang="en-US" dirty="0"/>
                        <a:t>Setelah </a:t>
                      </a:r>
                      <a:r>
                        <a:rPr lang="en-US" i="1" dirty="0"/>
                        <a:t>cue ball </a:t>
                      </a:r>
                      <a:r>
                        <a:rPr lang="en-US" i="0" dirty="0" err="1"/>
                        <a:t>mengenai</a:t>
                      </a:r>
                      <a:r>
                        <a:rPr lang="en-US" i="0" dirty="0"/>
                        <a:t> </a:t>
                      </a:r>
                      <a:r>
                        <a:rPr lang="en-US" i="1" dirty="0"/>
                        <a:t>object ball</a:t>
                      </a:r>
                      <a:r>
                        <a:rPr lang="en-US" i="0" dirty="0"/>
                        <a:t>, </a:t>
                      </a:r>
                      <a:r>
                        <a:rPr lang="en-US" i="0" dirty="0" err="1"/>
                        <a:t>apabila</a:t>
                      </a:r>
                      <a:r>
                        <a:rPr lang="en-US" i="0" dirty="0"/>
                        <a:t> bola </a:t>
                      </a:r>
                      <a:r>
                        <a:rPr lang="en-US" i="0" dirty="0" err="1"/>
                        <a:t>tidak</a:t>
                      </a:r>
                      <a:r>
                        <a:rPr lang="en-US" i="0" dirty="0"/>
                        <a:t> </a:t>
                      </a:r>
                      <a:r>
                        <a:rPr lang="en-US" i="0" dirty="0" err="1"/>
                        <a:t>di</a:t>
                      </a:r>
                      <a:r>
                        <a:rPr lang="en-US" i="1" dirty="0" err="1"/>
                        <a:t>pocket</a:t>
                      </a:r>
                      <a:r>
                        <a:rPr lang="en-US" i="0" dirty="0"/>
                        <a:t> </a:t>
                      </a:r>
                      <a:r>
                        <a:rPr lang="en-US" i="0" dirty="0" err="1"/>
                        <a:t>atau</a:t>
                      </a:r>
                      <a:r>
                        <a:rPr lang="en-US" i="0" dirty="0"/>
                        <a:t> </a:t>
                      </a:r>
                      <a:r>
                        <a:rPr lang="en-US" i="0" dirty="0" err="1"/>
                        <a:t>menyentuh</a:t>
                      </a:r>
                      <a:r>
                        <a:rPr lang="en-US" i="0" dirty="0"/>
                        <a:t> </a:t>
                      </a:r>
                      <a:r>
                        <a:rPr lang="en-US" i="1" dirty="0"/>
                        <a:t>rail zone</a:t>
                      </a:r>
                      <a:r>
                        <a:rPr lang="en-US" i="0" dirty="0"/>
                        <a:t>, </a:t>
                      </a:r>
                      <a:r>
                        <a:rPr lang="en-US" i="0" dirty="0" err="1"/>
                        <a:t>maka</a:t>
                      </a:r>
                      <a:r>
                        <a:rPr lang="en-US" i="0" dirty="0"/>
                        <a:t> </a:t>
                      </a:r>
                      <a:r>
                        <a:rPr lang="en-US" i="1" dirty="0"/>
                        <a:t>foul</a:t>
                      </a:r>
                      <a:r>
                        <a:rPr lang="en-US" i="0" dirty="0"/>
                        <a:t>.</a:t>
                      </a:r>
                      <a:endParaRPr lang="id-ID" dirty="0"/>
                    </a:p>
                  </a:txBody>
                  <a:tcPr/>
                </a:tc>
                <a:extLst>
                  <a:ext uri="{0D108BD9-81ED-4DB2-BD59-A6C34878D82A}">
                    <a16:rowId xmlns:a16="http://schemas.microsoft.com/office/drawing/2014/main" val="874979429"/>
                  </a:ext>
                </a:extLst>
              </a:tr>
            </a:tbl>
          </a:graphicData>
        </a:graphic>
      </p:graphicFrame>
    </p:spTree>
    <p:extLst>
      <p:ext uri="{BB962C8B-B14F-4D97-AF65-F5344CB8AC3E}">
        <p14:creationId xmlns:p14="http://schemas.microsoft.com/office/powerpoint/2010/main" val="2623613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g370f4e648af_0_26"/>
          <p:cNvSpPr txBox="1">
            <a:spLocks noGrp="1"/>
          </p:cNvSpPr>
          <p:nvPr>
            <p:ph type="title"/>
          </p:nvPr>
        </p:nvSpPr>
        <p:spPr>
          <a:xfrm>
            <a:off x="838200" y="5592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b="1" dirty="0">
                <a:solidFill>
                  <a:schemeClr val="dk1"/>
                </a:solidFill>
                <a:latin typeface="Arial"/>
                <a:ea typeface="Arial"/>
                <a:cs typeface="Arial"/>
                <a:sym typeface="Arial"/>
              </a:rPr>
              <a:t>Alur Program</a:t>
            </a:r>
            <a:endParaRPr b="1" dirty="0">
              <a:latin typeface="Arial"/>
              <a:ea typeface="Arial"/>
              <a:cs typeface="Arial"/>
              <a:sym typeface="Arial"/>
            </a:endParaRPr>
          </a:p>
        </p:txBody>
      </p:sp>
      <p:pic>
        <p:nvPicPr>
          <p:cNvPr id="3" name="Picture 2">
            <a:extLst>
              <a:ext uri="{FF2B5EF4-FFF2-40B4-BE49-F238E27FC236}">
                <a16:creationId xmlns:a16="http://schemas.microsoft.com/office/drawing/2014/main" id="{8C269021-CA25-443C-BBFD-47A5E178C205}"/>
              </a:ext>
            </a:extLst>
          </p:cNvPr>
          <p:cNvPicPr>
            <a:picLocks noChangeAspect="1"/>
          </p:cNvPicPr>
          <p:nvPr/>
        </p:nvPicPr>
        <p:blipFill>
          <a:blip r:embed="rId3"/>
          <a:stretch>
            <a:fillRect/>
          </a:stretch>
        </p:blipFill>
        <p:spPr>
          <a:xfrm>
            <a:off x="2973571" y="1562100"/>
            <a:ext cx="6522853" cy="4408585"/>
          </a:xfrm>
          <a:prstGeom prst="rect">
            <a:avLst/>
          </a:prstGeom>
        </p:spPr>
      </p:pic>
    </p:spTree>
    <p:extLst>
      <p:ext uri="{BB962C8B-B14F-4D97-AF65-F5344CB8AC3E}">
        <p14:creationId xmlns:p14="http://schemas.microsoft.com/office/powerpoint/2010/main" val="3907657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g370f4e648af_0_26"/>
          <p:cNvSpPr txBox="1">
            <a:spLocks noGrp="1"/>
          </p:cNvSpPr>
          <p:nvPr>
            <p:ph type="title"/>
          </p:nvPr>
        </p:nvSpPr>
        <p:spPr>
          <a:xfrm>
            <a:off x="838200" y="5592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b="1" dirty="0" err="1">
                <a:solidFill>
                  <a:schemeClr val="dk1"/>
                </a:solidFill>
                <a:latin typeface="Arial"/>
                <a:ea typeface="Arial"/>
                <a:cs typeface="Arial"/>
                <a:sym typeface="Arial"/>
              </a:rPr>
              <a:t>Kompilasi</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pt</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ke</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hef</a:t>
            </a:r>
            <a:endParaRPr b="1" dirty="0">
              <a:latin typeface="Arial"/>
              <a:ea typeface="Arial"/>
              <a:cs typeface="Arial"/>
              <a:sym typeface="Arial"/>
            </a:endParaRPr>
          </a:p>
        </p:txBody>
      </p:sp>
      <p:pic>
        <p:nvPicPr>
          <p:cNvPr id="6" name="Picture 5">
            <a:extLst>
              <a:ext uri="{FF2B5EF4-FFF2-40B4-BE49-F238E27FC236}">
                <a16:creationId xmlns:a16="http://schemas.microsoft.com/office/drawing/2014/main" id="{29952180-945C-48B6-ADAD-5A8855A6D15D}"/>
              </a:ext>
            </a:extLst>
          </p:cNvPr>
          <p:cNvPicPr>
            <a:picLocks noChangeAspect="1"/>
          </p:cNvPicPr>
          <p:nvPr/>
        </p:nvPicPr>
        <p:blipFill>
          <a:blip r:embed="rId3"/>
          <a:stretch>
            <a:fillRect/>
          </a:stretch>
        </p:blipFill>
        <p:spPr>
          <a:xfrm>
            <a:off x="5065032" y="1510559"/>
            <a:ext cx="2275756" cy="4788192"/>
          </a:xfrm>
          <a:prstGeom prst="rect">
            <a:avLst/>
          </a:prstGeom>
        </p:spPr>
      </p:pic>
    </p:spTree>
    <p:extLst>
      <p:ext uri="{BB962C8B-B14F-4D97-AF65-F5344CB8AC3E}">
        <p14:creationId xmlns:p14="http://schemas.microsoft.com/office/powerpoint/2010/main" val="1382997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g370f4e648af_0_26"/>
          <p:cNvSpPr txBox="1">
            <a:spLocks noGrp="1"/>
          </p:cNvSpPr>
          <p:nvPr>
            <p:ph type="title"/>
          </p:nvPr>
        </p:nvSpPr>
        <p:spPr>
          <a:xfrm>
            <a:off x="711199" y="673550"/>
            <a:ext cx="10515600" cy="7683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ts val="4400"/>
              <a:buFont typeface="Arial"/>
              <a:buNone/>
            </a:pPr>
            <a:r>
              <a:rPr lang="en-US" sz="3600" b="1" dirty="0" err="1">
                <a:solidFill>
                  <a:schemeClr val="dk1"/>
                </a:solidFill>
                <a:latin typeface="Arial"/>
                <a:ea typeface="Arial"/>
                <a:cs typeface="Arial"/>
                <a:sym typeface="Arial"/>
              </a:rPr>
              <a:t>Evaluasi</a:t>
            </a:r>
            <a:r>
              <a:rPr lang="en-US" sz="3600" b="1" dirty="0">
                <a:solidFill>
                  <a:schemeClr val="dk1"/>
                </a:solidFill>
                <a:latin typeface="Arial"/>
                <a:ea typeface="Arial"/>
                <a:cs typeface="Arial"/>
                <a:sym typeface="Arial"/>
              </a:rPr>
              <a:t> Model, </a:t>
            </a:r>
            <a:r>
              <a:rPr lang="en-US" sz="3600" b="1" dirty="0" err="1">
                <a:solidFill>
                  <a:schemeClr val="dk1"/>
                </a:solidFill>
                <a:latin typeface="Arial"/>
                <a:ea typeface="Arial"/>
                <a:cs typeface="Arial"/>
                <a:sym typeface="Arial"/>
              </a:rPr>
              <a:t>Sistem</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Pelanggaran</a:t>
            </a:r>
            <a:r>
              <a:rPr lang="en-US" sz="3600" b="1" dirty="0">
                <a:solidFill>
                  <a:schemeClr val="dk1"/>
                </a:solidFill>
                <a:latin typeface="Arial"/>
                <a:ea typeface="Arial"/>
                <a:cs typeface="Arial"/>
                <a:sym typeface="Arial"/>
              </a:rPr>
              <a:t>, dan</a:t>
            </a:r>
            <a:br>
              <a:rPr lang="en-US" sz="3600" b="1" dirty="0">
                <a:solidFill>
                  <a:schemeClr val="dk1"/>
                </a:solidFill>
                <a:latin typeface="Arial"/>
                <a:ea typeface="Arial"/>
                <a:cs typeface="Arial"/>
                <a:sym typeface="Arial"/>
              </a:rPr>
            </a:br>
            <a:r>
              <a:rPr lang="en-US" sz="3600" b="1" dirty="0">
                <a:solidFill>
                  <a:schemeClr val="dk1"/>
                </a:solidFill>
                <a:latin typeface="Arial"/>
                <a:ea typeface="Arial"/>
                <a:cs typeface="Arial"/>
                <a:sym typeface="Arial"/>
              </a:rPr>
              <a:t>Kinerja pada Edge Device</a:t>
            </a:r>
            <a:endParaRPr b="1" dirty="0">
              <a:latin typeface="Arial"/>
              <a:ea typeface="Arial"/>
              <a:cs typeface="Arial"/>
              <a:sym typeface="Arial"/>
            </a:endParaRPr>
          </a:p>
        </p:txBody>
      </p:sp>
      <p:graphicFrame>
        <p:nvGraphicFramePr>
          <p:cNvPr id="3" name="Table 3">
            <a:extLst>
              <a:ext uri="{FF2B5EF4-FFF2-40B4-BE49-F238E27FC236}">
                <a16:creationId xmlns:a16="http://schemas.microsoft.com/office/drawing/2014/main" id="{7BABC226-8987-48DA-8E85-47E4F1014738}"/>
              </a:ext>
            </a:extLst>
          </p:cNvPr>
          <p:cNvGraphicFramePr>
            <a:graphicFrameLocks noGrp="1"/>
          </p:cNvGraphicFramePr>
          <p:nvPr>
            <p:extLst>
              <p:ext uri="{D42A27DB-BD31-4B8C-83A1-F6EECF244321}">
                <p14:modId xmlns:p14="http://schemas.microsoft.com/office/powerpoint/2010/main" val="2670924743"/>
              </p:ext>
            </p:extLst>
          </p:nvPr>
        </p:nvGraphicFramePr>
        <p:xfrm>
          <a:off x="2527300" y="1837266"/>
          <a:ext cx="8153400" cy="3674534"/>
        </p:xfrm>
        <a:graphic>
          <a:graphicData uri="http://schemas.openxmlformats.org/drawingml/2006/table">
            <a:tbl>
              <a:tblPr firstRow="1" bandRow="1">
                <a:tableStyleId>{BAB51536-194C-4DF1-BF3E-D65146005E30}</a:tableStyleId>
              </a:tblPr>
              <a:tblGrid>
                <a:gridCol w="2717800">
                  <a:extLst>
                    <a:ext uri="{9D8B030D-6E8A-4147-A177-3AD203B41FA5}">
                      <a16:colId xmlns:a16="http://schemas.microsoft.com/office/drawing/2014/main" val="1334160905"/>
                    </a:ext>
                  </a:extLst>
                </a:gridCol>
                <a:gridCol w="2717800">
                  <a:extLst>
                    <a:ext uri="{9D8B030D-6E8A-4147-A177-3AD203B41FA5}">
                      <a16:colId xmlns:a16="http://schemas.microsoft.com/office/drawing/2014/main" val="3377653671"/>
                    </a:ext>
                  </a:extLst>
                </a:gridCol>
                <a:gridCol w="2717800">
                  <a:extLst>
                    <a:ext uri="{9D8B030D-6E8A-4147-A177-3AD203B41FA5}">
                      <a16:colId xmlns:a16="http://schemas.microsoft.com/office/drawing/2014/main" val="4248772654"/>
                    </a:ext>
                  </a:extLst>
                </a:gridCol>
              </a:tblGrid>
              <a:tr h="531170">
                <a:tc>
                  <a:txBody>
                    <a:bodyPr/>
                    <a:lstStyle/>
                    <a:p>
                      <a:pPr algn="ctr"/>
                      <a:r>
                        <a:rPr lang="en-US" b="1" dirty="0" err="1"/>
                        <a:t>Aspek</a:t>
                      </a:r>
                      <a:r>
                        <a:rPr lang="en-US" b="1" dirty="0"/>
                        <a:t> </a:t>
                      </a:r>
                      <a:r>
                        <a:rPr lang="en-US" b="1" dirty="0" err="1"/>
                        <a:t>Evaluasi</a:t>
                      </a:r>
                      <a:endParaRPr lang="id-ID" b="1" dirty="0"/>
                    </a:p>
                  </a:txBody>
                  <a:tcPr anchor="ctr"/>
                </a:tc>
                <a:tc>
                  <a:txBody>
                    <a:bodyPr/>
                    <a:lstStyle/>
                    <a:p>
                      <a:pPr algn="ctr"/>
                      <a:r>
                        <a:rPr lang="en-US" b="1" dirty="0" err="1"/>
                        <a:t>Tujuan</a:t>
                      </a:r>
                      <a:endParaRPr lang="id-ID" b="1" dirty="0"/>
                    </a:p>
                  </a:txBody>
                  <a:tcPr anchor="ctr"/>
                </a:tc>
                <a:tc>
                  <a:txBody>
                    <a:bodyPr/>
                    <a:lstStyle/>
                    <a:p>
                      <a:pPr algn="ctr"/>
                      <a:r>
                        <a:rPr lang="en-US" b="1" dirty="0" err="1"/>
                        <a:t>Metrik</a:t>
                      </a:r>
                      <a:r>
                        <a:rPr lang="en-US" b="1" dirty="0"/>
                        <a:t> yang </a:t>
                      </a:r>
                      <a:r>
                        <a:rPr lang="en-US" b="1" dirty="0" err="1"/>
                        <a:t>Digunakan</a:t>
                      </a:r>
                      <a:endParaRPr lang="id-ID" b="1" dirty="0"/>
                    </a:p>
                  </a:txBody>
                  <a:tcPr anchor="ctr"/>
                </a:tc>
                <a:extLst>
                  <a:ext uri="{0D108BD9-81ED-4DB2-BD59-A6C34878D82A}">
                    <a16:rowId xmlns:a16="http://schemas.microsoft.com/office/drawing/2014/main" val="2511439879"/>
                  </a:ext>
                </a:extLst>
              </a:tr>
              <a:tr h="1047788">
                <a:tc>
                  <a:txBody>
                    <a:bodyPr/>
                    <a:lstStyle/>
                    <a:p>
                      <a:r>
                        <a:rPr lang="en-US" dirty="0"/>
                        <a:t>Model </a:t>
                      </a:r>
                      <a:r>
                        <a:rPr lang="en-US" dirty="0" err="1"/>
                        <a:t>Deteksi</a:t>
                      </a:r>
                      <a:r>
                        <a:rPr lang="en-US" dirty="0"/>
                        <a:t> </a:t>
                      </a:r>
                      <a:r>
                        <a:rPr lang="en-US" dirty="0" err="1"/>
                        <a:t>Objek</a:t>
                      </a:r>
                      <a:endParaRPr lang="id-ID" dirty="0"/>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d-ID" dirty="0"/>
                        <a:t>Mengukur kemampuan model mendeteksi bola, </a:t>
                      </a:r>
                      <a:r>
                        <a:rPr lang="id-ID" i="1" dirty="0"/>
                        <a:t>pocket</a:t>
                      </a:r>
                      <a:r>
                        <a:rPr lang="id-ID" dirty="0"/>
                        <a:t>, dan objek meja</a:t>
                      </a:r>
                      <a:r>
                        <a:rPr lang="en-US" dirty="0"/>
                        <a:t> </a:t>
                      </a:r>
                      <a:r>
                        <a:rPr lang="en-US" dirty="0" err="1"/>
                        <a:t>lainnya</a:t>
                      </a:r>
                      <a:endParaRPr lang="id-ID" dirty="0"/>
                    </a:p>
                  </a:txBody>
                  <a:tcPr/>
                </a:tc>
                <a:tc>
                  <a:txBody>
                    <a:bodyPr/>
                    <a:lstStyle/>
                    <a:p>
                      <a:r>
                        <a:rPr lang="en-US" dirty="0"/>
                        <a:t>Precision, Recall, mAP@50, mAP@75, mAP@50-95, </a:t>
                      </a:r>
                      <a:r>
                        <a:rPr lang="en-US" dirty="0" err="1"/>
                        <a:t>evaluasi</a:t>
                      </a:r>
                      <a:r>
                        <a:rPr lang="en-US" dirty="0"/>
                        <a:t> per </a:t>
                      </a:r>
                      <a:r>
                        <a:rPr lang="en-US" dirty="0" err="1"/>
                        <a:t>kelas</a:t>
                      </a:r>
                      <a:endParaRPr lang="id-ID" dirty="0"/>
                    </a:p>
                  </a:txBody>
                  <a:tcPr/>
                </a:tc>
                <a:extLst>
                  <a:ext uri="{0D108BD9-81ED-4DB2-BD59-A6C34878D82A}">
                    <a16:rowId xmlns:a16="http://schemas.microsoft.com/office/drawing/2014/main" val="3399503746"/>
                  </a:ext>
                </a:extLst>
              </a:tr>
              <a:tr h="1047788">
                <a:tc>
                  <a:txBody>
                    <a:bodyPr/>
                    <a:lstStyle/>
                    <a:p>
                      <a:r>
                        <a:rPr lang="en-US" dirty="0" err="1"/>
                        <a:t>Sistem</a:t>
                      </a:r>
                      <a:r>
                        <a:rPr lang="en-US" dirty="0"/>
                        <a:t> </a:t>
                      </a:r>
                      <a:r>
                        <a:rPr lang="en-US" dirty="0" err="1"/>
                        <a:t>Deteksi</a:t>
                      </a:r>
                      <a:r>
                        <a:rPr lang="en-US" dirty="0"/>
                        <a:t> </a:t>
                      </a:r>
                      <a:r>
                        <a:rPr lang="en-US" dirty="0" err="1"/>
                        <a:t>Pelanggaran</a:t>
                      </a:r>
                      <a:endParaRPr lang="id-ID" dirty="0"/>
                    </a:p>
                  </a:txBody>
                  <a:tcPr anchor="ctr"/>
                </a:tc>
                <a:tc>
                  <a:txBody>
                    <a:bodyPr/>
                    <a:lstStyle/>
                    <a:p>
                      <a:r>
                        <a:rPr lang="en-US" dirty="0" err="1"/>
                        <a:t>Mengukur</a:t>
                      </a:r>
                      <a:r>
                        <a:rPr lang="en-US" dirty="0"/>
                        <a:t> </a:t>
                      </a:r>
                      <a:r>
                        <a:rPr lang="en-US" dirty="0" err="1"/>
                        <a:t>kemampuan</a:t>
                      </a:r>
                      <a:r>
                        <a:rPr lang="en-US" dirty="0"/>
                        <a:t> </a:t>
                      </a:r>
                      <a:r>
                        <a:rPr lang="en-US" dirty="0" err="1"/>
                        <a:t>sistem</a:t>
                      </a:r>
                      <a:r>
                        <a:rPr lang="en-US" dirty="0"/>
                        <a:t> </a:t>
                      </a:r>
                      <a:r>
                        <a:rPr lang="en-US" dirty="0" err="1"/>
                        <a:t>dalam</a:t>
                      </a:r>
                      <a:r>
                        <a:rPr lang="en-US" dirty="0"/>
                        <a:t> </a:t>
                      </a:r>
                      <a:r>
                        <a:rPr lang="en-US" dirty="0" err="1"/>
                        <a:t>menentukan</a:t>
                      </a:r>
                      <a:r>
                        <a:rPr lang="en-US" dirty="0"/>
                        <a:t> foul</a:t>
                      </a:r>
                      <a:endParaRPr lang="id-ID"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d-ID" dirty="0"/>
                        <a:t>Jumlah video benar, jumlah video salah, akurasi per kategori, akurasi total</a:t>
                      </a:r>
                    </a:p>
                  </a:txBody>
                  <a:tcPr/>
                </a:tc>
                <a:extLst>
                  <a:ext uri="{0D108BD9-81ED-4DB2-BD59-A6C34878D82A}">
                    <a16:rowId xmlns:a16="http://schemas.microsoft.com/office/drawing/2014/main" val="1822527700"/>
                  </a:ext>
                </a:extLst>
              </a:tr>
              <a:tr h="1047788">
                <a:tc>
                  <a:txBody>
                    <a:bodyPr/>
                    <a:lstStyle/>
                    <a:p>
                      <a:r>
                        <a:rPr lang="en-US" dirty="0"/>
                        <a:t>Kinerja pada Edge Device</a:t>
                      </a:r>
                      <a:endParaRPr lang="id-ID" dirty="0"/>
                    </a:p>
                  </a:txBody>
                  <a:tcPr anchor="ctr"/>
                </a:tc>
                <a:tc>
                  <a:txBody>
                    <a:bodyPr/>
                    <a:lstStyle/>
                    <a:p>
                      <a:r>
                        <a:rPr lang="en-US" dirty="0" err="1"/>
                        <a:t>Membandingkan</a:t>
                      </a:r>
                      <a:r>
                        <a:rPr lang="en-US" dirty="0"/>
                        <a:t> </a:t>
                      </a:r>
                      <a:r>
                        <a:rPr lang="en-US" dirty="0" err="1"/>
                        <a:t>performa</a:t>
                      </a:r>
                      <a:r>
                        <a:rPr lang="en-US" dirty="0"/>
                        <a:t> pada CPU Raspberry Pi 5 dan Hailo-8L </a:t>
                      </a:r>
                      <a:endParaRPr lang="id-ID"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d-ID" dirty="0"/>
                        <a:t>FPS, waktu proses per frame/ms, CPU peak, RAM peak</a:t>
                      </a:r>
                    </a:p>
                  </a:txBody>
                  <a:tcPr/>
                </a:tc>
                <a:extLst>
                  <a:ext uri="{0D108BD9-81ED-4DB2-BD59-A6C34878D82A}">
                    <a16:rowId xmlns:a16="http://schemas.microsoft.com/office/drawing/2014/main" val="3216849286"/>
                  </a:ext>
                </a:extLst>
              </a:tr>
            </a:tbl>
          </a:graphicData>
        </a:graphic>
      </p:graphicFrame>
    </p:spTree>
    <p:extLst>
      <p:ext uri="{BB962C8B-B14F-4D97-AF65-F5344CB8AC3E}">
        <p14:creationId xmlns:p14="http://schemas.microsoft.com/office/powerpoint/2010/main" val="3130211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2" name="Rectangle 1">
            <a:extLst>
              <a:ext uri="{FF2B5EF4-FFF2-40B4-BE49-F238E27FC236}">
                <a16:creationId xmlns:a16="http://schemas.microsoft.com/office/drawing/2014/main" id="{8B0F03D9-73D3-4EAA-8688-361860D83213}"/>
              </a:ext>
            </a:extLst>
          </p:cNvPr>
          <p:cNvSpPr/>
          <p:nvPr/>
        </p:nvSpPr>
        <p:spPr>
          <a:xfrm>
            <a:off x="5735978" y="1107440"/>
            <a:ext cx="1066800" cy="4643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5" name="Google Shape;475;p6"/>
          <p:cNvSpPr txBox="1">
            <a:spLocks noGrp="1"/>
          </p:cNvSpPr>
          <p:nvPr>
            <p:ph type="title"/>
          </p:nvPr>
        </p:nvSpPr>
        <p:spPr>
          <a:xfrm>
            <a:off x="3690475" y="211200"/>
            <a:ext cx="5558400" cy="966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400"/>
              <a:buFont typeface="Arial"/>
              <a:buNone/>
            </a:pPr>
            <a:r>
              <a:rPr lang="en-US" sz="3200" dirty="0">
                <a:solidFill>
                  <a:schemeClr val="dk1"/>
                </a:solidFill>
              </a:rPr>
              <a:t>Hasil </a:t>
            </a:r>
            <a:r>
              <a:rPr lang="en-US" sz="3200" dirty="0" err="1">
                <a:solidFill>
                  <a:schemeClr val="dk1"/>
                </a:solidFill>
              </a:rPr>
              <a:t>Evaluasi</a:t>
            </a:r>
            <a:r>
              <a:rPr lang="en-US" sz="3200" dirty="0">
                <a:solidFill>
                  <a:schemeClr val="dk1"/>
                </a:solidFill>
              </a:rPr>
              <a:t> Model </a:t>
            </a:r>
            <a:r>
              <a:rPr lang="en-US" sz="3200" dirty="0" err="1">
                <a:solidFill>
                  <a:schemeClr val="dk1"/>
                </a:solidFill>
              </a:rPr>
              <a:t>Deteksi</a:t>
            </a:r>
            <a:r>
              <a:rPr lang="en-US" sz="3200" dirty="0">
                <a:solidFill>
                  <a:schemeClr val="dk1"/>
                </a:solidFill>
              </a:rPr>
              <a:t> </a:t>
            </a:r>
            <a:r>
              <a:rPr lang="en-US" sz="3200" dirty="0" err="1">
                <a:solidFill>
                  <a:schemeClr val="dk1"/>
                </a:solidFill>
              </a:rPr>
              <a:t>Objek</a:t>
            </a:r>
            <a:endParaRPr sz="1050" dirty="0">
              <a:solidFill>
                <a:schemeClr val="dk1"/>
              </a:solidFill>
            </a:endParaRPr>
          </a:p>
        </p:txBody>
      </p:sp>
      <p:pic>
        <p:nvPicPr>
          <p:cNvPr id="476" name="Google Shape;476;p6" descr="A close up of a ceiling&#10;&#10;Description automatically generated"/>
          <p:cNvPicPr preferRelativeResize="0">
            <a:picLocks noGrp="1"/>
          </p:cNvPicPr>
          <p:nvPr>
            <p:ph type="body" idx="1"/>
          </p:nvPr>
        </p:nvPicPr>
        <p:blipFill rotWithShape="1">
          <a:blip r:embed="rId3">
            <a:alphaModFix/>
          </a:blip>
          <a:srcRect l="32196" r="32193"/>
          <a:stretch/>
        </p:blipFill>
        <p:spPr>
          <a:xfrm>
            <a:off x="0" y="0"/>
            <a:ext cx="3224212" cy="6400800"/>
          </a:xfrm>
          <a:prstGeom prst="rect">
            <a:avLst/>
          </a:prstGeom>
          <a:noFill/>
          <a:ln>
            <a:noFill/>
          </a:ln>
        </p:spPr>
      </p:pic>
      <p:graphicFrame>
        <p:nvGraphicFramePr>
          <p:cNvPr id="6" name="Table 6">
            <a:extLst>
              <a:ext uri="{FF2B5EF4-FFF2-40B4-BE49-F238E27FC236}">
                <a16:creationId xmlns:a16="http://schemas.microsoft.com/office/drawing/2014/main" id="{5E706E96-FB66-43B9-AAD8-31BC5E9EFDF5}"/>
              </a:ext>
            </a:extLst>
          </p:cNvPr>
          <p:cNvGraphicFramePr>
            <a:graphicFrameLocks noGrp="1"/>
          </p:cNvGraphicFramePr>
          <p:nvPr>
            <p:extLst>
              <p:ext uri="{D42A27DB-BD31-4B8C-83A1-F6EECF244321}">
                <p14:modId xmlns:p14="http://schemas.microsoft.com/office/powerpoint/2010/main" val="955157184"/>
              </p:ext>
            </p:extLst>
          </p:nvPr>
        </p:nvGraphicFramePr>
        <p:xfrm>
          <a:off x="3690475" y="1849120"/>
          <a:ext cx="8128002" cy="1483360"/>
        </p:xfrm>
        <a:graphic>
          <a:graphicData uri="http://schemas.openxmlformats.org/drawingml/2006/table">
            <a:tbl>
              <a:tblPr firstRow="1" bandRow="1">
                <a:tableStyleId>{BAB51536-194C-4DF1-BF3E-D65146005E30}</a:tableStyleId>
              </a:tblPr>
              <a:tblGrid>
                <a:gridCol w="1354667">
                  <a:extLst>
                    <a:ext uri="{9D8B030D-6E8A-4147-A177-3AD203B41FA5}">
                      <a16:colId xmlns:a16="http://schemas.microsoft.com/office/drawing/2014/main" val="2720630730"/>
                    </a:ext>
                  </a:extLst>
                </a:gridCol>
                <a:gridCol w="1354667">
                  <a:extLst>
                    <a:ext uri="{9D8B030D-6E8A-4147-A177-3AD203B41FA5}">
                      <a16:colId xmlns:a16="http://schemas.microsoft.com/office/drawing/2014/main" val="2931124512"/>
                    </a:ext>
                  </a:extLst>
                </a:gridCol>
                <a:gridCol w="1354667">
                  <a:extLst>
                    <a:ext uri="{9D8B030D-6E8A-4147-A177-3AD203B41FA5}">
                      <a16:colId xmlns:a16="http://schemas.microsoft.com/office/drawing/2014/main" val="2470533027"/>
                    </a:ext>
                  </a:extLst>
                </a:gridCol>
                <a:gridCol w="1354667">
                  <a:extLst>
                    <a:ext uri="{9D8B030D-6E8A-4147-A177-3AD203B41FA5}">
                      <a16:colId xmlns:a16="http://schemas.microsoft.com/office/drawing/2014/main" val="2627318299"/>
                    </a:ext>
                  </a:extLst>
                </a:gridCol>
                <a:gridCol w="1354667">
                  <a:extLst>
                    <a:ext uri="{9D8B030D-6E8A-4147-A177-3AD203B41FA5}">
                      <a16:colId xmlns:a16="http://schemas.microsoft.com/office/drawing/2014/main" val="495248489"/>
                    </a:ext>
                  </a:extLst>
                </a:gridCol>
                <a:gridCol w="1354667">
                  <a:extLst>
                    <a:ext uri="{9D8B030D-6E8A-4147-A177-3AD203B41FA5}">
                      <a16:colId xmlns:a16="http://schemas.microsoft.com/office/drawing/2014/main" val="980649847"/>
                    </a:ext>
                  </a:extLst>
                </a:gridCol>
              </a:tblGrid>
              <a:tr h="370840">
                <a:tc>
                  <a:txBody>
                    <a:bodyPr/>
                    <a:lstStyle/>
                    <a:p>
                      <a:pPr algn="ctr"/>
                      <a:r>
                        <a:rPr lang="en-US" dirty="0"/>
                        <a:t>Model</a:t>
                      </a:r>
                      <a:endParaRPr lang="id-ID" dirty="0"/>
                    </a:p>
                  </a:txBody>
                  <a:tcPr/>
                </a:tc>
                <a:tc>
                  <a:txBody>
                    <a:bodyPr/>
                    <a:lstStyle/>
                    <a:p>
                      <a:pPr algn="ctr"/>
                      <a:r>
                        <a:rPr lang="en-US" dirty="0"/>
                        <a:t>Precision</a:t>
                      </a:r>
                      <a:endParaRPr lang="id-ID" dirty="0"/>
                    </a:p>
                  </a:txBody>
                  <a:tcPr/>
                </a:tc>
                <a:tc>
                  <a:txBody>
                    <a:bodyPr/>
                    <a:lstStyle/>
                    <a:p>
                      <a:pPr algn="ctr"/>
                      <a:r>
                        <a:rPr lang="en-US" dirty="0"/>
                        <a:t>Recall</a:t>
                      </a:r>
                      <a:endParaRPr lang="id-ID" dirty="0"/>
                    </a:p>
                  </a:txBody>
                  <a:tcPr/>
                </a:tc>
                <a:tc>
                  <a:txBody>
                    <a:bodyPr/>
                    <a:lstStyle/>
                    <a:p>
                      <a:pPr algn="ctr"/>
                      <a:r>
                        <a:rPr lang="en-US" dirty="0"/>
                        <a:t>mAP@50</a:t>
                      </a:r>
                      <a:endParaRPr lang="id-ID" dirty="0"/>
                    </a:p>
                  </a:txBody>
                  <a:tcPr/>
                </a:tc>
                <a:tc>
                  <a:txBody>
                    <a:bodyPr/>
                    <a:lstStyle/>
                    <a:p>
                      <a:pPr algn="ctr"/>
                      <a:r>
                        <a:rPr lang="en-US" dirty="0"/>
                        <a:t>mAP@75</a:t>
                      </a:r>
                      <a:endParaRPr lang="id-ID" dirty="0"/>
                    </a:p>
                  </a:txBody>
                  <a:tcPr/>
                </a:tc>
                <a:tc>
                  <a:txBody>
                    <a:bodyPr/>
                    <a:lstStyle/>
                    <a:p>
                      <a:pPr algn="ctr"/>
                      <a:r>
                        <a:rPr lang="en-US" dirty="0"/>
                        <a:t>mAP@50-95</a:t>
                      </a:r>
                      <a:endParaRPr lang="id-ID" dirty="0"/>
                    </a:p>
                  </a:txBody>
                  <a:tcPr/>
                </a:tc>
                <a:extLst>
                  <a:ext uri="{0D108BD9-81ED-4DB2-BD59-A6C34878D82A}">
                    <a16:rowId xmlns:a16="http://schemas.microsoft.com/office/drawing/2014/main" val="1656894689"/>
                  </a:ext>
                </a:extLst>
              </a:tr>
              <a:tr h="370840">
                <a:tc>
                  <a:txBody>
                    <a:bodyPr/>
                    <a:lstStyle/>
                    <a:p>
                      <a:r>
                        <a:rPr lang="en-US" dirty="0"/>
                        <a:t>YOLOv8n</a:t>
                      </a:r>
                      <a:endParaRPr lang="id-ID" dirty="0"/>
                    </a:p>
                  </a:txBody>
                  <a:tcPr/>
                </a:tc>
                <a:tc>
                  <a:txBody>
                    <a:bodyPr/>
                    <a:lstStyle/>
                    <a:p>
                      <a:r>
                        <a:rPr lang="en-US" dirty="0"/>
                        <a:t>0.927</a:t>
                      </a:r>
                      <a:endParaRPr lang="id-ID" dirty="0"/>
                    </a:p>
                  </a:txBody>
                  <a:tcPr/>
                </a:tc>
                <a:tc>
                  <a:txBody>
                    <a:bodyPr/>
                    <a:lstStyle/>
                    <a:p>
                      <a:r>
                        <a:rPr lang="en-US" dirty="0"/>
                        <a:t>0.940</a:t>
                      </a:r>
                      <a:endParaRPr lang="id-ID" dirty="0"/>
                    </a:p>
                  </a:txBody>
                  <a:tcPr/>
                </a:tc>
                <a:tc>
                  <a:txBody>
                    <a:bodyPr/>
                    <a:lstStyle/>
                    <a:p>
                      <a:r>
                        <a:rPr lang="en-US" dirty="0"/>
                        <a:t>0.958</a:t>
                      </a:r>
                      <a:endParaRPr lang="id-ID" dirty="0"/>
                    </a:p>
                  </a:txBody>
                  <a:tcPr/>
                </a:tc>
                <a:tc>
                  <a:txBody>
                    <a:bodyPr/>
                    <a:lstStyle/>
                    <a:p>
                      <a:r>
                        <a:rPr lang="en-US" dirty="0"/>
                        <a:t>0.840</a:t>
                      </a:r>
                      <a:endParaRPr lang="id-ID" dirty="0"/>
                    </a:p>
                  </a:txBody>
                  <a:tcPr/>
                </a:tc>
                <a:tc>
                  <a:txBody>
                    <a:bodyPr/>
                    <a:lstStyle/>
                    <a:p>
                      <a:r>
                        <a:rPr lang="en-US" dirty="0"/>
                        <a:t>0.718</a:t>
                      </a:r>
                      <a:endParaRPr lang="id-ID" dirty="0"/>
                    </a:p>
                  </a:txBody>
                  <a:tcPr/>
                </a:tc>
                <a:extLst>
                  <a:ext uri="{0D108BD9-81ED-4DB2-BD59-A6C34878D82A}">
                    <a16:rowId xmlns:a16="http://schemas.microsoft.com/office/drawing/2014/main" val="1430433096"/>
                  </a:ext>
                </a:extLst>
              </a:tr>
              <a:tr h="370840">
                <a:tc>
                  <a:txBody>
                    <a:bodyPr/>
                    <a:lstStyle/>
                    <a:p>
                      <a:r>
                        <a:rPr lang="en-US" dirty="0"/>
                        <a:t>YOLOv10n</a:t>
                      </a:r>
                      <a:endParaRPr lang="id-ID" dirty="0"/>
                    </a:p>
                  </a:txBody>
                  <a:tcPr/>
                </a:tc>
                <a:tc>
                  <a:txBody>
                    <a:bodyPr/>
                    <a:lstStyle/>
                    <a:p>
                      <a:r>
                        <a:rPr lang="en-US" dirty="0"/>
                        <a:t>0.936</a:t>
                      </a:r>
                      <a:endParaRPr lang="id-ID" dirty="0"/>
                    </a:p>
                  </a:txBody>
                  <a:tcPr/>
                </a:tc>
                <a:tc>
                  <a:txBody>
                    <a:bodyPr/>
                    <a:lstStyle/>
                    <a:p>
                      <a:r>
                        <a:rPr lang="en-US" dirty="0"/>
                        <a:t>0.952</a:t>
                      </a:r>
                      <a:endParaRPr lang="id-ID" dirty="0"/>
                    </a:p>
                  </a:txBody>
                  <a:tcPr>
                    <a:solidFill>
                      <a:schemeClr val="accent4">
                        <a:lumMod val="40000"/>
                        <a:lumOff val="60000"/>
                      </a:schemeClr>
                    </a:solidFill>
                  </a:tcPr>
                </a:tc>
                <a:tc>
                  <a:txBody>
                    <a:bodyPr/>
                    <a:lstStyle/>
                    <a:p>
                      <a:r>
                        <a:rPr lang="en-US" dirty="0"/>
                        <a:t>0.976</a:t>
                      </a:r>
                      <a:endParaRPr lang="id-ID" dirty="0"/>
                    </a:p>
                  </a:txBody>
                  <a:tcPr>
                    <a:solidFill>
                      <a:schemeClr val="accent4">
                        <a:lumMod val="40000"/>
                        <a:lumOff val="60000"/>
                      </a:schemeClr>
                    </a:solidFill>
                  </a:tcPr>
                </a:tc>
                <a:tc>
                  <a:txBody>
                    <a:bodyPr/>
                    <a:lstStyle/>
                    <a:p>
                      <a:r>
                        <a:rPr lang="en-US" dirty="0"/>
                        <a:t>0.860</a:t>
                      </a:r>
                      <a:endParaRPr lang="id-ID" dirty="0"/>
                    </a:p>
                  </a:txBody>
                  <a:tcPr>
                    <a:solidFill>
                      <a:schemeClr val="accent4">
                        <a:lumMod val="40000"/>
                        <a:lumOff val="60000"/>
                      </a:schemeClr>
                    </a:solidFill>
                  </a:tcPr>
                </a:tc>
                <a:tc>
                  <a:txBody>
                    <a:bodyPr/>
                    <a:lstStyle/>
                    <a:p>
                      <a:r>
                        <a:rPr lang="en-US" dirty="0"/>
                        <a:t>0.738</a:t>
                      </a:r>
                      <a:endParaRPr lang="id-ID" dirty="0"/>
                    </a:p>
                  </a:txBody>
                  <a:tcPr>
                    <a:solidFill>
                      <a:schemeClr val="accent4">
                        <a:lumMod val="40000"/>
                        <a:lumOff val="60000"/>
                      </a:schemeClr>
                    </a:solidFill>
                  </a:tcPr>
                </a:tc>
                <a:extLst>
                  <a:ext uri="{0D108BD9-81ED-4DB2-BD59-A6C34878D82A}">
                    <a16:rowId xmlns:a16="http://schemas.microsoft.com/office/drawing/2014/main" val="781577834"/>
                  </a:ext>
                </a:extLst>
              </a:tr>
              <a:tr h="370840">
                <a:tc>
                  <a:txBody>
                    <a:bodyPr/>
                    <a:lstStyle/>
                    <a:p>
                      <a:r>
                        <a:rPr lang="en-US" dirty="0"/>
                        <a:t>YOLO11n</a:t>
                      </a:r>
                      <a:endParaRPr lang="id-ID" dirty="0"/>
                    </a:p>
                  </a:txBody>
                  <a:tcPr/>
                </a:tc>
                <a:tc>
                  <a:txBody>
                    <a:bodyPr/>
                    <a:lstStyle/>
                    <a:p>
                      <a:r>
                        <a:rPr lang="en-US" dirty="0"/>
                        <a:t>0.966</a:t>
                      </a:r>
                      <a:endParaRPr lang="id-ID" dirty="0"/>
                    </a:p>
                  </a:txBody>
                  <a:tcPr>
                    <a:solidFill>
                      <a:schemeClr val="accent4">
                        <a:lumMod val="40000"/>
                        <a:lumOff val="60000"/>
                      </a:schemeClr>
                    </a:solidFill>
                  </a:tcPr>
                </a:tc>
                <a:tc>
                  <a:txBody>
                    <a:bodyPr/>
                    <a:lstStyle/>
                    <a:p>
                      <a:r>
                        <a:rPr lang="en-US" dirty="0"/>
                        <a:t>0.948</a:t>
                      </a:r>
                      <a:endParaRPr lang="id-ID" dirty="0"/>
                    </a:p>
                  </a:txBody>
                  <a:tcPr/>
                </a:tc>
                <a:tc>
                  <a:txBody>
                    <a:bodyPr/>
                    <a:lstStyle/>
                    <a:p>
                      <a:r>
                        <a:rPr lang="en-US" dirty="0"/>
                        <a:t>0.969</a:t>
                      </a:r>
                      <a:endParaRPr lang="id-ID" dirty="0"/>
                    </a:p>
                  </a:txBody>
                  <a:tcPr/>
                </a:tc>
                <a:tc>
                  <a:txBody>
                    <a:bodyPr/>
                    <a:lstStyle/>
                    <a:p>
                      <a:r>
                        <a:rPr lang="en-US" dirty="0"/>
                        <a:t>0.857</a:t>
                      </a:r>
                      <a:endParaRPr lang="id-ID" dirty="0"/>
                    </a:p>
                  </a:txBody>
                  <a:tcPr/>
                </a:tc>
                <a:tc>
                  <a:txBody>
                    <a:bodyPr/>
                    <a:lstStyle/>
                    <a:p>
                      <a:r>
                        <a:rPr lang="en-US" dirty="0"/>
                        <a:t>0.736</a:t>
                      </a:r>
                      <a:endParaRPr lang="id-ID" dirty="0"/>
                    </a:p>
                  </a:txBody>
                  <a:tcPr/>
                </a:tc>
                <a:extLst>
                  <a:ext uri="{0D108BD9-81ED-4DB2-BD59-A6C34878D82A}">
                    <a16:rowId xmlns:a16="http://schemas.microsoft.com/office/drawing/2014/main" val="3590753156"/>
                  </a:ext>
                </a:extLst>
              </a:tr>
            </a:tbl>
          </a:graphicData>
        </a:graphic>
      </p:graphicFrame>
      <p:graphicFrame>
        <p:nvGraphicFramePr>
          <p:cNvPr id="11" name="Table 6">
            <a:extLst>
              <a:ext uri="{FF2B5EF4-FFF2-40B4-BE49-F238E27FC236}">
                <a16:creationId xmlns:a16="http://schemas.microsoft.com/office/drawing/2014/main" id="{BD088F49-6933-47E2-A7CC-10966C8CD7EF}"/>
              </a:ext>
            </a:extLst>
          </p:cNvPr>
          <p:cNvGraphicFramePr>
            <a:graphicFrameLocks noGrp="1"/>
          </p:cNvGraphicFramePr>
          <p:nvPr>
            <p:extLst>
              <p:ext uri="{D42A27DB-BD31-4B8C-83A1-F6EECF244321}">
                <p14:modId xmlns:p14="http://schemas.microsoft.com/office/powerpoint/2010/main" val="3978091121"/>
              </p:ext>
            </p:extLst>
          </p:nvPr>
        </p:nvGraphicFramePr>
        <p:xfrm>
          <a:off x="3690475" y="4267200"/>
          <a:ext cx="8128002" cy="1483360"/>
        </p:xfrm>
        <a:graphic>
          <a:graphicData uri="http://schemas.openxmlformats.org/drawingml/2006/table">
            <a:tbl>
              <a:tblPr firstRow="1" bandRow="1">
                <a:tableStyleId>{BAB51536-194C-4DF1-BF3E-D65146005E30}</a:tableStyleId>
              </a:tblPr>
              <a:tblGrid>
                <a:gridCol w="1354667">
                  <a:extLst>
                    <a:ext uri="{9D8B030D-6E8A-4147-A177-3AD203B41FA5}">
                      <a16:colId xmlns:a16="http://schemas.microsoft.com/office/drawing/2014/main" val="2720630730"/>
                    </a:ext>
                  </a:extLst>
                </a:gridCol>
                <a:gridCol w="1354667">
                  <a:extLst>
                    <a:ext uri="{9D8B030D-6E8A-4147-A177-3AD203B41FA5}">
                      <a16:colId xmlns:a16="http://schemas.microsoft.com/office/drawing/2014/main" val="2931124512"/>
                    </a:ext>
                  </a:extLst>
                </a:gridCol>
                <a:gridCol w="1354667">
                  <a:extLst>
                    <a:ext uri="{9D8B030D-6E8A-4147-A177-3AD203B41FA5}">
                      <a16:colId xmlns:a16="http://schemas.microsoft.com/office/drawing/2014/main" val="2470533027"/>
                    </a:ext>
                  </a:extLst>
                </a:gridCol>
                <a:gridCol w="1354667">
                  <a:extLst>
                    <a:ext uri="{9D8B030D-6E8A-4147-A177-3AD203B41FA5}">
                      <a16:colId xmlns:a16="http://schemas.microsoft.com/office/drawing/2014/main" val="2627318299"/>
                    </a:ext>
                  </a:extLst>
                </a:gridCol>
                <a:gridCol w="1354667">
                  <a:extLst>
                    <a:ext uri="{9D8B030D-6E8A-4147-A177-3AD203B41FA5}">
                      <a16:colId xmlns:a16="http://schemas.microsoft.com/office/drawing/2014/main" val="495248489"/>
                    </a:ext>
                  </a:extLst>
                </a:gridCol>
                <a:gridCol w="1354667">
                  <a:extLst>
                    <a:ext uri="{9D8B030D-6E8A-4147-A177-3AD203B41FA5}">
                      <a16:colId xmlns:a16="http://schemas.microsoft.com/office/drawing/2014/main" val="980649847"/>
                    </a:ext>
                  </a:extLst>
                </a:gridCol>
              </a:tblGrid>
              <a:tr h="370840">
                <a:tc>
                  <a:txBody>
                    <a:bodyPr/>
                    <a:lstStyle/>
                    <a:p>
                      <a:pPr algn="ctr"/>
                      <a:r>
                        <a:rPr lang="en-US" dirty="0"/>
                        <a:t>Model</a:t>
                      </a:r>
                      <a:endParaRPr lang="id-ID" dirty="0"/>
                    </a:p>
                  </a:txBody>
                  <a:tcPr/>
                </a:tc>
                <a:tc>
                  <a:txBody>
                    <a:bodyPr/>
                    <a:lstStyle/>
                    <a:p>
                      <a:pPr algn="ctr"/>
                      <a:r>
                        <a:rPr lang="en-US" dirty="0"/>
                        <a:t>Precision</a:t>
                      </a:r>
                      <a:endParaRPr lang="id-ID" dirty="0"/>
                    </a:p>
                  </a:txBody>
                  <a:tcPr/>
                </a:tc>
                <a:tc>
                  <a:txBody>
                    <a:bodyPr/>
                    <a:lstStyle/>
                    <a:p>
                      <a:pPr algn="ctr"/>
                      <a:r>
                        <a:rPr lang="en-US" dirty="0"/>
                        <a:t>Recall</a:t>
                      </a:r>
                      <a:endParaRPr lang="id-ID" dirty="0"/>
                    </a:p>
                  </a:txBody>
                  <a:tcPr/>
                </a:tc>
                <a:tc>
                  <a:txBody>
                    <a:bodyPr/>
                    <a:lstStyle/>
                    <a:p>
                      <a:pPr algn="ctr"/>
                      <a:r>
                        <a:rPr lang="en-US" dirty="0"/>
                        <a:t>mAP@50</a:t>
                      </a:r>
                      <a:endParaRPr lang="id-ID" dirty="0"/>
                    </a:p>
                  </a:txBody>
                  <a:tcPr/>
                </a:tc>
                <a:tc>
                  <a:txBody>
                    <a:bodyPr/>
                    <a:lstStyle/>
                    <a:p>
                      <a:pPr algn="ctr"/>
                      <a:r>
                        <a:rPr lang="en-US" dirty="0"/>
                        <a:t>mAP@75</a:t>
                      </a:r>
                      <a:endParaRPr lang="id-ID" dirty="0"/>
                    </a:p>
                  </a:txBody>
                  <a:tcPr/>
                </a:tc>
                <a:tc>
                  <a:txBody>
                    <a:bodyPr/>
                    <a:lstStyle/>
                    <a:p>
                      <a:pPr algn="ctr"/>
                      <a:r>
                        <a:rPr lang="en-US" dirty="0"/>
                        <a:t>mAP@50-95</a:t>
                      </a:r>
                      <a:endParaRPr lang="id-ID" dirty="0"/>
                    </a:p>
                  </a:txBody>
                  <a:tcPr/>
                </a:tc>
                <a:extLst>
                  <a:ext uri="{0D108BD9-81ED-4DB2-BD59-A6C34878D82A}">
                    <a16:rowId xmlns:a16="http://schemas.microsoft.com/office/drawing/2014/main" val="1656894689"/>
                  </a:ext>
                </a:extLst>
              </a:tr>
              <a:tr h="370840">
                <a:tc>
                  <a:txBody>
                    <a:bodyPr/>
                    <a:lstStyle/>
                    <a:p>
                      <a:r>
                        <a:rPr lang="en-US" dirty="0"/>
                        <a:t>YOLOv8n</a:t>
                      </a:r>
                      <a:endParaRPr lang="id-ID" dirty="0"/>
                    </a:p>
                  </a:txBody>
                  <a:tcPr/>
                </a:tc>
                <a:tc>
                  <a:txBody>
                    <a:bodyPr/>
                    <a:lstStyle/>
                    <a:p>
                      <a:r>
                        <a:rPr lang="en-US" dirty="0"/>
                        <a:t>0.944</a:t>
                      </a:r>
                      <a:endParaRPr lang="id-ID" dirty="0"/>
                    </a:p>
                  </a:txBody>
                  <a:tcPr/>
                </a:tc>
                <a:tc>
                  <a:txBody>
                    <a:bodyPr/>
                    <a:lstStyle/>
                    <a:p>
                      <a:r>
                        <a:rPr lang="en-US" dirty="0"/>
                        <a:t>0.907</a:t>
                      </a:r>
                      <a:endParaRPr lang="id-ID" dirty="0"/>
                    </a:p>
                  </a:txBody>
                  <a:tcPr/>
                </a:tc>
                <a:tc>
                  <a:txBody>
                    <a:bodyPr/>
                    <a:lstStyle/>
                    <a:p>
                      <a:r>
                        <a:rPr lang="en-US" dirty="0"/>
                        <a:t>0.930</a:t>
                      </a:r>
                      <a:endParaRPr lang="id-ID" dirty="0"/>
                    </a:p>
                  </a:txBody>
                  <a:tcPr/>
                </a:tc>
                <a:tc>
                  <a:txBody>
                    <a:bodyPr/>
                    <a:lstStyle/>
                    <a:p>
                      <a:r>
                        <a:rPr lang="en-US" dirty="0"/>
                        <a:t>0.706</a:t>
                      </a:r>
                      <a:endParaRPr lang="id-ID" dirty="0"/>
                    </a:p>
                  </a:txBody>
                  <a:tcPr/>
                </a:tc>
                <a:tc>
                  <a:txBody>
                    <a:bodyPr/>
                    <a:lstStyle/>
                    <a:p>
                      <a:r>
                        <a:rPr lang="en-US" dirty="0"/>
                        <a:t>0.589</a:t>
                      </a:r>
                      <a:endParaRPr lang="id-ID" dirty="0"/>
                    </a:p>
                  </a:txBody>
                  <a:tcPr/>
                </a:tc>
                <a:extLst>
                  <a:ext uri="{0D108BD9-81ED-4DB2-BD59-A6C34878D82A}">
                    <a16:rowId xmlns:a16="http://schemas.microsoft.com/office/drawing/2014/main" val="1430433096"/>
                  </a:ext>
                </a:extLst>
              </a:tr>
              <a:tr h="370840">
                <a:tc>
                  <a:txBody>
                    <a:bodyPr/>
                    <a:lstStyle/>
                    <a:p>
                      <a:r>
                        <a:rPr lang="en-US" dirty="0"/>
                        <a:t>YOLOv10n</a:t>
                      </a:r>
                      <a:endParaRPr lang="id-ID" dirty="0"/>
                    </a:p>
                  </a:txBody>
                  <a:tcPr/>
                </a:tc>
                <a:tc>
                  <a:txBody>
                    <a:bodyPr/>
                    <a:lstStyle/>
                    <a:p>
                      <a:r>
                        <a:rPr lang="en-US" dirty="0"/>
                        <a:t>0.978</a:t>
                      </a:r>
                      <a:endParaRPr lang="id-ID" dirty="0"/>
                    </a:p>
                  </a:txBody>
                  <a:tcPr>
                    <a:solidFill>
                      <a:schemeClr val="accent4">
                        <a:lumMod val="40000"/>
                        <a:lumOff val="60000"/>
                      </a:schemeClr>
                    </a:solidFill>
                  </a:tcPr>
                </a:tc>
                <a:tc>
                  <a:txBody>
                    <a:bodyPr/>
                    <a:lstStyle/>
                    <a:p>
                      <a:r>
                        <a:rPr lang="en-US" dirty="0"/>
                        <a:t>0.919</a:t>
                      </a:r>
                      <a:endParaRPr lang="id-ID" dirty="0"/>
                    </a:p>
                  </a:txBody>
                  <a:tcPr>
                    <a:noFill/>
                  </a:tcPr>
                </a:tc>
                <a:tc>
                  <a:txBody>
                    <a:bodyPr/>
                    <a:lstStyle/>
                    <a:p>
                      <a:r>
                        <a:rPr lang="en-US" dirty="0"/>
                        <a:t>0.953</a:t>
                      </a:r>
                      <a:endParaRPr lang="id-ID" dirty="0"/>
                    </a:p>
                  </a:txBody>
                  <a:tcPr>
                    <a:solidFill>
                      <a:schemeClr val="accent4">
                        <a:lumMod val="40000"/>
                        <a:lumOff val="60000"/>
                      </a:schemeClr>
                    </a:solidFill>
                  </a:tcPr>
                </a:tc>
                <a:tc>
                  <a:txBody>
                    <a:bodyPr/>
                    <a:lstStyle/>
                    <a:p>
                      <a:r>
                        <a:rPr lang="en-US" dirty="0"/>
                        <a:t>0.775</a:t>
                      </a:r>
                      <a:endParaRPr lang="id-ID" dirty="0"/>
                    </a:p>
                  </a:txBody>
                  <a:tcPr>
                    <a:solidFill>
                      <a:schemeClr val="accent4">
                        <a:lumMod val="40000"/>
                        <a:lumOff val="60000"/>
                      </a:schemeClr>
                    </a:solidFill>
                  </a:tcPr>
                </a:tc>
                <a:tc>
                  <a:txBody>
                    <a:bodyPr/>
                    <a:lstStyle/>
                    <a:p>
                      <a:r>
                        <a:rPr lang="en-US" dirty="0"/>
                        <a:t>0.639</a:t>
                      </a:r>
                      <a:endParaRPr lang="id-ID" dirty="0"/>
                    </a:p>
                  </a:txBody>
                  <a:tcPr>
                    <a:solidFill>
                      <a:schemeClr val="accent4">
                        <a:lumMod val="40000"/>
                        <a:lumOff val="60000"/>
                      </a:schemeClr>
                    </a:solidFill>
                  </a:tcPr>
                </a:tc>
                <a:extLst>
                  <a:ext uri="{0D108BD9-81ED-4DB2-BD59-A6C34878D82A}">
                    <a16:rowId xmlns:a16="http://schemas.microsoft.com/office/drawing/2014/main" val="781577834"/>
                  </a:ext>
                </a:extLst>
              </a:tr>
              <a:tr h="370840">
                <a:tc>
                  <a:txBody>
                    <a:bodyPr/>
                    <a:lstStyle/>
                    <a:p>
                      <a:r>
                        <a:rPr lang="en-US" dirty="0"/>
                        <a:t>YOLO11n</a:t>
                      </a:r>
                      <a:endParaRPr lang="id-ID" dirty="0"/>
                    </a:p>
                  </a:txBody>
                  <a:tcPr/>
                </a:tc>
                <a:tc>
                  <a:txBody>
                    <a:bodyPr/>
                    <a:lstStyle/>
                    <a:p>
                      <a:r>
                        <a:rPr lang="en-US" dirty="0"/>
                        <a:t>0.927</a:t>
                      </a:r>
                      <a:endParaRPr lang="id-ID" dirty="0"/>
                    </a:p>
                  </a:txBody>
                  <a:tcPr/>
                </a:tc>
                <a:tc>
                  <a:txBody>
                    <a:bodyPr/>
                    <a:lstStyle/>
                    <a:p>
                      <a:r>
                        <a:rPr lang="en-US" dirty="0"/>
                        <a:t>0.924</a:t>
                      </a:r>
                      <a:endParaRPr lang="id-ID" dirty="0"/>
                    </a:p>
                  </a:txBody>
                  <a:tcPr>
                    <a:solidFill>
                      <a:schemeClr val="accent4">
                        <a:lumMod val="40000"/>
                        <a:lumOff val="60000"/>
                      </a:schemeClr>
                    </a:solidFill>
                  </a:tcPr>
                </a:tc>
                <a:tc>
                  <a:txBody>
                    <a:bodyPr/>
                    <a:lstStyle/>
                    <a:p>
                      <a:r>
                        <a:rPr lang="en-US" dirty="0"/>
                        <a:t>0.928</a:t>
                      </a:r>
                      <a:endParaRPr lang="id-ID" dirty="0"/>
                    </a:p>
                  </a:txBody>
                  <a:tcPr/>
                </a:tc>
                <a:tc>
                  <a:txBody>
                    <a:bodyPr/>
                    <a:lstStyle/>
                    <a:p>
                      <a:r>
                        <a:rPr lang="en-US" dirty="0"/>
                        <a:t>0.673</a:t>
                      </a:r>
                      <a:endParaRPr lang="id-ID" dirty="0"/>
                    </a:p>
                  </a:txBody>
                  <a:tcPr/>
                </a:tc>
                <a:tc>
                  <a:txBody>
                    <a:bodyPr/>
                    <a:lstStyle/>
                    <a:p>
                      <a:r>
                        <a:rPr lang="en-US" dirty="0"/>
                        <a:t>0.587</a:t>
                      </a:r>
                      <a:endParaRPr lang="id-ID" dirty="0"/>
                    </a:p>
                  </a:txBody>
                  <a:tcPr/>
                </a:tc>
                <a:extLst>
                  <a:ext uri="{0D108BD9-81ED-4DB2-BD59-A6C34878D82A}">
                    <a16:rowId xmlns:a16="http://schemas.microsoft.com/office/drawing/2014/main" val="3590753156"/>
                  </a:ext>
                </a:extLst>
              </a:tr>
            </a:tbl>
          </a:graphicData>
        </a:graphic>
      </p:graphicFrame>
      <p:sp>
        <p:nvSpPr>
          <p:cNvPr id="14" name="TextBox 13">
            <a:extLst>
              <a:ext uri="{FF2B5EF4-FFF2-40B4-BE49-F238E27FC236}">
                <a16:creationId xmlns:a16="http://schemas.microsoft.com/office/drawing/2014/main" id="{AB7B0C0F-42D2-43AD-83D0-1D69D79C0CA9}"/>
              </a:ext>
            </a:extLst>
          </p:cNvPr>
          <p:cNvSpPr txBox="1"/>
          <p:nvPr/>
        </p:nvSpPr>
        <p:spPr>
          <a:xfrm>
            <a:off x="3602378" y="1541343"/>
            <a:ext cx="3200400" cy="307777"/>
          </a:xfrm>
          <a:prstGeom prst="rect">
            <a:avLst/>
          </a:prstGeom>
          <a:noFill/>
        </p:spPr>
        <p:txBody>
          <a:bodyPr wrap="square" rtlCol="0">
            <a:spAutoFit/>
          </a:bodyPr>
          <a:lstStyle/>
          <a:p>
            <a:r>
              <a:rPr lang="en-US" dirty="0" err="1"/>
              <a:t>Evaluasi</a:t>
            </a:r>
            <a:r>
              <a:rPr lang="en-US" dirty="0"/>
              <a:t> pada CPU</a:t>
            </a:r>
            <a:endParaRPr lang="id-ID" dirty="0"/>
          </a:p>
        </p:txBody>
      </p:sp>
      <p:sp>
        <p:nvSpPr>
          <p:cNvPr id="15" name="TextBox 14">
            <a:extLst>
              <a:ext uri="{FF2B5EF4-FFF2-40B4-BE49-F238E27FC236}">
                <a16:creationId xmlns:a16="http://schemas.microsoft.com/office/drawing/2014/main" id="{E826BC0E-09A8-447F-989E-6C7D0BC01A51}"/>
              </a:ext>
            </a:extLst>
          </p:cNvPr>
          <p:cNvSpPr txBox="1"/>
          <p:nvPr/>
        </p:nvSpPr>
        <p:spPr>
          <a:xfrm>
            <a:off x="3602378" y="3920943"/>
            <a:ext cx="3200400" cy="307777"/>
          </a:xfrm>
          <a:prstGeom prst="rect">
            <a:avLst/>
          </a:prstGeom>
          <a:noFill/>
        </p:spPr>
        <p:txBody>
          <a:bodyPr wrap="square" rtlCol="0">
            <a:spAutoFit/>
          </a:bodyPr>
          <a:lstStyle/>
          <a:p>
            <a:r>
              <a:rPr lang="en-US" dirty="0" err="1"/>
              <a:t>Evaluasi</a:t>
            </a:r>
            <a:r>
              <a:rPr lang="en-US" dirty="0"/>
              <a:t> pada Hailo-8L Accelerator</a:t>
            </a:r>
            <a:endParaRPr lang="id-ID" dirty="0"/>
          </a:p>
        </p:txBody>
      </p:sp>
    </p:spTree>
    <p:extLst>
      <p:ext uri="{BB962C8B-B14F-4D97-AF65-F5344CB8AC3E}">
        <p14:creationId xmlns:p14="http://schemas.microsoft.com/office/powerpoint/2010/main" val="3107005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2" name="Rectangle 1">
            <a:extLst>
              <a:ext uri="{FF2B5EF4-FFF2-40B4-BE49-F238E27FC236}">
                <a16:creationId xmlns:a16="http://schemas.microsoft.com/office/drawing/2014/main" id="{8B0F03D9-73D3-4EAA-8688-361860D83213}"/>
              </a:ext>
            </a:extLst>
          </p:cNvPr>
          <p:cNvSpPr/>
          <p:nvPr/>
        </p:nvSpPr>
        <p:spPr>
          <a:xfrm>
            <a:off x="5735978" y="1107440"/>
            <a:ext cx="1066800" cy="4643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5" name="Google Shape;475;p6"/>
          <p:cNvSpPr txBox="1">
            <a:spLocks noGrp="1"/>
          </p:cNvSpPr>
          <p:nvPr>
            <p:ph type="title"/>
          </p:nvPr>
        </p:nvSpPr>
        <p:spPr>
          <a:xfrm>
            <a:off x="786715" y="452500"/>
            <a:ext cx="6240926" cy="966900"/>
          </a:xfrm>
          <a:prstGeom prst="rect">
            <a:avLst/>
          </a:prstGeom>
          <a:noFill/>
          <a:ln>
            <a:noFill/>
          </a:ln>
        </p:spPr>
        <p:txBody>
          <a:bodyPr spcFirstLastPara="1" wrap="square" lIns="91425" tIns="45700" rIns="91425" bIns="45700" anchor="ctr" anchorCtr="0">
            <a:noAutofit/>
          </a:bodyPr>
          <a:lstStyle/>
          <a:p>
            <a:r>
              <a:rPr lang="id-ID" sz="3200" dirty="0"/>
              <a:t>Evaluasi Deteksi Objek per Kelas</a:t>
            </a:r>
          </a:p>
        </p:txBody>
      </p:sp>
      <p:pic>
        <p:nvPicPr>
          <p:cNvPr id="5" name="Picture 4">
            <a:extLst>
              <a:ext uri="{FF2B5EF4-FFF2-40B4-BE49-F238E27FC236}">
                <a16:creationId xmlns:a16="http://schemas.microsoft.com/office/drawing/2014/main" id="{BF296BDA-7885-4835-BCDA-ACB42293D55C}"/>
              </a:ext>
            </a:extLst>
          </p:cNvPr>
          <p:cNvPicPr>
            <a:picLocks noChangeAspect="1"/>
          </p:cNvPicPr>
          <p:nvPr/>
        </p:nvPicPr>
        <p:blipFill>
          <a:blip r:embed="rId3"/>
          <a:stretch>
            <a:fillRect/>
          </a:stretch>
        </p:blipFill>
        <p:spPr>
          <a:xfrm>
            <a:off x="492568" y="1851750"/>
            <a:ext cx="5176010" cy="3698150"/>
          </a:xfrm>
          <a:prstGeom prst="rect">
            <a:avLst/>
          </a:prstGeom>
          <a:ln>
            <a:solidFill>
              <a:schemeClr val="tx1"/>
            </a:solidFill>
          </a:ln>
        </p:spPr>
      </p:pic>
      <p:pic>
        <p:nvPicPr>
          <p:cNvPr id="7" name="Picture 6">
            <a:extLst>
              <a:ext uri="{FF2B5EF4-FFF2-40B4-BE49-F238E27FC236}">
                <a16:creationId xmlns:a16="http://schemas.microsoft.com/office/drawing/2014/main" id="{20B61CDA-9106-4FAA-8C3B-3FF4AFBB5B41}"/>
              </a:ext>
            </a:extLst>
          </p:cNvPr>
          <p:cNvPicPr>
            <a:picLocks noChangeAspect="1"/>
          </p:cNvPicPr>
          <p:nvPr/>
        </p:nvPicPr>
        <p:blipFill>
          <a:blip r:embed="rId4"/>
          <a:stretch>
            <a:fillRect/>
          </a:stretch>
        </p:blipFill>
        <p:spPr>
          <a:xfrm>
            <a:off x="6269378" y="1851750"/>
            <a:ext cx="5124375" cy="3698150"/>
          </a:xfrm>
          <a:prstGeom prst="rect">
            <a:avLst/>
          </a:prstGeom>
          <a:ln>
            <a:solidFill>
              <a:schemeClr val="tx1"/>
            </a:solidFill>
          </a:ln>
        </p:spPr>
      </p:pic>
      <p:sp>
        <p:nvSpPr>
          <p:cNvPr id="12" name="TextBox 11">
            <a:extLst>
              <a:ext uri="{FF2B5EF4-FFF2-40B4-BE49-F238E27FC236}">
                <a16:creationId xmlns:a16="http://schemas.microsoft.com/office/drawing/2014/main" id="{CD9FEF38-5246-4111-8675-D02BE46FB9C9}"/>
              </a:ext>
            </a:extLst>
          </p:cNvPr>
          <p:cNvSpPr txBox="1"/>
          <p:nvPr/>
        </p:nvSpPr>
        <p:spPr>
          <a:xfrm>
            <a:off x="6201978" y="5596671"/>
            <a:ext cx="3843722" cy="307777"/>
          </a:xfrm>
          <a:prstGeom prst="rect">
            <a:avLst/>
          </a:prstGeom>
          <a:noFill/>
        </p:spPr>
        <p:txBody>
          <a:bodyPr wrap="square" rtlCol="0">
            <a:spAutoFit/>
          </a:bodyPr>
          <a:lstStyle/>
          <a:p>
            <a:r>
              <a:rPr lang="en-US" dirty="0" err="1"/>
              <a:t>Evaluasi</a:t>
            </a:r>
            <a:r>
              <a:rPr lang="en-US" dirty="0"/>
              <a:t> per </a:t>
            </a:r>
            <a:r>
              <a:rPr lang="en-US" dirty="0" err="1"/>
              <a:t>kelas</a:t>
            </a:r>
            <a:r>
              <a:rPr lang="en-US" dirty="0"/>
              <a:t> pada Hailo-8L Accelerator</a:t>
            </a:r>
            <a:endParaRPr lang="id-ID" dirty="0"/>
          </a:p>
        </p:txBody>
      </p:sp>
      <p:sp>
        <p:nvSpPr>
          <p:cNvPr id="13" name="TextBox 12">
            <a:extLst>
              <a:ext uri="{FF2B5EF4-FFF2-40B4-BE49-F238E27FC236}">
                <a16:creationId xmlns:a16="http://schemas.microsoft.com/office/drawing/2014/main" id="{3FB0A325-13AF-41FF-99BD-19D2F7E072C3}"/>
              </a:ext>
            </a:extLst>
          </p:cNvPr>
          <p:cNvSpPr txBox="1"/>
          <p:nvPr/>
        </p:nvSpPr>
        <p:spPr>
          <a:xfrm>
            <a:off x="492568" y="5596671"/>
            <a:ext cx="3843722" cy="307777"/>
          </a:xfrm>
          <a:prstGeom prst="rect">
            <a:avLst/>
          </a:prstGeom>
          <a:noFill/>
        </p:spPr>
        <p:txBody>
          <a:bodyPr wrap="square" rtlCol="0">
            <a:spAutoFit/>
          </a:bodyPr>
          <a:lstStyle/>
          <a:p>
            <a:r>
              <a:rPr lang="en-US" dirty="0" err="1"/>
              <a:t>Evaluasi</a:t>
            </a:r>
            <a:r>
              <a:rPr lang="en-US" dirty="0"/>
              <a:t> per </a:t>
            </a:r>
            <a:r>
              <a:rPr lang="en-US" dirty="0" err="1"/>
              <a:t>kelas</a:t>
            </a:r>
            <a:r>
              <a:rPr lang="en-US" dirty="0"/>
              <a:t> pada CPU</a:t>
            </a:r>
            <a:endParaRPr lang="id-ID" dirty="0"/>
          </a:p>
        </p:txBody>
      </p:sp>
    </p:spTree>
    <p:extLst>
      <p:ext uri="{BB962C8B-B14F-4D97-AF65-F5344CB8AC3E}">
        <p14:creationId xmlns:p14="http://schemas.microsoft.com/office/powerpoint/2010/main" val="1815923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2" name="Rectangle 1">
            <a:extLst>
              <a:ext uri="{FF2B5EF4-FFF2-40B4-BE49-F238E27FC236}">
                <a16:creationId xmlns:a16="http://schemas.microsoft.com/office/drawing/2014/main" id="{8B0F03D9-73D3-4EAA-8688-361860D83213}"/>
              </a:ext>
            </a:extLst>
          </p:cNvPr>
          <p:cNvSpPr/>
          <p:nvPr/>
        </p:nvSpPr>
        <p:spPr>
          <a:xfrm>
            <a:off x="5735978" y="1107440"/>
            <a:ext cx="1066800" cy="4643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5" name="Google Shape;475;p6"/>
          <p:cNvSpPr txBox="1">
            <a:spLocks noGrp="1"/>
          </p:cNvSpPr>
          <p:nvPr>
            <p:ph type="title"/>
          </p:nvPr>
        </p:nvSpPr>
        <p:spPr>
          <a:xfrm>
            <a:off x="3682315" y="376300"/>
            <a:ext cx="5285475" cy="966900"/>
          </a:xfrm>
          <a:prstGeom prst="rect">
            <a:avLst/>
          </a:prstGeom>
          <a:noFill/>
          <a:ln>
            <a:noFill/>
          </a:ln>
        </p:spPr>
        <p:txBody>
          <a:bodyPr spcFirstLastPara="1" wrap="square" lIns="91425" tIns="45700" rIns="91425" bIns="45700" anchor="ctr" anchorCtr="0">
            <a:noAutofit/>
          </a:bodyPr>
          <a:lstStyle/>
          <a:p>
            <a:r>
              <a:rPr lang="pt-BR" sz="3200" dirty="0"/>
              <a:t>Hasil Kinerja pada Edge Device</a:t>
            </a:r>
          </a:p>
        </p:txBody>
      </p:sp>
      <p:pic>
        <p:nvPicPr>
          <p:cNvPr id="476" name="Google Shape;476;p6" descr="A close up of a ceiling&#10;&#10;Description automatically generated"/>
          <p:cNvPicPr preferRelativeResize="0">
            <a:picLocks noGrp="1"/>
          </p:cNvPicPr>
          <p:nvPr>
            <p:ph type="body" idx="1"/>
          </p:nvPr>
        </p:nvPicPr>
        <p:blipFill rotWithShape="1">
          <a:blip r:embed="rId3">
            <a:alphaModFix/>
          </a:blip>
          <a:srcRect l="32196" r="32193"/>
          <a:stretch/>
        </p:blipFill>
        <p:spPr>
          <a:xfrm>
            <a:off x="0" y="0"/>
            <a:ext cx="3224212" cy="6400800"/>
          </a:xfrm>
          <a:prstGeom prst="rect">
            <a:avLst/>
          </a:prstGeom>
          <a:noFill/>
          <a:ln>
            <a:noFill/>
          </a:ln>
        </p:spPr>
      </p:pic>
      <p:graphicFrame>
        <p:nvGraphicFramePr>
          <p:cNvPr id="5" name="Table 5">
            <a:extLst>
              <a:ext uri="{FF2B5EF4-FFF2-40B4-BE49-F238E27FC236}">
                <a16:creationId xmlns:a16="http://schemas.microsoft.com/office/drawing/2014/main" id="{07FBBBBE-66B5-4F55-B25D-295F2DF634C6}"/>
              </a:ext>
            </a:extLst>
          </p:cNvPr>
          <p:cNvGraphicFramePr>
            <a:graphicFrameLocks noGrp="1"/>
          </p:cNvGraphicFramePr>
          <p:nvPr>
            <p:extLst>
              <p:ext uri="{D42A27DB-BD31-4B8C-83A1-F6EECF244321}">
                <p14:modId xmlns:p14="http://schemas.microsoft.com/office/powerpoint/2010/main" val="684081564"/>
              </p:ext>
            </p:extLst>
          </p:nvPr>
        </p:nvGraphicFramePr>
        <p:xfrm>
          <a:off x="3556000" y="1612900"/>
          <a:ext cx="8293100" cy="2595880"/>
        </p:xfrm>
        <a:graphic>
          <a:graphicData uri="http://schemas.openxmlformats.org/drawingml/2006/table">
            <a:tbl>
              <a:tblPr firstRow="1" bandRow="1">
                <a:tableStyleId>{BAB51536-194C-4DF1-BF3E-D65146005E30}</a:tableStyleId>
              </a:tblPr>
              <a:tblGrid>
                <a:gridCol w="1371469">
                  <a:extLst>
                    <a:ext uri="{9D8B030D-6E8A-4147-A177-3AD203B41FA5}">
                      <a16:colId xmlns:a16="http://schemas.microsoft.com/office/drawing/2014/main" val="922183584"/>
                    </a:ext>
                  </a:extLst>
                </a:gridCol>
                <a:gridCol w="1007172">
                  <a:extLst>
                    <a:ext uri="{9D8B030D-6E8A-4147-A177-3AD203B41FA5}">
                      <a16:colId xmlns:a16="http://schemas.microsoft.com/office/drawing/2014/main" val="4195488305"/>
                    </a:ext>
                  </a:extLst>
                </a:gridCol>
                <a:gridCol w="1735766">
                  <a:extLst>
                    <a:ext uri="{9D8B030D-6E8A-4147-A177-3AD203B41FA5}">
                      <a16:colId xmlns:a16="http://schemas.microsoft.com/office/drawing/2014/main" val="2377284439"/>
                    </a:ext>
                  </a:extLst>
                </a:gridCol>
                <a:gridCol w="1812909">
                  <a:extLst>
                    <a:ext uri="{9D8B030D-6E8A-4147-A177-3AD203B41FA5}">
                      <a16:colId xmlns:a16="http://schemas.microsoft.com/office/drawing/2014/main" val="2231181640"/>
                    </a:ext>
                  </a:extLst>
                </a:gridCol>
                <a:gridCol w="1311467">
                  <a:extLst>
                    <a:ext uri="{9D8B030D-6E8A-4147-A177-3AD203B41FA5}">
                      <a16:colId xmlns:a16="http://schemas.microsoft.com/office/drawing/2014/main" val="1038456344"/>
                    </a:ext>
                  </a:extLst>
                </a:gridCol>
                <a:gridCol w="1054317">
                  <a:extLst>
                    <a:ext uri="{9D8B030D-6E8A-4147-A177-3AD203B41FA5}">
                      <a16:colId xmlns:a16="http://schemas.microsoft.com/office/drawing/2014/main" val="2162542543"/>
                    </a:ext>
                  </a:extLst>
                </a:gridCol>
              </a:tblGrid>
              <a:tr h="370840">
                <a:tc>
                  <a:txBody>
                    <a:bodyPr/>
                    <a:lstStyle/>
                    <a:p>
                      <a:pPr algn="ctr"/>
                      <a:r>
                        <a:rPr lang="en-US" b="1" dirty="0"/>
                        <a:t>Model</a:t>
                      </a:r>
                      <a:endParaRPr lang="id-ID" b="1" dirty="0"/>
                    </a:p>
                  </a:txBody>
                  <a:tcPr anchor="ctr"/>
                </a:tc>
                <a:tc>
                  <a:txBody>
                    <a:bodyPr/>
                    <a:lstStyle/>
                    <a:p>
                      <a:pPr algn="ctr"/>
                      <a:r>
                        <a:rPr lang="en-US" b="1" dirty="0"/>
                        <a:t>Backend</a:t>
                      </a:r>
                      <a:endParaRPr lang="id-ID" b="1" dirty="0"/>
                    </a:p>
                  </a:txBody>
                  <a:tcPr anchor="ctr"/>
                </a:tc>
                <a:tc>
                  <a:txBody>
                    <a:bodyPr/>
                    <a:lstStyle/>
                    <a:p>
                      <a:pPr algn="ctr"/>
                      <a:r>
                        <a:rPr lang="en-US" b="1" dirty="0"/>
                        <a:t>Inference</a:t>
                      </a:r>
                      <a:endParaRPr lang="id-ID" b="1" dirty="0"/>
                    </a:p>
                  </a:txBody>
                  <a:tcPr anchor="ctr"/>
                </a:tc>
                <a:tc>
                  <a:txBody>
                    <a:bodyPr/>
                    <a:lstStyle/>
                    <a:p>
                      <a:pPr algn="ctr"/>
                      <a:r>
                        <a:rPr lang="en-US" b="1" dirty="0"/>
                        <a:t>End-to-End</a:t>
                      </a:r>
                      <a:endParaRPr lang="id-ID" b="1" dirty="0"/>
                    </a:p>
                  </a:txBody>
                  <a:tcPr anchor="ctr"/>
                </a:tc>
                <a:tc>
                  <a:txBody>
                    <a:bodyPr/>
                    <a:lstStyle/>
                    <a:p>
                      <a:pPr algn="ctr"/>
                      <a:r>
                        <a:rPr lang="en-US" b="1" dirty="0"/>
                        <a:t>CPU Peak</a:t>
                      </a:r>
                      <a:endParaRPr lang="id-ID" b="1" dirty="0"/>
                    </a:p>
                  </a:txBody>
                  <a:tcPr anchor="ctr"/>
                </a:tc>
                <a:tc>
                  <a:txBody>
                    <a:bodyPr/>
                    <a:lstStyle/>
                    <a:p>
                      <a:pPr algn="ctr"/>
                      <a:r>
                        <a:rPr lang="en-US" b="1" dirty="0"/>
                        <a:t>RAM Peak</a:t>
                      </a:r>
                      <a:endParaRPr lang="id-ID" b="1" dirty="0"/>
                    </a:p>
                  </a:txBody>
                  <a:tcPr anchor="ctr"/>
                </a:tc>
                <a:extLst>
                  <a:ext uri="{0D108BD9-81ED-4DB2-BD59-A6C34878D82A}">
                    <a16:rowId xmlns:a16="http://schemas.microsoft.com/office/drawing/2014/main" val="1508483088"/>
                  </a:ext>
                </a:extLst>
              </a:tr>
              <a:tr h="370840">
                <a:tc rowSpan="2">
                  <a:txBody>
                    <a:bodyPr/>
                    <a:lstStyle/>
                    <a:p>
                      <a:pPr algn="ctr"/>
                      <a:r>
                        <a:rPr lang="en-US" dirty="0"/>
                        <a:t>YOLOv8n</a:t>
                      </a:r>
                      <a:endParaRPr lang="id-ID" dirty="0"/>
                    </a:p>
                  </a:txBody>
                  <a:tcPr anchor="ctr"/>
                </a:tc>
                <a:tc>
                  <a:txBody>
                    <a:bodyPr/>
                    <a:lstStyle/>
                    <a:p>
                      <a:r>
                        <a:rPr lang="en-US" dirty="0"/>
                        <a:t>CPU</a:t>
                      </a:r>
                      <a:endParaRPr lang="id-ID" dirty="0"/>
                    </a:p>
                  </a:txBody>
                  <a:tcPr anchor="ctr"/>
                </a:tc>
                <a:tc>
                  <a:txBody>
                    <a:bodyPr/>
                    <a:lstStyle/>
                    <a:p>
                      <a:pPr algn="ctr"/>
                      <a:r>
                        <a:rPr lang="en-US" dirty="0"/>
                        <a:t>3.92FPS/255.42ms</a:t>
                      </a:r>
                      <a:endParaRPr lang="id-ID" dirty="0"/>
                    </a:p>
                  </a:txBody>
                  <a:tcPr anchor="ctr"/>
                </a:tc>
                <a:tc>
                  <a:txBody>
                    <a:bodyPr/>
                    <a:lstStyle/>
                    <a:p>
                      <a:pPr algn="ctr"/>
                      <a:r>
                        <a:rPr lang="en-US" dirty="0"/>
                        <a:t>3.88FPS/257.65ms</a:t>
                      </a:r>
                      <a:endParaRPr lang="id-ID" dirty="0"/>
                    </a:p>
                  </a:txBody>
                  <a:tcPr anchor="ctr"/>
                </a:tc>
                <a:tc>
                  <a:txBody>
                    <a:bodyPr/>
                    <a:lstStyle/>
                    <a:p>
                      <a:pPr algn="ctr"/>
                      <a:r>
                        <a:rPr lang="en-US" dirty="0"/>
                        <a:t>88%</a:t>
                      </a:r>
                      <a:endParaRPr lang="id-ID" dirty="0"/>
                    </a:p>
                  </a:txBody>
                  <a:tcPr anchor="ctr"/>
                </a:tc>
                <a:tc>
                  <a:txBody>
                    <a:bodyPr/>
                    <a:lstStyle/>
                    <a:p>
                      <a:pPr algn="ctr"/>
                      <a:r>
                        <a:rPr lang="id-ID" dirty="0"/>
                        <a:t>3.35GB</a:t>
                      </a:r>
                    </a:p>
                  </a:txBody>
                  <a:tcPr anchor="ctr"/>
                </a:tc>
                <a:extLst>
                  <a:ext uri="{0D108BD9-81ED-4DB2-BD59-A6C34878D82A}">
                    <a16:rowId xmlns:a16="http://schemas.microsoft.com/office/drawing/2014/main" val="2008179448"/>
                  </a:ext>
                </a:extLst>
              </a:tr>
              <a:tr h="370840">
                <a:tc vMerge="1">
                  <a:txBody>
                    <a:bodyPr/>
                    <a:lstStyle/>
                    <a:p>
                      <a:endParaRPr lang="id-ID" dirty="0"/>
                    </a:p>
                  </a:txBody>
                  <a:tcPr/>
                </a:tc>
                <a:tc>
                  <a:txBody>
                    <a:bodyPr/>
                    <a:lstStyle/>
                    <a:p>
                      <a:r>
                        <a:rPr lang="en-US" dirty="0"/>
                        <a:t>Hailo-8L</a:t>
                      </a:r>
                      <a:endParaRPr lang="id-ID" dirty="0"/>
                    </a:p>
                  </a:txBody>
                  <a:tcPr anchor="ctr"/>
                </a:tc>
                <a:tc>
                  <a:txBody>
                    <a:bodyPr/>
                    <a:lstStyle/>
                    <a:p>
                      <a:pPr algn="ctr"/>
                      <a:r>
                        <a:rPr lang="en-US" dirty="0"/>
                        <a:t>82.99FPS/12.05ms</a:t>
                      </a:r>
                      <a:endParaRPr lang="id-ID" dirty="0"/>
                    </a:p>
                  </a:txBody>
                  <a:tcPr anchor="ctr">
                    <a:solidFill>
                      <a:schemeClr val="accent4">
                        <a:lumMod val="40000"/>
                        <a:lumOff val="60000"/>
                      </a:schemeClr>
                    </a:solidFill>
                  </a:tcPr>
                </a:tc>
                <a:tc>
                  <a:txBody>
                    <a:bodyPr/>
                    <a:lstStyle/>
                    <a:p>
                      <a:pPr algn="ctr"/>
                      <a:r>
                        <a:rPr lang="id-ID" dirty="0"/>
                        <a:t>60.18FPS/16.62ms</a:t>
                      </a:r>
                    </a:p>
                  </a:txBody>
                  <a:tcPr anchor="ctr">
                    <a:solidFill>
                      <a:schemeClr val="accent4">
                        <a:lumMod val="40000"/>
                        <a:lumOff val="60000"/>
                      </a:schemeClr>
                    </a:solidFill>
                  </a:tcPr>
                </a:tc>
                <a:tc>
                  <a:txBody>
                    <a:bodyPr/>
                    <a:lstStyle/>
                    <a:p>
                      <a:pPr algn="ctr"/>
                      <a:r>
                        <a:rPr lang="en-US" dirty="0"/>
                        <a:t>92%</a:t>
                      </a:r>
                      <a:endParaRPr lang="id-ID" dirty="0"/>
                    </a:p>
                  </a:txBody>
                  <a:tcPr anchor="ctr"/>
                </a:tc>
                <a:tc>
                  <a:txBody>
                    <a:bodyPr/>
                    <a:lstStyle/>
                    <a:p>
                      <a:pPr algn="ctr"/>
                      <a:r>
                        <a:rPr lang="id-ID" dirty="0"/>
                        <a:t>2.44GB </a:t>
                      </a:r>
                    </a:p>
                  </a:txBody>
                  <a:tcPr anchor="ctr"/>
                </a:tc>
                <a:extLst>
                  <a:ext uri="{0D108BD9-81ED-4DB2-BD59-A6C34878D82A}">
                    <a16:rowId xmlns:a16="http://schemas.microsoft.com/office/drawing/2014/main" val="1997104881"/>
                  </a:ext>
                </a:extLst>
              </a:tr>
              <a:tr h="370840">
                <a:tc rowSpan="2">
                  <a:txBody>
                    <a:bodyPr/>
                    <a:lstStyle/>
                    <a:p>
                      <a:pPr algn="ctr"/>
                      <a:r>
                        <a:rPr lang="en-US" dirty="0"/>
                        <a:t>YOLOv10n</a:t>
                      </a:r>
                      <a:endParaRPr lang="id-ID" dirty="0"/>
                    </a:p>
                  </a:txBody>
                  <a:tcPr anchor="ctr"/>
                </a:tc>
                <a:tc>
                  <a:txBody>
                    <a:bodyPr/>
                    <a:lstStyle/>
                    <a:p>
                      <a:r>
                        <a:rPr lang="en-US" dirty="0"/>
                        <a:t>CPU</a:t>
                      </a:r>
                      <a:endParaRPr lang="id-ID" dirty="0"/>
                    </a:p>
                  </a:txBody>
                  <a:tcPr anchor="ctr"/>
                </a:tc>
                <a:tc>
                  <a:txBody>
                    <a:bodyPr/>
                    <a:lstStyle/>
                    <a:p>
                      <a:pPr algn="ctr"/>
                      <a:r>
                        <a:rPr lang="en-US" dirty="0"/>
                        <a:t>4.09FPS/244.33ms</a:t>
                      </a:r>
                      <a:endParaRPr lang="id-ID" dirty="0"/>
                    </a:p>
                  </a:txBody>
                  <a:tcPr anchor="ctr"/>
                </a:tc>
                <a:tc>
                  <a:txBody>
                    <a:bodyPr/>
                    <a:lstStyle/>
                    <a:p>
                      <a:pPr algn="ctr"/>
                      <a:r>
                        <a:rPr lang="id-ID" dirty="0"/>
                        <a:t>4.06FPS/246.03ms</a:t>
                      </a:r>
                    </a:p>
                  </a:txBody>
                  <a:tcPr anchor="ctr"/>
                </a:tc>
                <a:tc>
                  <a:txBody>
                    <a:bodyPr/>
                    <a:lstStyle/>
                    <a:p>
                      <a:pPr algn="ctr"/>
                      <a:r>
                        <a:rPr lang="en-US" dirty="0"/>
                        <a:t>95%</a:t>
                      </a:r>
                      <a:endParaRPr lang="id-ID" dirty="0"/>
                    </a:p>
                  </a:txBody>
                  <a:tcPr anchor="ctr"/>
                </a:tc>
                <a:tc>
                  <a:txBody>
                    <a:bodyPr/>
                    <a:lstStyle/>
                    <a:p>
                      <a:pPr algn="ctr"/>
                      <a:r>
                        <a:rPr lang="id-ID" dirty="0"/>
                        <a:t>3.35GB</a:t>
                      </a:r>
                    </a:p>
                  </a:txBody>
                  <a:tcPr anchor="ctr"/>
                </a:tc>
                <a:extLst>
                  <a:ext uri="{0D108BD9-81ED-4DB2-BD59-A6C34878D82A}">
                    <a16:rowId xmlns:a16="http://schemas.microsoft.com/office/drawing/2014/main" val="2039655636"/>
                  </a:ext>
                </a:extLst>
              </a:tr>
              <a:tr h="370840">
                <a:tc vMerge="1">
                  <a:txBody>
                    <a:bodyPr/>
                    <a:lstStyle/>
                    <a:p>
                      <a:endParaRPr lang="id-ID" dirty="0"/>
                    </a:p>
                  </a:txBody>
                  <a:tcPr/>
                </a:tc>
                <a:tc>
                  <a:txBody>
                    <a:bodyPr/>
                    <a:lstStyle/>
                    <a:p>
                      <a:r>
                        <a:rPr lang="en-US" dirty="0"/>
                        <a:t>Hailo-8L</a:t>
                      </a:r>
                      <a:endParaRPr lang="id-ID" dirty="0"/>
                    </a:p>
                  </a:txBody>
                  <a:tcPr anchor="ctr"/>
                </a:tc>
                <a:tc>
                  <a:txBody>
                    <a:bodyPr/>
                    <a:lstStyle/>
                    <a:p>
                      <a:pPr algn="ctr"/>
                      <a:r>
                        <a:rPr lang="en-US" dirty="0"/>
                        <a:t>67.79FPS/14.75ms</a:t>
                      </a:r>
                      <a:endParaRPr lang="id-ID" dirty="0"/>
                    </a:p>
                  </a:txBody>
                  <a:tcPr anchor="ctr">
                    <a:solidFill>
                      <a:schemeClr val="accent4">
                        <a:lumMod val="40000"/>
                        <a:lumOff val="60000"/>
                      </a:schemeClr>
                    </a:solidFill>
                  </a:tcPr>
                </a:tc>
                <a:tc>
                  <a:txBody>
                    <a:bodyPr/>
                    <a:lstStyle/>
                    <a:p>
                      <a:pPr algn="ctr"/>
                      <a:r>
                        <a:rPr lang="id-ID" dirty="0"/>
                        <a:t>51.41FPS/19.45ms</a:t>
                      </a:r>
                    </a:p>
                  </a:txBody>
                  <a:tcPr anchor="ctr">
                    <a:solidFill>
                      <a:schemeClr val="accent4">
                        <a:lumMod val="40000"/>
                        <a:lumOff val="60000"/>
                      </a:schemeClr>
                    </a:solidFill>
                  </a:tcPr>
                </a:tc>
                <a:tc>
                  <a:txBody>
                    <a:bodyPr/>
                    <a:lstStyle/>
                    <a:p>
                      <a:pPr algn="ctr"/>
                      <a:r>
                        <a:rPr lang="en-US" dirty="0"/>
                        <a:t>92%</a:t>
                      </a:r>
                      <a:endParaRPr lang="id-ID" dirty="0"/>
                    </a:p>
                  </a:txBody>
                  <a:tcPr anchor="ctr"/>
                </a:tc>
                <a:tc>
                  <a:txBody>
                    <a:bodyPr/>
                    <a:lstStyle/>
                    <a:p>
                      <a:pPr algn="ctr"/>
                      <a:r>
                        <a:rPr lang="id-ID" dirty="0"/>
                        <a:t>2.45GB</a:t>
                      </a:r>
                    </a:p>
                  </a:txBody>
                  <a:tcPr anchor="ctr"/>
                </a:tc>
                <a:extLst>
                  <a:ext uri="{0D108BD9-81ED-4DB2-BD59-A6C34878D82A}">
                    <a16:rowId xmlns:a16="http://schemas.microsoft.com/office/drawing/2014/main" val="1052081247"/>
                  </a:ext>
                </a:extLst>
              </a:tr>
              <a:tr h="370840">
                <a:tc rowSpan="2">
                  <a:txBody>
                    <a:bodyPr/>
                    <a:lstStyle/>
                    <a:p>
                      <a:pPr algn="ctr"/>
                      <a:r>
                        <a:rPr lang="en-US" dirty="0"/>
                        <a:t>YOLO11n</a:t>
                      </a:r>
                      <a:endParaRPr lang="id-ID" dirty="0"/>
                    </a:p>
                  </a:txBody>
                  <a:tcPr anchor="ctr"/>
                </a:tc>
                <a:tc>
                  <a:txBody>
                    <a:bodyPr/>
                    <a:lstStyle/>
                    <a:p>
                      <a:r>
                        <a:rPr lang="en-US" dirty="0"/>
                        <a:t>CPU</a:t>
                      </a:r>
                      <a:endParaRPr lang="id-ID" dirty="0"/>
                    </a:p>
                  </a:txBody>
                  <a:tcPr anchor="ctr"/>
                </a:tc>
                <a:tc>
                  <a:txBody>
                    <a:bodyPr/>
                    <a:lstStyle/>
                    <a:p>
                      <a:pPr algn="ctr"/>
                      <a:r>
                        <a:rPr lang="en-US" dirty="0"/>
                        <a:t>4.16FPS/240.32ms</a:t>
                      </a:r>
                      <a:endParaRPr lang="id-ID" dirty="0"/>
                    </a:p>
                  </a:txBody>
                  <a:tcPr anchor="ctr"/>
                </a:tc>
                <a:tc>
                  <a:txBody>
                    <a:bodyPr/>
                    <a:lstStyle/>
                    <a:p>
                      <a:pPr algn="ctr"/>
                      <a:r>
                        <a:rPr lang="id-ID" dirty="0"/>
                        <a:t>4.12FPS/242.57ms</a:t>
                      </a:r>
                    </a:p>
                  </a:txBody>
                  <a:tcPr anchor="ctr"/>
                </a:tc>
                <a:tc>
                  <a:txBody>
                    <a:bodyPr/>
                    <a:lstStyle/>
                    <a:p>
                      <a:pPr algn="ctr"/>
                      <a:r>
                        <a:rPr lang="en-US" dirty="0"/>
                        <a:t>75%</a:t>
                      </a:r>
                      <a:endParaRPr lang="id-ID" dirty="0"/>
                    </a:p>
                  </a:txBody>
                  <a:tcPr anchor="ctr"/>
                </a:tc>
                <a:tc>
                  <a:txBody>
                    <a:bodyPr/>
                    <a:lstStyle/>
                    <a:p>
                      <a:pPr algn="ctr"/>
                      <a:r>
                        <a:rPr lang="id-ID" dirty="0"/>
                        <a:t>3.46GB</a:t>
                      </a:r>
                    </a:p>
                  </a:txBody>
                  <a:tcPr anchor="ctr"/>
                </a:tc>
                <a:extLst>
                  <a:ext uri="{0D108BD9-81ED-4DB2-BD59-A6C34878D82A}">
                    <a16:rowId xmlns:a16="http://schemas.microsoft.com/office/drawing/2014/main" val="1950153425"/>
                  </a:ext>
                </a:extLst>
              </a:tr>
              <a:tr h="370840">
                <a:tc vMerge="1">
                  <a:txBody>
                    <a:bodyPr/>
                    <a:lstStyle/>
                    <a:p>
                      <a:endParaRPr lang="id-ID" dirty="0"/>
                    </a:p>
                  </a:txBody>
                  <a:tcPr/>
                </a:tc>
                <a:tc>
                  <a:txBody>
                    <a:bodyPr/>
                    <a:lstStyle/>
                    <a:p>
                      <a:r>
                        <a:rPr lang="en-US" dirty="0"/>
                        <a:t>Hailo-8L</a:t>
                      </a:r>
                      <a:endParaRPr lang="id-ID" dirty="0"/>
                    </a:p>
                  </a:txBody>
                  <a:tcPr anchor="ctr"/>
                </a:tc>
                <a:tc>
                  <a:txBody>
                    <a:bodyPr/>
                    <a:lstStyle/>
                    <a:p>
                      <a:pPr algn="ctr"/>
                      <a:r>
                        <a:rPr lang="en-US" dirty="0"/>
                        <a:t>60.09FPS/16.64ms</a:t>
                      </a:r>
                      <a:endParaRPr lang="id-ID" dirty="0"/>
                    </a:p>
                  </a:txBody>
                  <a:tcPr anchor="ctr">
                    <a:solidFill>
                      <a:schemeClr val="accent4">
                        <a:lumMod val="40000"/>
                        <a:lumOff val="60000"/>
                      </a:schemeClr>
                    </a:solidFill>
                  </a:tcPr>
                </a:tc>
                <a:tc>
                  <a:txBody>
                    <a:bodyPr/>
                    <a:lstStyle/>
                    <a:p>
                      <a:pPr algn="ctr"/>
                      <a:r>
                        <a:rPr lang="id-ID" dirty="0"/>
                        <a:t>41.03FPS/24.37ms</a:t>
                      </a:r>
                    </a:p>
                  </a:txBody>
                  <a:tcPr anchor="ctr">
                    <a:solidFill>
                      <a:schemeClr val="accent4">
                        <a:lumMod val="40000"/>
                        <a:lumOff val="60000"/>
                      </a:schemeClr>
                    </a:solidFill>
                  </a:tcPr>
                </a:tc>
                <a:tc>
                  <a:txBody>
                    <a:bodyPr/>
                    <a:lstStyle/>
                    <a:p>
                      <a:pPr algn="ctr"/>
                      <a:r>
                        <a:rPr lang="en-US" dirty="0"/>
                        <a:t>98%</a:t>
                      </a:r>
                      <a:endParaRPr lang="id-ID" dirty="0"/>
                    </a:p>
                  </a:txBody>
                  <a:tcPr anchor="ctr"/>
                </a:tc>
                <a:tc>
                  <a:txBody>
                    <a:bodyPr/>
                    <a:lstStyle/>
                    <a:p>
                      <a:pPr algn="ctr"/>
                      <a:r>
                        <a:rPr lang="id-ID" dirty="0"/>
                        <a:t>2.55GB</a:t>
                      </a:r>
                    </a:p>
                  </a:txBody>
                  <a:tcPr anchor="ctr"/>
                </a:tc>
                <a:extLst>
                  <a:ext uri="{0D108BD9-81ED-4DB2-BD59-A6C34878D82A}">
                    <a16:rowId xmlns:a16="http://schemas.microsoft.com/office/drawing/2014/main" val="243562187"/>
                  </a:ext>
                </a:extLst>
              </a:tr>
            </a:tbl>
          </a:graphicData>
        </a:graphic>
      </p:graphicFrame>
    </p:spTree>
    <p:extLst>
      <p:ext uri="{BB962C8B-B14F-4D97-AF65-F5344CB8AC3E}">
        <p14:creationId xmlns:p14="http://schemas.microsoft.com/office/powerpoint/2010/main" val="3771916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2" name="Rectangle 1">
            <a:extLst>
              <a:ext uri="{FF2B5EF4-FFF2-40B4-BE49-F238E27FC236}">
                <a16:creationId xmlns:a16="http://schemas.microsoft.com/office/drawing/2014/main" id="{8B0F03D9-73D3-4EAA-8688-361860D83213}"/>
              </a:ext>
            </a:extLst>
          </p:cNvPr>
          <p:cNvSpPr/>
          <p:nvPr/>
        </p:nvSpPr>
        <p:spPr>
          <a:xfrm>
            <a:off x="5735978" y="1107440"/>
            <a:ext cx="1066800" cy="4643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5" name="Google Shape;475;p6"/>
          <p:cNvSpPr txBox="1">
            <a:spLocks noGrp="1"/>
          </p:cNvSpPr>
          <p:nvPr>
            <p:ph type="title"/>
          </p:nvPr>
        </p:nvSpPr>
        <p:spPr>
          <a:xfrm>
            <a:off x="3682315" y="376300"/>
            <a:ext cx="5741085" cy="966900"/>
          </a:xfrm>
          <a:prstGeom prst="rect">
            <a:avLst/>
          </a:prstGeom>
          <a:noFill/>
          <a:ln>
            <a:noFill/>
          </a:ln>
        </p:spPr>
        <p:txBody>
          <a:bodyPr spcFirstLastPara="1" wrap="square" lIns="91425" tIns="45700" rIns="91425" bIns="45700" anchor="ctr" anchorCtr="0">
            <a:noAutofit/>
          </a:bodyPr>
          <a:lstStyle/>
          <a:p>
            <a:r>
              <a:rPr lang="id-ID" sz="3200" dirty="0"/>
              <a:t>Hasil Implementasi Sistem</a:t>
            </a:r>
          </a:p>
        </p:txBody>
      </p:sp>
      <p:pic>
        <p:nvPicPr>
          <p:cNvPr id="476" name="Google Shape;476;p6" descr="A close up of a ceiling&#10;&#10;Description automatically generated"/>
          <p:cNvPicPr preferRelativeResize="0">
            <a:picLocks noGrp="1"/>
          </p:cNvPicPr>
          <p:nvPr>
            <p:ph type="body" idx="1"/>
          </p:nvPr>
        </p:nvPicPr>
        <p:blipFill rotWithShape="1">
          <a:blip r:embed="rId3">
            <a:alphaModFix/>
          </a:blip>
          <a:srcRect l="32196" r="32193"/>
          <a:stretch/>
        </p:blipFill>
        <p:spPr>
          <a:xfrm>
            <a:off x="0" y="0"/>
            <a:ext cx="3224212" cy="6400800"/>
          </a:xfrm>
          <a:prstGeom prst="rect">
            <a:avLst/>
          </a:prstGeom>
          <a:noFill/>
          <a:ln>
            <a:noFill/>
          </a:ln>
        </p:spPr>
      </p:pic>
      <p:pic>
        <p:nvPicPr>
          <p:cNvPr id="4" name="Picture 3">
            <a:extLst>
              <a:ext uri="{FF2B5EF4-FFF2-40B4-BE49-F238E27FC236}">
                <a16:creationId xmlns:a16="http://schemas.microsoft.com/office/drawing/2014/main" id="{0DE9B8A4-1A54-4821-878F-A06B9090EEDB}"/>
              </a:ext>
            </a:extLst>
          </p:cNvPr>
          <p:cNvPicPr>
            <a:picLocks noChangeAspect="1"/>
          </p:cNvPicPr>
          <p:nvPr/>
        </p:nvPicPr>
        <p:blipFill>
          <a:blip r:embed="rId4"/>
          <a:stretch>
            <a:fillRect/>
          </a:stretch>
        </p:blipFill>
        <p:spPr>
          <a:xfrm>
            <a:off x="3789342" y="1342268"/>
            <a:ext cx="3664055" cy="2082134"/>
          </a:xfrm>
          <a:prstGeom prst="rect">
            <a:avLst/>
          </a:prstGeom>
        </p:spPr>
      </p:pic>
      <p:pic>
        <p:nvPicPr>
          <p:cNvPr id="6" name="Picture 5">
            <a:extLst>
              <a:ext uri="{FF2B5EF4-FFF2-40B4-BE49-F238E27FC236}">
                <a16:creationId xmlns:a16="http://schemas.microsoft.com/office/drawing/2014/main" id="{DA3D332A-5CED-4C8D-B8FA-482C08B04C51}"/>
              </a:ext>
            </a:extLst>
          </p:cNvPr>
          <p:cNvPicPr>
            <a:picLocks noChangeAspect="1"/>
          </p:cNvPicPr>
          <p:nvPr/>
        </p:nvPicPr>
        <p:blipFill>
          <a:blip r:embed="rId5"/>
          <a:stretch>
            <a:fillRect/>
          </a:stretch>
        </p:blipFill>
        <p:spPr>
          <a:xfrm>
            <a:off x="7717121" y="2384267"/>
            <a:ext cx="4132839" cy="2296861"/>
          </a:xfrm>
          <a:prstGeom prst="rect">
            <a:avLst/>
          </a:prstGeom>
        </p:spPr>
      </p:pic>
      <p:pic>
        <p:nvPicPr>
          <p:cNvPr id="8" name="Picture 7">
            <a:extLst>
              <a:ext uri="{FF2B5EF4-FFF2-40B4-BE49-F238E27FC236}">
                <a16:creationId xmlns:a16="http://schemas.microsoft.com/office/drawing/2014/main" id="{B225695F-6DC3-48C9-AD35-7178E91A0D62}"/>
              </a:ext>
            </a:extLst>
          </p:cNvPr>
          <p:cNvPicPr>
            <a:picLocks noChangeAspect="1"/>
          </p:cNvPicPr>
          <p:nvPr/>
        </p:nvPicPr>
        <p:blipFill>
          <a:blip r:embed="rId6"/>
          <a:stretch>
            <a:fillRect/>
          </a:stretch>
        </p:blipFill>
        <p:spPr>
          <a:xfrm>
            <a:off x="3789342" y="3789972"/>
            <a:ext cx="3734828" cy="2082134"/>
          </a:xfrm>
          <a:prstGeom prst="rect">
            <a:avLst/>
          </a:prstGeom>
        </p:spPr>
      </p:pic>
    </p:spTree>
    <p:extLst>
      <p:ext uri="{BB962C8B-B14F-4D97-AF65-F5344CB8AC3E}">
        <p14:creationId xmlns:p14="http://schemas.microsoft.com/office/powerpoint/2010/main" val="2837210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2" name="Rectangle 1">
            <a:extLst>
              <a:ext uri="{FF2B5EF4-FFF2-40B4-BE49-F238E27FC236}">
                <a16:creationId xmlns:a16="http://schemas.microsoft.com/office/drawing/2014/main" id="{8B0F03D9-73D3-4EAA-8688-361860D83213}"/>
              </a:ext>
            </a:extLst>
          </p:cNvPr>
          <p:cNvSpPr/>
          <p:nvPr/>
        </p:nvSpPr>
        <p:spPr>
          <a:xfrm>
            <a:off x="5735978" y="1107440"/>
            <a:ext cx="1066800" cy="4643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5" name="Google Shape;475;p6"/>
          <p:cNvSpPr txBox="1">
            <a:spLocks noGrp="1"/>
          </p:cNvSpPr>
          <p:nvPr>
            <p:ph type="title"/>
          </p:nvPr>
        </p:nvSpPr>
        <p:spPr>
          <a:xfrm>
            <a:off x="812115" y="955371"/>
            <a:ext cx="6240926" cy="995927"/>
          </a:xfrm>
          <a:prstGeom prst="rect">
            <a:avLst/>
          </a:prstGeom>
          <a:noFill/>
          <a:ln>
            <a:noFill/>
          </a:ln>
        </p:spPr>
        <p:txBody>
          <a:bodyPr spcFirstLastPara="1" wrap="square" lIns="91425" tIns="45700" rIns="91425" bIns="45700" anchor="ctr" anchorCtr="0">
            <a:noAutofit/>
          </a:bodyPr>
          <a:lstStyle/>
          <a:p>
            <a:r>
              <a:rPr lang="id-ID" sz="3200" dirty="0"/>
              <a:t>Hasil Pengujian Sistem Deteksi Pelanggaran</a:t>
            </a:r>
          </a:p>
        </p:txBody>
      </p:sp>
      <p:graphicFrame>
        <p:nvGraphicFramePr>
          <p:cNvPr id="5" name="Table 4">
            <a:extLst>
              <a:ext uri="{FF2B5EF4-FFF2-40B4-BE49-F238E27FC236}">
                <a16:creationId xmlns:a16="http://schemas.microsoft.com/office/drawing/2014/main" id="{72B5114E-7108-4829-81FD-315FADD978E8}"/>
              </a:ext>
            </a:extLst>
          </p:cNvPr>
          <p:cNvGraphicFramePr>
            <a:graphicFrameLocks noGrp="1"/>
          </p:cNvGraphicFramePr>
          <p:nvPr>
            <p:extLst>
              <p:ext uri="{D42A27DB-BD31-4B8C-83A1-F6EECF244321}">
                <p14:modId xmlns:p14="http://schemas.microsoft.com/office/powerpoint/2010/main" val="2289770956"/>
              </p:ext>
            </p:extLst>
          </p:nvPr>
        </p:nvGraphicFramePr>
        <p:xfrm>
          <a:off x="404360" y="2285208"/>
          <a:ext cx="5393662" cy="2823665"/>
        </p:xfrm>
        <a:graphic>
          <a:graphicData uri="http://schemas.openxmlformats.org/drawingml/2006/table">
            <a:tbl>
              <a:tblPr firstRow="1" firstCol="1" bandRow="1">
                <a:tableStyleId>{BAB51536-194C-4DF1-BF3E-D65146005E30}</a:tableStyleId>
              </a:tblPr>
              <a:tblGrid>
                <a:gridCol w="1458155">
                  <a:extLst>
                    <a:ext uri="{9D8B030D-6E8A-4147-A177-3AD203B41FA5}">
                      <a16:colId xmlns:a16="http://schemas.microsoft.com/office/drawing/2014/main" val="3666291193"/>
                    </a:ext>
                  </a:extLst>
                </a:gridCol>
                <a:gridCol w="949165">
                  <a:extLst>
                    <a:ext uri="{9D8B030D-6E8A-4147-A177-3AD203B41FA5}">
                      <a16:colId xmlns:a16="http://schemas.microsoft.com/office/drawing/2014/main" val="1508077063"/>
                    </a:ext>
                  </a:extLst>
                </a:gridCol>
                <a:gridCol w="1045862">
                  <a:extLst>
                    <a:ext uri="{9D8B030D-6E8A-4147-A177-3AD203B41FA5}">
                      <a16:colId xmlns:a16="http://schemas.microsoft.com/office/drawing/2014/main" val="745206875"/>
                    </a:ext>
                  </a:extLst>
                </a:gridCol>
                <a:gridCol w="1044081">
                  <a:extLst>
                    <a:ext uri="{9D8B030D-6E8A-4147-A177-3AD203B41FA5}">
                      <a16:colId xmlns:a16="http://schemas.microsoft.com/office/drawing/2014/main" val="2635912515"/>
                    </a:ext>
                  </a:extLst>
                </a:gridCol>
                <a:gridCol w="896399">
                  <a:extLst>
                    <a:ext uri="{9D8B030D-6E8A-4147-A177-3AD203B41FA5}">
                      <a16:colId xmlns:a16="http://schemas.microsoft.com/office/drawing/2014/main" val="2945075811"/>
                    </a:ext>
                  </a:extLst>
                </a:gridCol>
              </a:tblGrid>
              <a:tr h="588063">
                <a:tc>
                  <a:txBody>
                    <a:bodyPr/>
                    <a:lstStyle/>
                    <a:p>
                      <a:pPr marL="0" marR="0" indent="0" algn="ctr">
                        <a:lnSpc>
                          <a:spcPct val="115000"/>
                        </a:lnSpc>
                        <a:spcBef>
                          <a:spcPts val="0"/>
                        </a:spcBef>
                        <a:spcAft>
                          <a:spcPts val="0"/>
                        </a:spcAft>
                      </a:pPr>
                      <a:r>
                        <a:rPr lang="en-US" sz="1300" b="1" dirty="0" err="1">
                          <a:effectLst/>
                        </a:rPr>
                        <a:t>Kategori</a:t>
                      </a:r>
                      <a:r>
                        <a:rPr lang="en-US" sz="1300" b="1" dirty="0">
                          <a:effectLst/>
                        </a:rPr>
                        <a:t> </a:t>
                      </a:r>
                      <a:r>
                        <a:rPr lang="en-US" sz="1300" b="1" dirty="0" err="1">
                          <a:effectLst/>
                        </a:rPr>
                        <a:t>Pengujian</a:t>
                      </a:r>
                      <a:endParaRPr lang="id-ID" sz="1300" b="1"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b="1" dirty="0" err="1">
                          <a:effectLst/>
                        </a:rPr>
                        <a:t>Jumlah</a:t>
                      </a:r>
                      <a:r>
                        <a:rPr lang="en-US" sz="1300" b="1" dirty="0">
                          <a:effectLst/>
                        </a:rPr>
                        <a:t> Video</a:t>
                      </a:r>
                      <a:endParaRPr lang="id-ID" sz="1300" b="1"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b="1" dirty="0" err="1">
                          <a:effectLst/>
                        </a:rPr>
                        <a:t>Deteksi</a:t>
                      </a:r>
                      <a:r>
                        <a:rPr lang="en-US" sz="1300" b="1" dirty="0">
                          <a:effectLst/>
                        </a:rPr>
                        <a:t> </a:t>
                      </a:r>
                      <a:r>
                        <a:rPr lang="en-US" sz="1300" b="1" dirty="0" err="1">
                          <a:effectLst/>
                        </a:rPr>
                        <a:t>Benar</a:t>
                      </a:r>
                      <a:endParaRPr lang="id-ID" sz="1300" b="1"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b="1" dirty="0" err="1">
                          <a:effectLst/>
                        </a:rPr>
                        <a:t>Deteksi</a:t>
                      </a:r>
                      <a:r>
                        <a:rPr lang="en-US" sz="1300" b="1" dirty="0">
                          <a:effectLst/>
                        </a:rPr>
                        <a:t> Salah</a:t>
                      </a:r>
                      <a:endParaRPr lang="id-ID" sz="1300" b="1"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b="1" dirty="0" err="1">
                          <a:effectLst/>
                        </a:rPr>
                        <a:t>Akurasi</a:t>
                      </a:r>
                      <a:endParaRPr lang="id-ID" sz="1300" b="1"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3798112856"/>
                  </a:ext>
                </a:extLst>
              </a:tr>
              <a:tr h="351862">
                <a:tc>
                  <a:txBody>
                    <a:bodyPr/>
                    <a:lstStyle/>
                    <a:p>
                      <a:pPr marL="0" marR="0" indent="0" algn="l">
                        <a:lnSpc>
                          <a:spcPct val="115000"/>
                        </a:lnSpc>
                        <a:spcBef>
                          <a:spcPts val="0"/>
                        </a:spcBef>
                        <a:spcAft>
                          <a:spcPts val="0"/>
                        </a:spcAft>
                      </a:pPr>
                      <a:r>
                        <a:rPr lang="en-US" sz="1300" dirty="0">
                          <a:effectLst/>
                        </a:rPr>
                        <a:t>No foul</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a:effectLst/>
                        </a:rPr>
                        <a:t>10</a:t>
                      </a:r>
                      <a:endParaRPr lang="id-ID" sz="130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latin typeface="Times New Roman" panose="02020603050405020304" pitchFamily="18" charset="0"/>
                          <a:ea typeface="游明朝" panose="02020400000000000000" pitchFamily="18" charset="-128"/>
                          <a:cs typeface="Arial" panose="020B0604020202020204" pitchFamily="34" charset="0"/>
                        </a:rPr>
                        <a:t>9</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latin typeface="Times New Roman" panose="02020603050405020304" pitchFamily="18" charset="0"/>
                          <a:ea typeface="游明朝" panose="02020400000000000000" pitchFamily="18" charset="-128"/>
                          <a:cs typeface="Arial" panose="020B0604020202020204" pitchFamily="34" charset="0"/>
                        </a:rPr>
                        <a:t>1</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90%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111430586"/>
                  </a:ext>
                </a:extLst>
              </a:tr>
              <a:tr h="371409">
                <a:tc>
                  <a:txBody>
                    <a:bodyPr/>
                    <a:lstStyle/>
                    <a:p>
                      <a:pPr marL="0" marR="0" indent="0" algn="l">
                        <a:lnSpc>
                          <a:spcPct val="115000"/>
                        </a:lnSpc>
                        <a:spcBef>
                          <a:spcPts val="0"/>
                        </a:spcBef>
                        <a:spcAft>
                          <a:spcPts val="0"/>
                        </a:spcAft>
                      </a:pPr>
                      <a:r>
                        <a:rPr lang="en-US" sz="1300" dirty="0">
                          <a:effectLst/>
                        </a:rPr>
                        <a:t>No legal hit</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10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8</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2</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80%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3804158730"/>
                  </a:ext>
                </a:extLst>
              </a:tr>
              <a:tr h="427220">
                <a:tc>
                  <a:txBody>
                    <a:bodyPr/>
                    <a:lstStyle/>
                    <a:p>
                      <a:pPr marL="0" marR="0" indent="0" algn="l">
                        <a:lnSpc>
                          <a:spcPct val="115000"/>
                        </a:lnSpc>
                        <a:spcBef>
                          <a:spcPts val="0"/>
                        </a:spcBef>
                        <a:spcAft>
                          <a:spcPts val="0"/>
                        </a:spcAft>
                      </a:pPr>
                      <a:r>
                        <a:rPr lang="en-US" sz="1300" dirty="0">
                          <a:effectLst/>
                        </a:rPr>
                        <a:t>No rail contact on shot</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a:effectLst/>
                        </a:rPr>
                        <a:t>10</a:t>
                      </a:r>
                      <a:endParaRPr lang="id-ID" sz="130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latin typeface="Times New Roman" panose="02020603050405020304" pitchFamily="18" charset="0"/>
                          <a:ea typeface="游明朝" panose="02020400000000000000" pitchFamily="18" charset="-128"/>
                          <a:cs typeface="Arial" panose="020B0604020202020204" pitchFamily="34" charset="0"/>
                        </a:rPr>
                        <a:t>10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latin typeface="Times New Roman" panose="02020603050405020304" pitchFamily="18" charset="0"/>
                          <a:ea typeface="游明朝" panose="02020400000000000000" pitchFamily="18" charset="-128"/>
                          <a:cs typeface="Arial" panose="020B0604020202020204" pitchFamily="34" charset="0"/>
                        </a:rPr>
                        <a:t>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100%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3451163967"/>
                  </a:ext>
                </a:extLst>
              </a:tr>
              <a:tr h="371409">
                <a:tc>
                  <a:txBody>
                    <a:bodyPr/>
                    <a:lstStyle/>
                    <a:p>
                      <a:pPr marL="0" marR="0" indent="0" algn="l">
                        <a:lnSpc>
                          <a:spcPct val="115000"/>
                        </a:lnSpc>
                        <a:spcBef>
                          <a:spcPts val="0"/>
                        </a:spcBef>
                        <a:spcAft>
                          <a:spcPts val="0"/>
                        </a:spcAft>
                      </a:pPr>
                      <a:r>
                        <a:rPr lang="en-US" sz="1300" dirty="0">
                          <a:effectLst/>
                        </a:rPr>
                        <a:t>Cue ball off field</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a:effectLst/>
                        </a:rPr>
                        <a:t>10</a:t>
                      </a:r>
                      <a:endParaRPr lang="id-ID" sz="130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10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100%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3942274842"/>
                  </a:ext>
                </a:extLst>
              </a:tr>
              <a:tr h="351862">
                <a:tc>
                  <a:txBody>
                    <a:bodyPr/>
                    <a:lstStyle/>
                    <a:p>
                      <a:pPr marL="0" marR="0" indent="0" algn="l">
                        <a:lnSpc>
                          <a:spcPct val="115000"/>
                        </a:lnSpc>
                        <a:spcBef>
                          <a:spcPts val="0"/>
                        </a:spcBef>
                        <a:spcAft>
                          <a:spcPts val="0"/>
                        </a:spcAft>
                      </a:pPr>
                      <a:r>
                        <a:rPr lang="en-US" sz="1300" dirty="0">
                          <a:effectLst/>
                        </a:rPr>
                        <a:t>Cue ball scratch</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a:effectLst/>
                        </a:rPr>
                        <a:t>10</a:t>
                      </a:r>
                      <a:endParaRPr lang="id-ID" sz="130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latin typeface="Times New Roman" panose="02020603050405020304" pitchFamily="18" charset="0"/>
                          <a:ea typeface="游明朝" panose="02020400000000000000" pitchFamily="18" charset="-128"/>
                          <a:cs typeface="Arial" panose="020B0604020202020204" pitchFamily="34" charset="0"/>
                        </a:rPr>
                        <a:t>9</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latin typeface="Times New Roman" panose="02020603050405020304" pitchFamily="18" charset="0"/>
                          <a:ea typeface="游明朝" panose="02020400000000000000" pitchFamily="18" charset="-128"/>
                          <a:cs typeface="Arial" panose="020B0604020202020204" pitchFamily="34" charset="0"/>
                        </a:rPr>
                        <a:t>1</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90%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3094869140"/>
                  </a:ext>
                </a:extLst>
              </a:tr>
              <a:tr h="351862">
                <a:tc>
                  <a:txBody>
                    <a:bodyPr/>
                    <a:lstStyle/>
                    <a:p>
                      <a:pPr marL="0" marR="0" indent="0" algn="l">
                        <a:lnSpc>
                          <a:spcPct val="115000"/>
                        </a:lnSpc>
                        <a:spcBef>
                          <a:spcPts val="0"/>
                        </a:spcBef>
                        <a:spcAft>
                          <a:spcPts val="0"/>
                        </a:spcAft>
                      </a:pPr>
                      <a:r>
                        <a:rPr lang="en-US" sz="1300" dirty="0">
                          <a:effectLst/>
                        </a:rPr>
                        <a:t>Total</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50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46</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latin typeface="Times New Roman" panose="02020603050405020304" pitchFamily="18" charset="0"/>
                          <a:ea typeface="游明朝" panose="02020400000000000000" pitchFamily="18" charset="-128"/>
                          <a:cs typeface="Arial" panose="020B0604020202020204" pitchFamily="34" charset="0"/>
                        </a:rPr>
                        <a:t>4</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92%</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3829008084"/>
                  </a:ext>
                </a:extLst>
              </a:tr>
            </a:tbl>
          </a:graphicData>
        </a:graphic>
      </p:graphicFrame>
      <p:graphicFrame>
        <p:nvGraphicFramePr>
          <p:cNvPr id="6" name="Table 5">
            <a:extLst>
              <a:ext uri="{FF2B5EF4-FFF2-40B4-BE49-F238E27FC236}">
                <a16:creationId xmlns:a16="http://schemas.microsoft.com/office/drawing/2014/main" id="{35D4228D-F33C-4E08-B9E3-DEB8461471B0}"/>
              </a:ext>
            </a:extLst>
          </p:cNvPr>
          <p:cNvGraphicFramePr>
            <a:graphicFrameLocks noGrp="1"/>
          </p:cNvGraphicFramePr>
          <p:nvPr>
            <p:extLst>
              <p:ext uri="{D42A27DB-BD31-4B8C-83A1-F6EECF244321}">
                <p14:modId xmlns:p14="http://schemas.microsoft.com/office/powerpoint/2010/main" val="2763526833"/>
              </p:ext>
            </p:extLst>
          </p:nvPr>
        </p:nvGraphicFramePr>
        <p:xfrm>
          <a:off x="6269378" y="2285208"/>
          <a:ext cx="5393662" cy="2823665"/>
        </p:xfrm>
        <a:graphic>
          <a:graphicData uri="http://schemas.openxmlformats.org/drawingml/2006/table">
            <a:tbl>
              <a:tblPr firstRow="1" firstCol="1" bandRow="1">
                <a:tableStyleId>{BAB51536-194C-4DF1-BF3E-D65146005E30}</a:tableStyleId>
              </a:tblPr>
              <a:tblGrid>
                <a:gridCol w="1458155">
                  <a:extLst>
                    <a:ext uri="{9D8B030D-6E8A-4147-A177-3AD203B41FA5}">
                      <a16:colId xmlns:a16="http://schemas.microsoft.com/office/drawing/2014/main" val="3666291193"/>
                    </a:ext>
                  </a:extLst>
                </a:gridCol>
                <a:gridCol w="949165">
                  <a:extLst>
                    <a:ext uri="{9D8B030D-6E8A-4147-A177-3AD203B41FA5}">
                      <a16:colId xmlns:a16="http://schemas.microsoft.com/office/drawing/2014/main" val="1508077063"/>
                    </a:ext>
                  </a:extLst>
                </a:gridCol>
                <a:gridCol w="1045862">
                  <a:extLst>
                    <a:ext uri="{9D8B030D-6E8A-4147-A177-3AD203B41FA5}">
                      <a16:colId xmlns:a16="http://schemas.microsoft.com/office/drawing/2014/main" val="745206875"/>
                    </a:ext>
                  </a:extLst>
                </a:gridCol>
                <a:gridCol w="1044081">
                  <a:extLst>
                    <a:ext uri="{9D8B030D-6E8A-4147-A177-3AD203B41FA5}">
                      <a16:colId xmlns:a16="http://schemas.microsoft.com/office/drawing/2014/main" val="2635912515"/>
                    </a:ext>
                  </a:extLst>
                </a:gridCol>
                <a:gridCol w="896399">
                  <a:extLst>
                    <a:ext uri="{9D8B030D-6E8A-4147-A177-3AD203B41FA5}">
                      <a16:colId xmlns:a16="http://schemas.microsoft.com/office/drawing/2014/main" val="2945075811"/>
                    </a:ext>
                  </a:extLst>
                </a:gridCol>
              </a:tblGrid>
              <a:tr h="588063">
                <a:tc>
                  <a:txBody>
                    <a:bodyPr/>
                    <a:lstStyle/>
                    <a:p>
                      <a:pPr marL="0" marR="0" indent="0" algn="ctr">
                        <a:lnSpc>
                          <a:spcPct val="115000"/>
                        </a:lnSpc>
                        <a:spcBef>
                          <a:spcPts val="0"/>
                        </a:spcBef>
                        <a:spcAft>
                          <a:spcPts val="0"/>
                        </a:spcAft>
                      </a:pPr>
                      <a:r>
                        <a:rPr lang="en-US" sz="1300" b="1" dirty="0" err="1">
                          <a:effectLst/>
                        </a:rPr>
                        <a:t>Kategori</a:t>
                      </a:r>
                      <a:r>
                        <a:rPr lang="en-US" sz="1300" b="1" dirty="0">
                          <a:effectLst/>
                        </a:rPr>
                        <a:t> </a:t>
                      </a:r>
                      <a:r>
                        <a:rPr lang="en-US" sz="1300" b="1" dirty="0" err="1">
                          <a:effectLst/>
                        </a:rPr>
                        <a:t>Pengujian</a:t>
                      </a:r>
                      <a:endParaRPr lang="id-ID" sz="1300" b="1"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b="1" dirty="0" err="1">
                          <a:effectLst/>
                        </a:rPr>
                        <a:t>Jumlah</a:t>
                      </a:r>
                      <a:r>
                        <a:rPr lang="en-US" sz="1300" b="1" dirty="0">
                          <a:effectLst/>
                        </a:rPr>
                        <a:t> Video</a:t>
                      </a:r>
                      <a:endParaRPr lang="id-ID" sz="1300" b="1"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b="1" dirty="0" err="1">
                          <a:effectLst/>
                        </a:rPr>
                        <a:t>Deteksi</a:t>
                      </a:r>
                      <a:r>
                        <a:rPr lang="en-US" sz="1300" b="1" dirty="0">
                          <a:effectLst/>
                        </a:rPr>
                        <a:t> </a:t>
                      </a:r>
                      <a:r>
                        <a:rPr lang="en-US" sz="1300" b="1" dirty="0" err="1">
                          <a:effectLst/>
                        </a:rPr>
                        <a:t>Benar</a:t>
                      </a:r>
                      <a:endParaRPr lang="id-ID" sz="1300" b="1"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b="1" dirty="0" err="1">
                          <a:effectLst/>
                        </a:rPr>
                        <a:t>Deteksi</a:t>
                      </a:r>
                      <a:r>
                        <a:rPr lang="en-US" sz="1300" b="1" dirty="0">
                          <a:effectLst/>
                        </a:rPr>
                        <a:t> Salah</a:t>
                      </a:r>
                      <a:endParaRPr lang="id-ID" sz="1300" b="1"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b="1" dirty="0" err="1">
                          <a:effectLst/>
                        </a:rPr>
                        <a:t>Akurasi</a:t>
                      </a:r>
                      <a:endParaRPr lang="id-ID" sz="1300" b="1"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3798112856"/>
                  </a:ext>
                </a:extLst>
              </a:tr>
              <a:tr h="351862">
                <a:tc>
                  <a:txBody>
                    <a:bodyPr/>
                    <a:lstStyle/>
                    <a:p>
                      <a:pPr marL="0" marR="0" indent="0" algn="l">
                        <a:lnSpc>
                          <a:spcPct val="115000"/>
                        </a:lnSpc>
                        <a:spcBef>
                          <a:spcPts val="0"/>
                        </a:spcBef>
                        <a:spcAft>
                          <a:spcPts val="0"/>
                        </a:spcAft>
                      </a:pPr>
                      <a:r>
                        <a:rPr lang="en-US" sz="1300" dirty="0">
                          <a:effectLst/>
                        </a:rPr>
                        <a:t>No foul</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a:effectLst/>
                        </a:rPr>
                        <a:t>10</a:t>
                      </a:r>
                      <a:endParaRPr lang="id-ID" sz="130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8</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2</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80%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111430586"/>
                  </a:ext>
                </a:extLst>
              </a:tr>
              <a:tr h="371409">
                <a:tc>
                  <a:txBody>
                    <a:bodyPr/>
                    <a:lstStyle/>
                    <a:p>
                      <a:pPr marL="0" marR="0" indent="0" algn="l">
                        <a:lnSpc>
                          <a:spcPct val="115000"/>
                        </a:lnSpc>
                        <a:spcBef>
                          <a:spcPts val="0"/>
                        </a:spcBef>
                        <a:spcAft>
                          <a:spcPts val="0"/>
                        </a:spcAft>
                      </a:pPr>
                      <a:r>
                        <a:rPr lang="en-US" sz="1300" dirty="0">
                          <a:effectLst/>
                        </a:rPr>
                        <a:t>No legal hit</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10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8</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a:effectLst/>
                        </a:rPr>
                        <a:t>2</a:t>
                      </a:r>
                      <a:endParaRPr lang="id-ID" sz="130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a:effectLst/>
                        </a:rPr>
                        <a:t>80%</a:t>
                      </a:r>
                      <a:endParaRPr lang="id-ID" sz="130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3804158730"/>
                  </a:ext>
                </a:extLst>
              </a:tr>
              <a:tr h="427220">
                <a:tc>
                  <a:txBody>
                    <a:bodyPr/>
                    <a:lstStyle/>
                    <a:p>
                      <a:pPr marL="0" marR="0" indent="0" algn="l">
                        <a:lnSpc>
                          <a:spcPct val="115000"/>
                        </a:lnSpc>
                        <a:spcBef>
                          <a:spcPts val="0"/>
                        </a:spcBef>
                        <a:spcAft>
                          <a:spcPts val="0"/>
                        </a:spcAft>
                      </a:pPr>
                      <a:r>
                        <a:rPr lang="en-US" sz="1300" dirty="0">
                          <a:effectLst/>
                        </a:rPr>
                        <a:t>No rail contact on shot</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a:effectLst/>
                        </a:rPr>
                        <a:t>10</a:t>
                      </a:r>
                      <a:endParaRPr lang="id-ID" sz="130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9</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1</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a:effectLst/>
                        </a:rPr>
                        <a:t>90%</a:t>
                      </a:r>
                      <a:endParaRPr lang="id-ID" sz="130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3451163967"/>
                  </a:ext>
                </a:extLst>
              </a:tr>
              <a:tr h="371409">
                <a:tc>
                  <a:txBody>
                    <a:bodyPr/>
                    <a:lstStyle/>
                    <a:p>
                      <a:pPr marL="0" marR="0" indent="0" algn="l">
                        <a:lnSpc>
                          <a:spcPct val="115000"/>
                        </a:lnSpc>
                        <a:spcBef>
                          <a:spcPts val="0"/>
                        </a:spcBef>
                        <a:spcAft>
                          <a:spcPts val="0"/>
                        </a:spcAft>
                      </a:pPr>
                      <a:r>
                        <a:rPr lang="en-US" sz="1300" dirty="0">
                          <a:effectLst/>
                        </a:rPr>
                        <a:t>Cue ball off field</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a:effectLst/>
                        </a:rPr>
                        <a:t>10</a:t>
                      </a:r>
                      <a:endParaRPr lang="id-ID" sz="130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10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100%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3942274842"/>
                  </a:ext>
                </a:extLst>
              </a:tr>
              <a:tr h="351862">
                <a:tc>
                  <a:txBody>
                    <a:bodyPr/>
                    <a:lstStyle/>
                    <a:p>
                      <a:pPr marL="0" marR="0" indent="0" algn="l">
                        <a:lnSpc>
                          <a:spcPct val="115000"/>
                        </a:lnSpc>
                        <a:spcBef>
                          <a:spcPts val="0"/>
                        </a:spcBef>
                        <a:spcAft>
                          <a:spcPts val="0"/>
                        </a:spcAft>
                      </a:pPr>
                      <a:r>
                        <a:rPr lang="en-US" sz="1300" dirty="0">
                          <a:effectLst/>
                        </a:rPr>
                        <a:t>Cue ball scratch</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a:effectLst/>
                        </a:rPr>
                        <a:t>10</a:t>
                      </a:r>
                      <a:endParaRPr lang="id-ID" sz="130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7</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3</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70%</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3094869140"/>
                  </a:ext>
                </a:extLst>
              </a:tr>
              <a:tr h="351862">
                <a:tc>
                  <a:txBody>
                    <a:bodyPr/>
                    <a:lstStyle/>
                    <a:p>
                      <a:pPr marL="0" marR="0" indent="0" algn="l">
                        <a:lnSpc>
                          <a:spcPct val="115000"/>
                        </a:lnSpc>
                        <a:spcBef>
                          <a:spcPts val="0"/>
                        </a:spcBef>
                        <a:spcAft>
                          <a:spcPts val="0"/>
                        </a:spcAft>
                      </a:pPr>
                      <a:r>
                        <a:rPr lang="en-US" sz="1300" dirty="0">
                          <a:effectLst/>
                        </a:rPr>
                        <a:t>Total</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a:effectLst/>
                        </a:rPr>
                        <a:t>50</a:t>
                      </a:r>
                      <a:endParaRPr lang="id-ID" sz="130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42</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8</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tc>
                  <a:txBody>
                    <a:bodyPr/>
                    <a:lstStyle/>
                    <a:p>
                      <a:pPr marL="0" marR="0" indent="0" algn="ctr">
                        <a:lnSpc>
                          <a:spcPct val="115000"/>
                        </a:lnSpc>
                        <a:spcBef>
                          <a:spcPts val="0"/>
                        </a:spcBef>
                        <a:spcAft>
                          <a:spcPts val="0"/>
                        </a:spcAft>
                      </a:pPr>
                      <a:r>
                        <a:rPr lang="en-US" sz="1300" dirty="0">
                          <a:effectLst/>
                        </a:rPr>
                        <a:t>84%</a:t>
                      </a:r>
                      <a:endParaRPr lang="id-ID" sz="1300" dirty="0">
                        <a:effectLst/>
                        <a:latin typeface="Times New Roman" panose="02020603050405020304" pitchFamily="18" charset="0"/>
                        <a:ea typeface="游明朝" panose="02020400000000000000" pitchFamily="18" charset="-128"/>
                        <a:cs typeface="Arial" panose="020B0604020202020204" pitchFamily="34" charset="0"/>
                      </a:endParaRPr>
                    </a:p>
                  </a:txBody>
                  <a:tcPr marL="61601" marR="61601" marT="0" marB="0" anchor="ctr"/>
                </a:tc>
                <a:extLst>
                  <a:ext uri="{0D108BD9-81ED-4DB2-BD59-A6C34878D82A}">
                    <a16:rowId xmlns:a16="http://schemas.microsoft.com/office/drawing/2014/main" val="3829008084"/>
                  </a:ext>
                </a:extLst>
              </a:tr>
            </a:tbl>
          </a:graphicData>
        </a:graphic>
      </p:graphicFrame>
      <p:sp>
        <p:nvSpPr>
          <p:cNvPr id="7" name="TextBox 6">
            <a:extLst>
              <a:ext uri="{FF2B5EF4-FFF2-40B4-BE49-F238E27FC236}">
                <a16:creationId xmlns:a16="http://schemas.microsoft.com/office/drawing/2014/main" id="{6B51E1C1-0248-482E-A0D6-81F08205E9AF}"/>
              </a:ext>
            </a:extLst>
          </p:cNvPr>
          <p:cNvSpPr txBox="1"/>
          <p:nvPr/>
        </p:nvSpPr>
        <p:spPr>
          <a:xfrm>
            <a:off x="393116" y="5108873"/>
            <a:ext cx="3200400" cy="307777"/>
          </a:xfrm>
          <a:prstGeom prst="rect">
            <a:avLst/>
          </a:prstGeom>
          <a:noFill/>
        </p:spPr>
        <p:txBody>
          <a:bodyPr wrap="square" rtlCol="0">
            <a:spAutoFit/>
          </a:bodyPr>
          <a:lstStyle/>
          <a:p>
            <a:r>
              <a:rPr lang="en-US" dirty="0"/>
              <a:t>Model .</a:t>
            </a:r>
            <a:r>
              <a:rPr lang="en-US" dirty="0" err="1"/>
              <a:t>pt</a:t>
            </a:r>
            <a:endParaRPr lang="id-ID" dirty="0"/>
          </a:p>
        </p:txBody>
      </p:sp>
      <p:sp>
        <p:nvSpPr>
          <p:cNvPr id="10" name="TextBox 9">
            <a:extLst>
              <a:ext uri="{FF2B5EF4-FFF2-40B4-BE49-F238E27FC236}">
                <a16:creationId xmlns:a16="http://schemas.microsoft.com/office/drawing/2014/main" id="{3814CECA-D85D-4F49-8B21-35DC63503D54}"/>
              </a:ext>
            </a:extLst>
          </p:cNvPr>
          <p:cNvSpPr txBox="1"/>
          <p:nvPr/>
        </p:nvSpPr>
        <p:spPr>
          <a:xfrm>
            <a:off x="6269378" y="5107053"/>
            <a:ext cx="3200400" cy="307777"/>
          </a:xfrm>
          <a:prstGeom prst="rect">
            <a:avLst/>
          </a:prstGeom>
          <a:noFill/>
        </p:spPr>
        <p:txBody>
          <a:bodyPr wrap="square" rtlCol="0">
            <a:spAutoFit/>
          </a:bodyPr>
          <a:lstStyle/>
          <a:p>
            <a:r>
              <a:rPr lang="en-US" dirty="0"/>
              <a:t>Model .</a:t>
            </a:r>
            <a:r>
              <a:rPr lang="en-US" dirty="0" err="1"/>
              <a:t>hef</a:t>
            </a:r>
            <a:endParaRPr lang="id-ID" dirty="0"/>
          </a:p>
        </p:txBody>
      </p:sp>
    </p:spTree>
    <p:extLst>
      <p:ext uri="{BB962C8B-B14F-4D97-AF65-F5344CB8AC3E}">
        <p14:creationId xmlns:p14="http://schemas.microsoft.com/office/powerpoint/2010/main" val="920668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 name="Rectangle 3">
            <a:extLst>
              <a:ext uri="{FF2B5EF4-FFF2-40B4-BE49-F238E27FC236}">
                <a16:creationId xmlns:a16="http://schemas.microsoft.com/office/drawing/2014/main" id="{28ACD446-9178-46C3-8C8B-9C4F3F896440}"/>
              </a:ext>
            </a:extLst>
          </p:cNvPr>
          <p:cNvSpPr/>
          <p:nvPr/>
        </p:nvSpPr>
        <p:spPr>
          <a:xfrm>
            <a:off x="4525962" y="2413000"/>
            <a:ext cx="1443038" cy="279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9" name="Google Shape;499;g370f4e648af_0_143"/>
          <p:cNvSpPr txBox="1">
            <a:spLocks noGrp="1"/>
          </p:cNvSpPr>
          <p:nvPr>
            <p:ph type="body" idx="1"/>
          </p:nvPr>
        </p:nvSpPr>
        <p:spPr>
          <a:xfrm>
            <a:off x="3967162" y="1230368"/>
            <a:ext cx="7124700" cy="4397263"/>
          </a:xfrm>
          <a:prstGeom prst="rect">
            <a:avLst/>
          </a:prstGeom>
          <a:noFill/>
          <a:ln>
            <a:noFill/>
          </a:ln>
        </p:spPr>
        <p:txBody>
          <a:bodyPr spcFirstLastPara="1" wrap="square" lIns="91425" tIns="45700" rIns="91425" bIns="45700" anchor="t" anchorCtr="0">
            <a:noAutofit/>
          </a:bodyPr>
          <a:lstStyle/>
          <a:p>
            <a:pPr>
              <a:lnSpc>
                <a:spcPct val="110000"/>
              </a:lnSpc>
            </a:pPr>
            <a:r>
              <a:rPr lang="id-ID" dirty="0"/>
              <a:t>Berhasil membangun sistem deteksi objek menggunakan model YOLO. YOLOv10n dipilih karena memiliki performa paling seimbang.</a:t>
            </a:r>
          </a:p>
          <a:p>
            <a:pPr>
              <a:lnSpc>
                <a:spcPct val="110000"/>
              </a:lnSpc>
            </a:pPr>
            <a:r>
              <a:rPr lang="id-ID" dirty="0"/>
              <a:t>Logika deteksi pelanggaran berhasil dikembangkan berdasarkan hasil deteksi objek, bounding box, pergerakan bola, pocket, dan rail.</a:t>
            </a:r>
          </a:p>
          <a:p>
            <a:pPr>
              <a:lnSpc>
                <a:spcPct val="110000"/>
              </a:lnSpc>
            </a:pPr>
            <a:r>
              <a:rPr lang="id-ID" dirty="0"/>
              <a:t>Sistem berhasil diimplementasikan pada Raspberry Pi 5 dengan Hailo-8L. Performa YOLOv10n meningkat dari 4,06 FPS pada CPU menjadi 51,41 FPS pada Hailo-8L.</a:t>
            </a:r>
          </a:p>
          <a:p>
            <a:pPr>
              <a:lnSpc>
                <a:spcPct val="110000"/>
              </a:lnSpc>
            </a:pPr>
            <a:r>
              <a:rPr lang="id-ID" dirty="0"/>
              <a:t>Sistem deteksi pelanggaran dengan model .hef memperoleh akurasi 84% pada video yang diuji.</a:t>
            </a:r>
          </a:p>
        </p:txBody>
      </p:sp>
      <p:sp>
        <p:nvSpPr>
          <p:cNvPr id="10" name="Google Shape;475;p6">
            <a:extLst>
              <a:ext uri="{FF2B5EF4-FFF2-40B4-BE49-F238E27FC236}">
                <a16:creationId xmlns:a16="http://schemas.microsoft.com/office/drawing/2014/main" id="{CBB0758E-6FD5-42D9-B3AF-C5FE9C37616A}"/>
              </a:ext>
            </a:extLst>
          </p:cNvPr>
          <p:cNvSpPr txBox="1">
            <a:spLocks/>
          </p:cNvSpPr>
          <p:nvPr/>
        </p:nvSpPr>
        <p:spPr>
          <a:xfrm>
            <a:off x="4261975" y="211200"/>
            <a:ext cx="5558400" cy="9669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Arial"/>
              <a:buNone/>
              <a:defRPr sz="14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buClr>
                <a:schemeClr val="lt1"/>
              </a:buClr>
            </a:pPr>
            <a:r>
              <a:rPr lang="en-US" sz="4800">
                <a:solidFill>
                  <a:schemeClr val="dk1"/>
                </a:solidFill>
              </a:rPr>
              <a:t>Kesimpulan</a:t>
            </a:r>
            <a:endParaRPr lang="en-US" dirty="0">
              <a:solidFill>
                <a:schemeClr val="dk1"/>
              </a:solidFill>
            </a:endParaRPr>
          </a:p>
        </p:txBody>
      </p:sp>
    </p:spTree>
    <p:extLst>
      <p:ext uri="{BB962C8B-B14F-4D97-AF65-F5344CB8AC3E}">
        <p14:creationId xmlns:p14="http://schemas.microsoft.com/office/powerpoint/2010/main" val="3431661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 name="Rectangle 3">
            <a:extLst>
              <a:ext uri="{FF2B5EF4-FFF2-40B4-BE49-F238E27FC236}">
                <a16:creationId xmlns:a16="http://schemas.microsoft.com/office/drawing/2014/main" id="{28ACD446-9178-46C3-8C8B-9C4F3F896440}"/>
              </a:ext>
            </a:extLst>
          </p:cNvPr>
          <p:cNvSpPr/>
          <p:nvPr/>
        </p:nvSpPr>
        <p:spPr>
          <a:xfrm>
            <a:off x="4525962" y="2413000"/>
            <a:ext cx="1443038" cy="279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9" name="Google Shape;499;g370f4e648af_0_143"/>
          <p:cNvSpPr txBox="1">
            <a:spLocks noGrp="1"/>
          </p:cNvSpPr>
          <p:nvPr>
            <p:ph type="body" idx="1"/>
          </p:nvPr>
        </p:nvSpPr>
        <p:spPr>
          <a:xfrm>
            <a:off x="3967162" y="1230369"/>
            <a:ext cx="7124700" cy="3430532"/>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r>
              <a:rPr lang="id-ID" dirty="0"/>
              <a:t>Pengujian dapat dilakukan dengan jumlah video yang lebih banyak, untuk tingkat kebenaran lebih akurat</a:t>
            </a:r>
          </a:p>
          <a:p>
            <a:pPr>
              <a:buFont typeface="Arial" panose="020B0604020202020204" pitchFamily="34" charset="0"/>
              <a:buChar char="•"/>
            </a:pPr>
            <a:r>
              <a:rPr lang="id-ID" dirty="0"/>
              <a:t>Gunakan kondisi pengujian yang lebih bervariasi, seperti sudut kamera, pencahayaan, dan gerakan bola cepat.</a:t>
            </a:r>
          </a:p>
          <a:p>
            <a:pPr>
              <a:buFont typeface="Arial" panose="020B0604020202020204" pitchFamily="34" charset="0"/>
              <a:buChar char="•"/>
            </a:pPr>
            <a:r>
              <a:rPr lang="id-ID" dirty="0"/>
              <a:t>Tambahkan metode untuk dapat melacak pergerakan objek secara lebih akurat</a:t>
            </a:r>
          </a:p>
          <a:p>
            <a:pPr>
              <a:buFont typeface="Arial" panose="020B0604020202020204" pitchFamily="34" charset="0"/>
              <a:buChar char="•"/>
            </a:pPr>
            <a:r>
              <a:rPr lang="id-ID" dirty="0"/>
              <a:t>Tambahkan pendekatan lainnya selain pendekatan bounding box</a:t>
            </a:r>
          </a:p>
          <a:p>
            <a:pPr>
              <a:buFont typeface="Arial" panose="020B0604020202020204" pitchFamily="34" charset="0"/>
              <a:buChar char="•"/>
            </a:pPr>
            <a:r>
              <a:rPr lang="id-ID" dirty="0"/>
              <a:t>Perluas jenis pelanggaran</a:t>
            </a:r>
          </a:p>
        </p:txBody>
      </p:sp>
      <p:sp>
        <p:nvSpPr>
          <p:cNvPr id="10" name="Google Shape;475;p6">
            <a:extLst>
              <a:ext uri="{FF2B5EF4-FFF2-40B4-BE49-F238E27FC236}">
                <a16:creationId xmlns:a16="http://schemas.microsoft.com/office/drawing/2014/main" id="{CBB0758E-6FD5-42D9-B3AF-C5FE9C37616A}"/>
              </a:ext>
            </a:extLst>
          </p:cNvPr>
          <p:cNvSpPr txBox="1">
            <a:spLocks/>
          </p:cNvSpPr>
          <p:nvPr/>
        </p:nvSpPr>
        <p:spPr>
          <a:xfrm>
            <a:off x="4261975" y="211200"/>
            <a:ext cx="5558400" cy="9669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Arial"/>
              <a:buNone/>
              <a:defRPr sz="14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buClr>
                <a:schemeClr val="lt1"/>
              </a:buClr>
            </a:pPr>
            <a:r>
              <a:rPr lang="en-US" sz="4800" dirty="0">
                <a:solidFill>
                  <a:schemeClr val="dk1"/>
                </a:solidFill>
              </a:rPr>
              <a:t>Saran</a:t>
            </a:r>
            <a:endParaRPr lang="en-US" dirty="0">
              <a:solidFill>
                <a:schemeClr val="dk1"/>
              </a:solidFill>
            </a:endParaRPr>
          </a:p>
        </p:txBody>
      </p:sp>
    </p:spTree>
    <p:extLst>
      <p:ext uri="{BB962C8B-B14F-4D97-AF65-F5344CB8AC3E}">
        <p14:creationId xmlns:p14="http://schemas.microsoft.com/office/powerpoint/2010/main" val="1608749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254"/>
        <p:cNvGrpSpPr/>
        <p:nvPr/>
      </p:nvGrpSpPr>
      <p:grpSpPr>
        <a:xfrm>
          <a:off x="0" y="0"/>
          <a:ext cx="0" cy="0"/>
          <a:chOff x="0" y="0"/>
          <a:chExt cx="0" cy="0"/>
        </a:xfrm>
      </p:grpSpPr>
      <p:sp>
        <p:nvSpPr>
          <p:cNvPr id="255" name="Google Shape;255;g370f4e648af_0_0"/>
          <p:cNvSpPr txBox="1">
            <a:spLocks noGrp="1"/>
          </p:cNvSpPr>
          <p:nvPr>
            <p:ph type="body" idx="1"/>
          </p:nvPr>
        </p:nvSpPr>
        <p:spPr>
          <a:xfrm>
            <a:off x="838200" y="2307925"/>
            <a:ext cx="10515600" cy="986400"/>
          </a:xfrm>
          <a:prstGeom prst="rect">
            <a:avLst/>
          </a:prstGeom>
          <a:noFill/>
          <a:ln>
            <a:noFill/>
          </a:ln>
        </p:spPr>
        <p:txBody>
          <a:bodyPr spcFirstLastPara="1" wrap="square" lIns="91425" tIns="45700" rIns="91425" bIns="45700" anchor="t" anchorCtr="0">
            <a:normAutofit fontScale="92500" lnSpcReduction="10000"/>
          </a:bodyPr>
          <a:lstStyle/>
          <a:p>
            <a:pPr marL="457200" lvl="0" indent="-355600" algn="l" rtl="0">
              <a:lnSpc>
                <a:spcPct val="90000"/>
              </a:lnSpc>
              <a:spcBef>
                <a:spcPts val="1000"/>
              </a:spcBef>
              <a:spcAft>
                <a:spcPts val="0"/>
              </a:spcAft>
              <a:buSzPts val="2000"/>
              <a:buAutoNum type="arabicPeriod"/>
            </a:pPr>
            <a:r>
              <a:rPr lang="en-US"/>
              <a:t>Analisis Visual</a:t>
            </a:r>
            <a:endParaRPr/>
          </a:p>
          <a:p>
            <a:pPr marL="0" lvl="0" indent="0" algn="l" rtl="0">
              <a:lnSpc>
                <a:spcPct val="90000"/>
              </a:lnSpc>
              <a:spcBef>
                <a:spcPts val="1000"/>
              </a:spcBef>
              <a:spcAft>
                <a:spcPts val="0"/>
              </a:spcAft>
              <a:buNone/>
            </a:pPr>
            <a:r>
              <a:rPr lang="en-US" sz="1600"/>
              <a:t>Bagian ini akan menampilkan secara visual bagaimana gambar kemasan produk mentah diolah menjadi format input yang optimal untuk masing-masing tugas: Klasifikasi Model (CRNN &amp; MobileNetV2) dan Ekstraksi Teks (Tesseract OCR).</a:t>
            </a:r>
            <a:endParaRPr sz="1600">
              <a:latin typeface="Arial"/>
              <a:ea typeface="Arial"/>
              <a:cs typeface="Arial"/>
              <a:sym typeface="Arial"/>
            </a:endParaRPr>
          </a:p>
        </p:txBody>
      </p:sp>
      <p:sp>
        <p:nvSpPr>
          <p:cNvPr id="256" name="Google Shape;256;g370f4e648af_0_0"/>
          <p:cNvSpPr txBox="1">
            <a:spLocks noGrp="1"/>
          </p:cNvSpPr>
          <p:nvPr>
            <p:ph type="title"/>
          </p:nvPr>
        </p:nvSpPr>
        <p:spPr>
          <a:xfrm>
            <a:off x="838200" y="10545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dirty="0">
                <a:solidFill>
                  <a:schemeClr val="dk1"/>
                </a:solidFill>
              </a:rPr>
              <a:t>Hasil Preprocessing Gambar</a:t>
            </a:r>
            <a:endParaRPr b="1" dirty="0">
              <a:latin typeface="Arial"/>
              <a:ea typeface="Arial"/>
              <a:cs typeface="Arial"/>
              <a:sym typeface="Arial"/>
            </a:endParaRPr>
          </a:p>
        </p:txBody>
      </p:sp>
      <p:pic>
        <p:nvPicPr>
          <p:cNvPr id="257" name="Google Shape;257;g370f4e648af_0_0"/>
          <p:cNvPicPr preferRelativeResize="0"/>
          <p:nvPr/>
        </p:nvPicPr>
        <p:blipFill>
          <a:blip r:embed="rId3">
            <a:alphaModFix/>
          </a:blip>
          <a:stretch>
            <a:fillRect/>
          </a:stretch>
        </p:blipFill>
        <p:spPr>
          <a:xfrm>
            <a:off x="1107525" y="3538575"/>
            <a:ext cx="9482199" cy="23705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261"/>
        <p:cNvGrpSpPr/>
        <p:nvPr/>
      </p:nvGrpSpPr>
      <p:grpSpPr>
        <a:xfrm>
          <a:off x="0" y="0"/>
          <a:ext cx="0" cy="0"/>
          <a:chOff x="0" y="0"/>
          <a:chExt cx="0" cy="0"/>
        </a:xfrm>
      </p:grpSpPr>
      <p:sp>
        <p:nvSpPr>
          <p:cNvPr id="262" name="Google Shape;262;g370f4e648af_0_10"/>
          <p:cNvSpPr txBox="1">
            <a:spLocks noGrp="1"/>
          </p:cNvSpPr>
          <p:nvPr>
            <p:ph type="title"/>
          </p:nvPr>
        </p:nvSpPr>
        <p:spPr>
          <a:xfrm>
            <a:off x="838200" y="10545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Preprocessing Gambar</a:t>
            </a:r>
            <a:endParaRPr b="1">
              <a:latin typeface="Arial"/>
              <a:ea typeface="Arial"/>
              <a:cs typeface="Arial"/>
              <a:sym typeface="Arial"/>
            </a:endParaRPr>
          </a:p>
        </p:txBody>
      </p:sp>
      <p:sp>
        <p:nvSpPr>
          <p:cNvPr id="263" name="Google Shape;263;g370f4e648af_0_10"/>
          <p:cNvSpPr txBox="1">
            <a:spLocks noGrp="1"/>
          </p:cNvSpPr>
          <p:nvPr>
            <p:ph type="body" idx="1"/>
          </p:nvPr>
        </p:nvSpPr>
        <p:spPr>
          <a:xfrm>
            <a:off x="838200" y="2351075"/>
            <a:ext cx="4645200" cy="19083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00000"/>
              </a:lnSpc>
              <a:spcBef>
                <a:spcPts val="0"/>
              </a:spcBef>
              <a:spcAft>
                <a:spcPts val="0"/>
              </a:spcAft>
              <a:buSzPts val="1600"/>
              <a:buAutoNum type="arabicPeriod"/>
            </a:pPr>
            <a:r>
              <a:rPr lang="en-US" sz="1600"/>
              <a:t>Konversi Grayscale</a:t>
            </a:r>
            <a:endParaRPr sz="1600"/>
          </a:p>
          <a:p>
            <a:pPr marL="0" marR="0" lvl="0" indent="0" algn="l" rtl="0">
              <a:lnSpc>
                <a:spcPct val="100000"/>
              </a:lnSpc>
              <a:spcBef>
                <a:spcPts val="0"/>
              </a:spcBef>
              <a:spcAft>
                <a:spcPts val="0"/>
              </a:spcAft>
              <a:buNone/>
            </a:pPr>
            <a:r>
              <a:rPr lang="en-US" sz="1400"/>
              <a:t>	Menghilangkan warna dan menyederhanakan data dari 3 kanal menjadi 1 kanal, yang membantu model OCR fokus pada fitur struktural.</a:t>
            </a:r>
            <a:endParaRPr sz="1400"/>
          </a:p>
        </p:txBody>
      </p:sp>
      <p:sp>
        <p:nvSpPr>
          <p:cNvPr id="264" name="Google Shape;264;g370f4e648af_0_10"/>
          <p:cNvSpPr txBox="1">
            <a:spLocks noGrp="1"/>
          </p:cNvSpPr>
          <p:nvPr>
            <p:ph type="body" idx="1"/>
          </p:nvPr>
        </p:nvSpPr>
        <p:spPr>
          <a:xfrm>
            <a:off x="838200" y="4400550"/>
            <a:ext cx="4645200" cy="19083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00000"/>
              </a:lnSpc>
              <a:spcBef>
                <a:spcPts val="0"/>
              </a:spcBef>
              <a:spcAft>
                <a:spcPts val="0"/>
              </a:spcAft>
              <a:buSzPts val="1600"/>
              <a:buAutoNum type="arabicPeriod" startAt="3"/>
            </a:pPr>
            <a:r>
              <a:rPr lang="en-US" sz="1600"/>
              <a:t>Adaptive Thresholding</a:t>
            </a:r>
            <a:endParaRPr sz="1600"/>
          </a:p>
          <a:p>
            <a:pPr marL="0" marR="0" lvl="0" indent="0" algn="l" rtl="0">
              <a:lnSpc>
                <a:spcPct val="100000"/>
              </a:lnSpc>
              <a:spcBef>
                <a:spcPts val="0"/>
              </a:spcBef>
              <a:spcAft>
                <a:spcPts val="0"/>
              </a:spcAft>
              <a:buNone/>
            </a:pPr>
            <a:r>
              <a:rPr lang="en-US" sz="1400"/>
              <a:t>Dengan mengubah gambar menjadi format biner yang penting untuk Tesseract, diikuti oleh deskewing untuk meluruskan teks.</a:t>
            </a:r>
            <a:endParaRPr sz="1400"/>
          </a:p>
        </p:txBody>
      </p:sp>
      <p:sp>
        <p:nvSpPr>
          <p:cNvPr id="265" name="Google Shape;265;g370f4e648af_0_10"/>
          <p:cNvSpPr txBox="1">
            <a:spLocks noGrp="1"/>
          </p:cNvSpPr>
          <p:nvPr>
            <p:ph type="body" idx="1"/>
          </p:nvPr>
        </p:nvSpPr>
        <p:spPr>
          <a:xfrm>
            <a:off x="5922725" y="2351075"/>
            <a:ext cx="4645200" cy="19083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00000"/>
              </a:lnSpc>
              <a:spcBef>
                <a:spcPts val="0"/>
              </a:spcBef>
              <a:spcAft>
                <a:spcPts val="0"/>
              </a:spcAft>
              <a:buSzPts val="1600"/>
              <a:buAutoNum type="arabicPeriod" startAt="2"/>
            </a:pPr>
            <a:r>
              <a:rPr lang="en-US" sz="1600"/>
              <a:t>Denoising (Median/Gaussian Blur)</a:t>
            </a:r>
            <a:endParaRPr sz="1600"/>
          </a:p>
          <a:p>
            <a:pPr marL="0" marR="0" lvl="0" indent="0" algn="l" rtl="0">
              <a:lnSpc>
                <a:spcPct val="100000"/>
              </a:lnSpc>
              <a:spcBef>
                <a:spcPts val="0"/>
              </a:spcBef>
              <a:spcAft>
                <a:spcPts val="0"/>
              </a:spcAft>
              <a:buNone/>
            </a:pPr>
            <a:r>
              <a:rPr lang="en-US" sz="1400"/>
              <a:t>Menggunakan Median atau Gaussian Blur untuk menghaluskan gambar dan mengurangi noise kecil tanpa kehilangan detail penting.</a:t>
            </a:r>
            <a:endParaRPr sz="1400"/>
          </a:p>
        </p:txBody>
      </p:sp>
      <p:sp>
        <p:nvSpPr>
          <p:cNvPr id="266" name="Google Shape;266;g370f4e648af_0_10"/>
          <p:cNvSpPr txBox="1">
            <a:spLocks noGrp="1"/>
          </p:cNvSpPr>
          <p:nvPr>
            <p:ph type="body" idx="1"/>
          </p:nvPr>
        </p:nvSpPr>
        <p:spPr>
          <a:xfrm>
            <a:off x="5922725" y="4400550"/>
            <a:ext cx="4645200" cy="19083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00000"/>
              </a:lnSpc>
              <a:spcBef>
                <a:spcPts val="0"/>
              </a:spcBef>
              <a:spcAft>
                <a:spcPts val="0"/>
              </a:spcAft>
              <a:buSzPts val="1600"/>
              <a:buAutoNum type="arabicPeriod" startAt="4"/>
            </a:pPr>
            <a:r>
              <a:rPr lang="en-US" sz="1600"/>
              <a:t>Final Output</a:t>
            </a:r>
            <a:endParaRPr sz="1600"/>
          </a:p>
          <a:p>
            <a:pPr marL="0" marR="0" lvl="0" indent="0" algn="l" rtl="0">
              <a:lnSpc>
                <a:spcPct val="100000"/>
              </a:lnSpc>
              <a:spcBef>
                <a:spcPts val="0"/>
              </a:spcBef>
              <a:spcAft>
                <a:spcPts val="0"/>
              </a:spcAft>
              <a:buNone/>
            </a:pPr>
            <a:r>
              <a:rPr lang="en-US" sz="1400"/>
              <a:t>Gambar akhir siap untuk model dengan minimal noise dan fitur jelas, meski berbeda dalam normalisasi.</a:t>
            </a:r>
            <a:endParaRPr sz="1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270"/>
        <p:cNvGrpSpPr/>
        <p:nvPr/>
      </p:nvGrpSpPr>
      <p:grpSpPr>
        <a:xfrm>
          <a:off x="0" y="0"/>
          <a:ext cx="0" cy="0"/>
          <a:chOff x="0" y="0"/>
          <a:chExt cx="0" cy="0"/>
        </a:xfrm>
      </p:grpSpPr>
      <p:sp>
        <p:nvSpPr>
          <p:cNvPr id="271" name="Google Shape;271;g370f4e648af_0_26"/>
          <p:cNvSpPr txBox="1">
            <a:spLocks noGrp="1"/>
          </p:cNvSpPr>
          <p:nvPr>
            <p:ph type="title"/>
          </p:nvPr>
        </p:nvSpPr>
        <p:spPr>
          <a:xfrm>
            <a:off x="838200" y="10545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Preprocessing Gambar</a:t>
            </a:r>
            <a:endParaRPr b="1">
              <a:latin typeface="Arial"/>
              <a:ea typeface="Arial"/>
              <a:cs typeface="Arial"/>
              <a:sym typeface="Arial"/>
            </a:endParaRPr>
          </a:p>
        </p:txBody>
      </p:sp>
      <p:sp>
        <p:nvSpPr>
          <p:cNvPr id="272" name="Google Shape;272;g370f4e648af_0_26"/>
          <p:cNvSpPr txBox="1">
            <a:spLocks noGrp="1"/>
          </p:cNvSpPr>
          <p:nvPr>
            <p:ph type="body" idx="1"/>
          </p:nvPr>
        </p:nvSpPr>
        <p:spPr>
          <a:xfrm>
            <a:off x="838200" y="2307925"/>
            <a:ext cx="10515600" cy="986400"/>
          </a:xfrm>
          <a:prstGeom prst="rect">
            <a:avLst/>
          </a:prstGeom>
          <a:noFill/>
          <a:ln>
            <a:noFill/>
          </a:ln>
        </p:spPr>
        <p:txBody>
          <a:bodyPr spcFirstLastPara="1" wrap="square" lIns="91425" tIns="45700" rIns="91425" bIns="45700" anchor="t" anchorCtr="0">
            <a:normAutofit lnSpcReduction="10000"/>
          </a:bodyPr>
          <a:lstStyle/>
          <a:p>
            <a:pPr marL="457200" lvl="0" indent="-355600" algn="l" rtl="0">
              <a:lnSpc>
                <a:spcPct val="90000"/>
              </a:lnSpc>
              <a:spcBef>
                <a:spcPts val="1000"/>
              </a:spcBef>
              <a:spcAft>
                <a:spcPts val="0"/>
              </a:spcAft>
              <a:buSzPts val="2000"/>
              <a:buAutoNum type="arabicPeriod" startAt="2"/>
            </a:pPr>
            <a:r>
              <a:rPr lang="en-US"/>
              <a:t>Analisis Perbandingan Input Model Klasifikasi</a:t>
            </a:r>
            <a:endParaRPr/>
          </a:p>
          <a:p>
            <a:pPr marL="0" lvl="0" indent="0" algn="l" rtl="0">
              <a:lnSpc>
                <a:spcPct val="90000"/>
              </a:lnSpc>
              <a:spcBef>
                <a:spcPts val="1000"/>
              </a:spcBef>
              <a:spcAft>
                <a:spcPts val="0"/>
              </a:spcAft>
              <a:buNone/>
            </a:pPr>
            <a:r>
              <a:rPr lang="en-US" sz="1600"/>
              <a:t>Visualisasi ini dengan jelas menunjukkan perbedaan dasar antara data input yang diterima oleh model CRNN dan MobileNetV2, yang mencerminkan pendekatan pelatihan yang berbeda.</a:t>
            </a:r>
            <a:endParaRPr sz="1600"/>
          </a:p>
        </p:txBody>
      </p:sp>
      <p:pic>
        <p:nvPicPr>
          <p:cNvPr id="273" name="Google Shape;273;g370f4e648af_0_26"/>
          <p:cNvPicPr preferRelativeResize="0"/>
          <p:nvPr/>
        </p:nvPicPr>
        <p:blipFill>
          <a:blip r:embed="rId3">
            <a:alphaModFix/>
          </a:blip>
          <a:stretch>
            <a:fillRect/>
          </a:stretch>
        </p:blipFill>
        <p:spPr>
          <a:xfrm>
            <a:off x="2283500" y="3429000"/>
            <a:ext cx="7625001" cy="2871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277"/>
        <p:cNvGrpSpPr/>
        <p:nvPr/>
      </p:nvGrpSpPr>
      <p:grpSpPr>
        <a:xfrm>
          <a:off x="0" y="0"/>
          <a:ext cx="0" cy="0"/>
          <a:chOff x="0" y="0"/>
          <a:chExt cx="0" cy="0"/>
        </a:xfrm>
      </p:grpSpPr>
      <p:sp>
        <p:nvSpPr>
          <p:cNvPr id="278" name="Google Shape;278;g370f4e648af_0_36"/>
          <p:cNvSpPr txBox="1">
            <a:spLocks noGrp="1"/>
          </p:cNvSpPr>
          <p:nvPr>
            <p:ph type="title"/>
          </p:nvPr>
        </p:nvSpPr>
        <p:spPr>
          <a:xfrm>
            <a:off x="838200" y="10545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Preprocessing Gambar</a:t>
            </a:r>
            <a:endParaRPr b="1">
              <a:latin typeface="Arial"/>
              <a:ea typeface="Arial"/>
              <a:cs typeface="Arial"/>
              <a:sym typeface="Arial"/>
            </a:endParaRPr>
          </a:p>
        </p:txBody>
      </p:sp>
      <p:sp>
        <p:nvSpPr>
          <p:cNvPr id="279" name="Google Shape;279;g370f4e648af_0_36"/>
          <p:cNvSpPr txBox="1">
            <a:spLocks noGrp="1"/>
          </p:cNvSpPr>
          <p:nvPr>
            <p:ph type="body" idx="1"/>
          </p:nvPr>
        </p:nvSpPr>
        <p:spPr>
          <a:xfrm>
            <a:off x="838200" y="2428875"/>
            <a:ext cx="4984800" cy="37482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1000"/>
              </a:spcBef>
              <a:spcAft>
                <a:spcPts val="0"/>
              </a:spcAft>
              <a:buSzPts val="2000"/>
              <a:buAutoNum type="arabicPeriod"/>
            </a:pPr>
            <a:r>
              <a:rPr lang="en-US"/>
              <a:t>CRNN</a:t>
            </a:r>
            <a:endParaRPr/>
          </a:p>
          <a:p>
            <a:pPr marL="457200" lvl="0" indent="-228600" algn="l" rtl="0">
              <a:lnSpc>
                <a:spcPct val="90000"/>
              </a:lnSpc>
              <a:spcBef>
                <a:spcPts val="1000"/>
              </a:spcBef>
              <a:spcAft>
                <a:spcPts val="0"/>
              </a:spcAft>
              <a:buClr>
                <a:srgbClr val="F26E21"/>
              </a:buClr>
              <a:buSzPts val="2000"/>
              <a:buFont typeface="Noto Sans Symbols"/>
              <a:buNone/>
            </a:pPr>
            <a:r>
              <a:rPr lang="en-US"/>
              <a:t>Input untuk CRNN adalah gambar biner berukuran 300 x 300 piksel, yang hanya memanfaatkan informasi bentuk, kontur, dan tata letak spasial tanpa mempertimbangkan warna atau tekstur.</a:t>
            </a:r>
            <a:endParaRPr/>
          </a:p>
        </p:txBody>
      </p:sp>
      <p:sp>
        <p:nvSpPr>
          <p:cNvPr id="280" name="Google Shape;280;g370f4e648af_0_36"/>
          <p:cNvSpPr txBox="1">
            <a:spLocks noGrp="1"/>
          </p:cNvSpPr>
          <p:nvPr>
            <p:ph type="body" idx="1"/>
          </p:nvPr>
        </p:nvSpPr>
        <p:spPr>
          <a:xfrm>
            <a:off x="6369050" y="2428875"/>
            <a:ext cx="4984800" cy="37482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1000"/>
              </a:spcBef>
              <a:spcAft>
                <a:spcPts val="0"/>
              </a:spcAft>
              <a:buSzPts val="2000"/>
              <a:buAutoNum type="arabicPeriod" startAt="2"/>
            </a:pPr>
            <a:r>
              <a:rPr lang="en-US"/>
              <a:t>MobileNetV2</a:t>
            </a:r>
            <a:endParaRPr/>
          </a:p>
          <a:p>
            <a:pPr marL="457200" lvl="0" indent="-228600" algn="l" rtl="0">
              <a:lnSpc>
                <a:spcPct val="90000"/>
              </a:lnSpc>
              <a:spcBef>
                <a:spcPts val="1000"/>
              </a:spcBef>
              <a:spcAft>
                <a:spcPts val="0"/>
              </a:spcAft>
              <a:buClr>
                <a:srgbClr val="F26E21"/>
              </a:buClr>
              <a:buSzPts val="2000"/>
              <a:buFont typeface="Noto Sans Symbols"/>
              <a:buNone/>
            </a:pPr>
            <a:r>
              <a:rPr lang="en-US"/>
              <a:t>Input untuk MobileNetV2 adalah gambar berwarna (RGB) berukuran 224 x 224 piksel yang dinormalisasi dalam rentang nilai [-1, 1]. Pendekatan ini mempertahankan informasi warna dan tekstur, memanfaatkan kemampuan model yang telah dilatih pada jutaan gambar di ImageNet.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291"/>
        <p:cNvGrpSpPr/>
        <p:nvPr/>
      </p:nvGrpSpPr>
      <p:grpSpPr>
        <a:xfrm>
          <a:off x="0" y="0"/>
          <a:ext cx="0" cy="0"/>
          <a:chOff x="0" y="0"/>
          <a:chExt cx="0" cy="0"/>
        </a:xfrm>
      </p:grpSpPr>
      <p:sp>
        <p:nvSpPr>
          <p:cNvPr id="292" name="Google Shape;292;g370f4e648af_0_50"/>
          <p:cNvSpPr txBox="1">
            <a:spLocks noGrp="1"/>
          </p:cNvSpPr>
          <p:nvPr>
            <p:ph type="title"/>
          </p:nvPr>
        </p:nvSpPr>
        <p:spPr>
          <a:xfrm>
            <a:off x="838200" y="50650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Rincian Arsitektur</a:t>
            </a:r>
            <a:endParaRPr b="1">
              <a:latin typeface="Arial"/>
              <a:ea typeface="Arial"/>
              <a:cs typeface="Arial"/>
              <a:sym typeface="Arial"/>
            </a:endParaRPr>
          </a:p>
        </p:txBody>
      </p:sp>
      <p:sp>
        <p:nvSpPr>
          <p:cNvPr id="293" name="Google Shape;293;g370f4e648af_0_50"/>
          <p:cNvSpPr txBox="1">
            <a:spLocks noGrp="1"/>
          </p:cNvSpPr>
          <p:nvPr>
            <p:ph type="body" idx="1"/>
          </p:nvPr>
        </p:nvSpPr>
        <p:spPr>
          <a:xfrm>
            <a:off x="838200" y="1364150"/>
            <a:ext cx="10515600" cy="5211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1000"/>
              </a:spcBef>
              <a:spcAft>
                <a:spcPts val="0"/>
              </a:spcAft>
              <a:buSzPts val="2000"/>
              <a:buFont typeface="Arial"/>
              <a:buAutoNum type="arabicPeriod"/>
            </a:pPr>
            <a:r>
              <a:rPr lang="en-US"/>
              <a:t>Model CRNN (From Scratch)</a:t>
            </a:r>
            <a:endParaRPr sz="1600"/>
          </a:p>
        </p:txBody>
      </p:sp>
      <p:pic>
        <p:nvPicPr>
          <p:cNvPr id="294" name="Google Shape;294;g370f4e648af_0_50"/>
          <p:cNvPicPr preferRelativeResize="0"/>
          <p:nvPr/>
        </p:nvPicPr>
        <p:blipFill rotWithShape="1">
          <a:blip r:embed="rId3">
            <a:alphaModFix/>
          </a:blip>
          <a:srcRect b="54822"/>
          <a:stretch/>
        </p:blipFill>
        <p:spPr>
          <a:xfrm>
            <a:off x="430050" y="2511575"/>
            <a:ext cx="5534025" cy="3507151"/>
          </a:xfrm>
          <a:prstGeom prst="rect">
            <a:avLst/>
          </a:prstGeom>
          <a:noFill/>
          <a:ln>
            <a:noFill/>
          </a:ln>
        </p:spPr>
      </p:pic>
      <p:pic>
        <p:nvPicPr>
          <p:cNvPr id="295" name="Google Shape;295;g370f4e648af_0_50"/>
          <p:cNvPicPr preferRelativeResize="0"/>
          <p:nvPr/>
        </p:nvPicPr>
        <p:blipFill rotWithShape="1">
          <a:blip r:embed="rId3">
            <a:alphaModFix/>
          </a:blip>
          <a:srcRect t="58744"/>
          <a:stretch/>
        </p:blipFill>
        <p:spPr>
          <a:xfrm>
            <a:off x="6219175" y="1451925"/>
            <a:ext cx="5534025" cy="3202600"/>
          </a:xfrm>
          <a:prstGeom prst="rect">
            <a:avLst/>
          </a:prstGeom>
          <a:noFill/>
          <a:ln>
            <a:noFill/>
          </a:ln>
        </p:spPr>
      </p:pic>
      <p:pic>
        <p:nvPicPr>
          <p:cNvPr id="296" name="Google Shape;296;g370f4e648af_0_50"/>
          <p:cNvPicPr preferRelativeResize="0"/>
          <p:nvPr/>
        </p:nvPicPr>
        <p:blipFill>
          <a:blip r:embed="rId4">
            <a:alphaModFix/>
          </a:blip>
          <a:stretch>
            <a:fillRect/>
          </a:stretch>
        </p:blipFill>
        <p:spPr>
          <a:xfrm>
            <a:off x="6219175" y="4755450"/>
            <a:ext cx="3061975" cy="14961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300"/>
        <p:cNvGrpSpPr/>
        <p:nvPr/>
      </p:nvGrpSpPr>
      <p:grpSpPr>
        <a:xfrm>
          <a:off x="0" y="0"/>
          <a:ext cx="0" cy="0"/>
          <a:chOff x="0" y="0"/>
          <a:chExt cx="0" cy="0"/>
        </a:xfrm>
      </p:grpSpPr>
      <p:sp>
        <p:nvSpPr>
          <p:cNvPr id="301" name="Google Shape;301;g370ce3e83ae_0_35"/>
          <p:cNvSpPr txBox="1">
            <a:spLocks noGrp="1"/>
          </p:cNvSpPr>
          <p:nvPr>
            <p:ph type="body" idx="1"/>
          </p:nvPr>
        </p:nvSpPr>
        <p:spPr>
          <a:xfrm>
            <a:off x="838200" y="2319250"/>
            <a:ext cx="10515600" cy="5211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1000"/>
              </a:spcBef>
              <a:spcAft>
                <a:spcPts val="0"/>
              </a:spcAft>
              <a:buSzPts val="2000"/>
              <a:buFont typeface="Arial"/>
              <a:buAutoNum type="arabicPeriod"/>
            </a:pPr>
            <a:r>
              <a:rPr lang="en-US"/>
              <a:t>Model CRNN (From Scratch)</a:t>
            </a:r>
            <a:endParaRPr sz="1600"/>
          </a:p>
        </p:txBody>
      </p:sp>
      <p:sp>
        <p:nvSpPr>
          <p:cNvPr id="302" name="Google Shape;302;g370ce3e83ae_0_35"/>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Rincian Arsitektur</a:t>
            </a:r>
            <a:endParaRPr b="1">
              <a:latin typeface="Arial"/>
              <a:ea typeface="Arial"/>
              <a:cs typeface="Arial"/>
              <a:sym typeface="Arial"/>
            </a:endParaRPr>
          </a:p>
        </p:txBody>
      </p:sp>
      <p:sp>
        <p:nvSpPr>
          <p:cNvPr id="303" name="Google Shape;303;g370ce3e83ae_0_35"/>
          <p:cNvSpPr txBox="1">
            <a:spLocks noGrp="1"/>
          </p:cNvSpPr>
          <p:nvPr>
            <p:ph type="body" idx="1"/>
          </p:nvPr>
        </p:nvSpPr>
        <p:spPr>
          <a:xfrm>
            <a:off x="838175" y="2949975"/>
            <a:ext cx="4984800" cy="32253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a:t>Input Layer, yaitu model menerima input gambar yang berukuran 300 x 300 piksel dengan 3 kanal warna.</a:t>
            </a:r>
            <a:endParaRPr/>
          </a:p>
          <a:p>
            <a:pPr marL="457200" lvl="0" indent="-228600" algn="l" rtl="0">
              <a:lnSpc>
                <a:spcPct val="90000"/>
              </a:lnSpc>
              <a:spcBef>
                <a:spcPts val="1000"/>
              </a:spcBef>
              <a:spcAft>
                <a:spcPts val="0"/>
              </a:spcAft>
              <a:buClr>
                <a:srgbClr val="F26E21"/>
              </a:buClr>
              <a:buSzPts val="2000"/>
              <a:buFont typeface="Noto Sans Symbols"/>
              <a:buNone/>
            </a:pPr>
            <a:r>
              <a:rPr lang="en-US"/>
              <a:t>CNN Feature Extractor memiliki empat blok konvolusi dan pooling, mengurangi ukuran gambar dari 300x300 menjadi 18x18 dan meningkatkan kedalaman fitur dari 32 menjadi 256 untuk belajar fitur hierarkis.</a:t>
            </a:r>
            <a:endParaRPr/>
          </a:p>
        </p:txBody>
      </p:sp>
      <p:sp>
        <p:nvSpPr>
          <p:cNvPr id="304" name="Google Shape;304;g370ce3e83ae_0_35"/>
          <p:cNvSpPr txBox="1">
            <a:spLocks noGrp="1"/>
          </p:cNvSpPr>
          <p:nvPr>
            <p:ph type="body" idx="1"/>
          </p:nvPr>
        </p:nvSpPr>
        <p:spPr>
          <a:xfrm>
            <a:off x="6369025" y="2683700"/>
            <a:ext cx="4984800" cy="3491700"/>
          </a:xfrm>
          <a:prstGeom prst="rect">
            <a:avLst/>
          </a:prstGeom>
          <a:noFill/>
          <a:ln>
            <a:noFill/>
          </a:ln>
        </p:spPr>
        <p:txBody>
          <a:bodyPr spcFirstLastPara="1" wrap="square" lIns="91425" tIns="45700" rIns="91425" bIns="45700" anchor="t" anchorCtr="0">
            <a:normAutofit fontScale="92500"/>
          </a:bodyPr>
          <a:lstStyle/>
          <a:p>
            <a:pPr marL="457200" lvl="0" indent="-228600" algn="l" rtl="0">
              <a:lnSpc>
                <a:spcPct val="90000"/>
              </a:lnSpc>
              <a:spcBef>
                <a:spcPts val="1000"/>
              </a:spcBef>
              <a:spcAft>
                <a:spcPts val="0"/>
              </a:spcAft>
              <a:buClr>
                <a:srgbClr val="F26E21"/>
              </a:buClr>
              <a:buSzPts val="2000"/>
              <a:buFont typeface="Noto Sans Symbols"/>
              <a:buNone/>
            </a:pPr>
            <a:r>
              <a:rPr lang="en-US"/>
              <a:t>RNN Sequence Processor menggunakan Lapisan Reshape untuk mengubah output CNN menjadi format sekuensial, diikuti oleh Lapisan Bidirectional LSTM untuk memproses sekuens.</a:t>
            </a:r>
            <a:endParaRPr/>
          </a:p>
          <a:p>
            <a:pPr marL="457200" lvl="0" indent="-228600" algn="l" rtl="0">
              <a:lnSpc>
                <a:spcPct val="90000"/>
              </a:lnSpc>
              <a:spcBef>
                <a:spcPts val="1000"/>
              </a:spcBef>
              <a:spcAft>
                <a:spcPts val="0"/>
              </a:spcAft>
              <a:buClr>
                <a:srgbClr val="F26E21"/>
              </a:buClr>
              <a:buSzPts val="2000"/>
              <a:buFont typeface="Noto Sans Symbols"/>
              <a:buNone/>
            </a:pPr>
            <a:r>
              <a:rPr lang="en-US"/>
              <a:t>Model ini memiliki total 5.440.966 parameter, sebagian besar dari Bidirectional LSTM, memerlukan dataset besar untuk pelatihan efektif, dengan 5.439.494 parameternya dapat dilatih dan 1.472 tidak dapat dilatih.</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308"/>
        <p:cNvGrpSpPr/>
        <p:nvPr/>
      </p:nvGrpSpPr>
      <p:grpSpPr>
        <a:xfrm>
          <a:off x="0" y="0"/>
          <a:ext cx="0" cy="0"/>
          <a:chOff x="0" y="0"/>
          <a:chExt cx="0" cy="0"/>
        </a:xfrm>
      </p:grpSpPr>
      <p:sp>
        <p:nvSpPr>
          <p:cNvPr id="309" name="Google Shape;309;g370f4e648af_0_79"/>
          <p:cNvSpPr txBox="1">
            <a:spLocks noGrp="1"/>
          </p:cNvSpPr>
          <p:nvPr>
            <p:ph type="body" idx="1"/>
          </p:nvPr>
        </p:nvSpPr>
        <p:spPr>
          <a:xfrm>
            <a:off x="838200" y="2428875"/>
            <a:ext cx="10515600" cy="11943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1000"/>
              </a:spcBef>
              <a:spcAft>
                <a:spcPts val="0"/>
              </a:spcAft>
              <a:buSzPts val="2000"/>
              <a:buFont typeface="Arial"/>
              <a:buAutoNum type="arabicPeriod" startAt="2"/>
            </a:pPr>
            <a:r>
              <a:rPr lang="en-US"/>
              <a:t>Model MobileNetV2 (Transfer Learning)</a:t>
            </a:r>
            <a:endParaRPr/>
          </a:p>
          <a:p>
            <a:pPr marL="457200" lvl="0" indent="0" algn="l" rtl="0">
              <a:lnSpc>
                <a:spcPct val="90000"/>
              </a:lnSpc>
              <a:spcBef>
                <a:spcPts val="1000"/>
              </a:spcBef>
              <a:spcAft>
                <a:spcPts val="0"/>
              </a:spcAft>
              <a:buNone/>
            </a:pPr>
            <a:r>
              <a:rPr lang="en-US" sz="1600"/>
              <a:t>Memanfaatkan "pengetahuan" dari model yang sudah ahli (pre-trained) dan mengadaptasikannya untuk tugas klasifikasi kemasan produk.</a:t>
            </a:r>
            <a:endParaRPr sz="1600"/>
          </a:p>
        </p:txBody>
      </p:sp>
      <p:sp>
        <p:nvSpPr>
          <p:cNvPr id="310" name="Google Shape;310;g370f4e648af_0_79"/>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Rincian Arsitektur</a:t>
            </a:r>
            <a:endParaRPr b="1">
              <a:latin typeface="Arial"/>
              <a:ea typeface="Arial"/>
              <a:cs typeface="Arial"/>
              <a:sym typeface="Arial"/>
            </a:endParaRPr>
          </a:p>
        </p:txBody>
      </p:sp>
      <p:pic>
        <p:nvPicPr>
          <p:cNvPr id="311" name="Google Shape;311;g370f4e648af_0_79"/>
          <p:cNvPicPr preferRelativeResize="0"/>
          <p:nvPr/>
        </p:nvPicPr>
        <p:blipFill>
          <a:blip r:embed="rId3">
            <a:alphaModFix/>
          </a:blip>
          <a:stretch>
            <a:fillRect/>
          </a:stretch>
        </p:blipFill>
        <p:spPr>
          <a:xfrm>
            <a:off x="1500175" y="3838200"/>
            <a:ext cx="9191625" cy="18097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315"/>
        <p:cNvGrpSpPr/>
        <p:nvPr/>
      </p:nvGrpSpPr>
      <p:grpSpPr>
        <a:xfrm>
          <a:off x="0" y="0"/>
          <a:ext cx="0" cy="0"/>
          <a:chOff x="0" y="0"/>
          <a:chExt cx="0" cy="0"/>
        </a:xfrm>
      </p:grpSpPr>
      <p:sp>
        <p:nvSpPr>
          <p:cNvPr id="316" name="Google Shape;316;g370f4e648af_0_45"/>
          <p:cNvSpPr txBox="1">
            <a:spLocks noGrp="1"/>
          </p:cNvSpPr>
          <p:nvPr>
            <p:ph type="body" idx="1"/>
          </p:nvPr>
        </p:nvSpPr>
        <p:spPr>
          <a:xfrm>
            <a:off x="540700" y="2428875"/>
            <a:ext cx="5318400" cy="3511500"/>
          </a:xfrm>
          <a:prstGeom prst="rect">
            <a:avLst/>
          </a:prstGeom>
          <a:noFill/>
          <a:ln>
            <a:noFill/>
          </a:ln>
        </p:spPr>
        <p:txBody>
          <a:bodyPr spcFirstLastPara="1" wrap="square" lIns="91425" tIns="45700" rIns="91425" bIns="45700" anchor="t" anchorCtr="0">
            <a:normAutofit/>
          </a:bodyPr>
          <a:lstStyle/>
          <a:p>
            <a:pPr marL="457200" lvl="0" indent="-355600" algn="l" rtl="0">
              <a:spcBef>
                <a:spcPts val="1000"/>
              </a:spcBef>
              <a:spcAft>
                <a:spcPts val="0"/>
              </a:spcAft>
              <a:buSzPts val="2000"/>
              <a:buFont typeface="Arial"/>
              <a:buAutoNum type="arabicPeriod" startAt="2"/>
            </a:pPr>
            <a:r>
              <a:rPr lang="en-US">
                <a:solidFill>
                  <a:schemeClr val="dk1"/>
                </a:solidFill>
              </a:rPr>
              <a:t>Model MobileNetV2 (Transfer Learning)</a:t>
            </a:r>
            <a:endParaRPr>
              <a:solidFill>
                <a:schemeClr val="dk1"/>
              </a:solidFill>
            </a:endParaRPr>
          </a:p>
          <a:p>
            <a:pPr marL="457200" lvl="0" indent="0" algn="l" rtl="0">
              <a:spcBef>
                <a:spcPts val="1000"/>
              </a:spcBef>
              <a:spcAft>
                <a:spcPts val="0"/>
              </a:spcAft>
              <a:buNone/>
            </a:pPr>
            <a:r>
              <a:rPr lang="en-US" sz="1600">
                <a:solidFill>
                  <a:schemeClr val="dk1"/>
                </a:solidFill>
              </a:rPr>
              <a:t>Proses pelatihan untuk model MobileNetV2 dilakukan melalui dua tahapan yang canggih, yaitu:</a:t>
            </a:r>
            <a:endParaRPr sz="1600">
              <a:solidFill>
                <a:schemeClr val="dk1"/>
              </a:solidFill>
            </a:endParaRPr>
          </a:p>
          <a:p>
            <a:pPr marL="914400" lvl="0" indent="-330200" algn="l" rtl="0">
              <a:spcBef>
                <a:spcPts val="1000"/>
              </a:spcBef>
              <a:spcAft>
                <a:spcPts val="0"/>
              </a:spcAft>
              <a:buClr>
                <a:schemeClr val="dk1"/>
              </a:buClr>
              <a:buSzPts val="1600"/>
              <a:buChar char="●"/>
            </a:pPr>
            <a:r>
              <a:rPr lang="en-US" sz="1600">
                <a:solidFill>
                  <a:schemeClr val="dk1"/>
                </a:solidFill>
              </a:rPr>
              <a:t>Tahap 1 (Transfer Learning)</a:t>
            </a:r>
            <a:endParaRPr sz="1600">
              <a:solidFill>
                <a:schemeClr val="dk1"/>
              </a:solidFill>
            </a:endParaRPr>
          </a:p>
          <a:p>
            <a:pPr marL="914400" lvl="0" indent="-330200" algn="l" rtl="0">
              <a:spcBef>
                <a:spcPts val="0"/>
              </a:spcBef>
              <a:spcAft>
                <a:spcPts val="0"/>
              </a:spcAft>
              <a:buClr>
                <a:schemeClr val="dk1"/>
              </a:buClr>
              <a:buSzPts val="1600"/>
              <a:buChar char="●"/>
            </a:pPr>
            <a:r>
              <a:rPr lang="en-US" sz="1600">
                <a:solidFill>
                  <a:schemeClr val="dk1"/>
                </a:solidFill>
              </a:rPr>
              <a:t>Tahap 2 (Fine-Tuning).</a:t>
            </a:r>
            <a:endParaRPr sz="1600">
              <a:solidFill>
                <a:schemeClr val="dk1"/>
              </a:solidFill>
            </a:endParaRPr>
          </a:p>
          <a:p>
            <a:pPr marL="457200" lvl="0" indent="0" algn="l" rtl="0">
              <a:spcBef>
                <a:spcPts val="1000"/>
              </a:spcBef>
              <a:spcAft>
                <a:spcPts val="0"/>
              </a:spcAft>
              <a:buNone/>
            </a:pPr>
            <a:r>
              <a:rPr lang="en-US" sz="1600">
                <a:solidFill>
                  <a:schemeClr val="dk1"/>
                </a:solidFill>
              </a:rPr>
              <a:t>Masing-masing tahap memiliki tujuan yang berbeda, yang terlihat dari perubahan jumlah parameter yang dapat dilatih dalam ringkasan arsitektur.</a:t>
            </a:r>
            <a:endParaRPr sz="1600">
              <a:solidFill>
                <a:schemeClr val="dk1"/>
              </a:solidFill>
            </a:endParaRPr>
          </a:p>
          <a:p>
            <a:pPr marL="457200" lvl="0" indent="0" algn="l" rtl="0">
              <a:spcBef>
                <a:spcPts val="1000"/>
              </a:spcBef>
              <a:spcAft>
                <a:spcPts val="0"/>
              </a:spcAft>
              <a:buNone/>
            </a:pPr>
            <a:r>
              <a:rPr lang="en-US" sz="1600">
                <a:solidFill>
                  <a:schemeClr val="dk1"/>
                </a:solidFill>
              </a:rPr>
              <a:t>Di samping merupakan tabel ringkasan model untuk arsitektur MobileNetV2.</a:t>
            </a:r>
            <a:endParaRPr sz="1600">
              <a:solidFill>
                <a:schemeClr val="dk1"/>
              </a:solidFill>
            </a:endParaRPr>
          </a:p>
        </p:txBody>
      </p:sp>
      <p:sp>
        <p:nvSpPr>
          <p:cNvPr id="317" name="Google Shape;317;g370f4e648af_0_45"/>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Rincian Arsitektur</a:t>
            </a:r>
            <a:endParaRPr sz="3600">
              <a:solidFill>
                <a:schemeClr val="dk1"/>
              </a:solidFill>
            </a:endParaRPr>
          </a:p>
        </p:txBody>
      </p:sp>
      <p:pic>
        <p:nvPicPr>
          <p:cNvPr id="318" name="Google Shape;318;g370f4e648af_0_45"/>
          <p:cNvPicPr preferRelativeResize="0"/>
          <p:nvPr/>
        </p:nvPicPr>
        <p:blipFill>
          <a:blip r:embed="rId3">
            <a:alphaModFix/>
          </a:blip>
          <a:stretch>
            <a:fillRect/>
          </a:stretch>
        </p:blipFill>
        <p:spPr>
          <a:xfrm>
            <a:off x="5950900" y="1999975"/>
            <a:ext cx="5943600" cy="3200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322"/>
        <p:cNvGrpSpPr/>
        <p:nvPr/>
      </p:nvGrpSpPr>
      <p:grpSpPr>
        <a:xfrm>
          <a:off x="0" y="0"/>
          <a:ext cx="0" cy="0"/>
          <a:chOff x="0" y="0"/>
          <a:chExt cx="0" cy="0"/>
        </a:xfrm>
      </p:grpSpPr>
      <p:sp>
        <p:nvSpPr>
          <p:cNvPr id="323" name="Google Shape;323;g370f4e648af_0_103"/>
          <p:cNvSpPr txBox="1">
            <a:spLocks noGrp="1"/>
          </p:cNvSpPr>
          <p:nvPr>
            <p:ph type="body" idx="1"/>
          </p:nvPr>
        </p:nvSpPr>
        <p:spPr>
          <a:xfrm>
            <a:off x="838200" y="1235675"/>
            <a:ext cx="10515600" cy="5367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1000"/>
              </a:spcBef>
              <a:spcAft>
                <a:spcPts val="0"/>
              </a:spcAft>
              <a:buSzPts val="2000"/>
              <a:buFont typeface="Arial"/>
              <a:buAutoNum type="arabicPeriod" startAt="2"/>
            </a:pPr>
            <a:r>
              <a:rPr lang="en-US"/>
              <a:t>Model MobileNetV2 (Transfer Learning)</a:t>
            </a:r>
            <a:endParaRPr sz="2000">
              <a:latin typeface="Arial"/>
              <a:ea typeface="Arial"/>
              <a:cs typeface="Arial"/>
              <a:sym typeface="Arial"/>
            </a:endParaRPr>
          </a:p>
        </p:txBody>
      </p:sp>
      <p:sp>
        <p:nvSpPr>
          <p:cNvPr id="324" name="Google Shape;324;g370f4e648af_0_103"/>
          <p:cNvSpPr txBox="1">
            <a:spLocks noGrp="1"/>
          </p:cNvSpPr>
          <p:nvPr>
            <p:ph type="title"/>
          </p:nvPr>
        </p:nvSpPr>
        <p:spPr>
          <a:xfrm>
            <a:off x="838200" y="3812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Rincian Arsitektur</a:t>
            </a:r>
            <a:endParaRPr sz="3600">
              <a:solidFill>
                <a:schemeClr val="dk1"/>
              </a:solidFill>
            </a:endParaRPr>
          </a:p>
        </p:txBody>
      </p:sp>
      <p:sp>
        <p:nvSpPr>
          <p:cNvPr id="325" name="Google Shape;325;g370f4e648af_0_103"/>
          <p:cNvSpPr txBox="1">
            <a:spLocks noGrp="1"/>
          </p:cNvSpPr>
          <p:nvPr>
            <p:ph type="body" idx="1"/>
          </p:nvPr>
        </p:nvSpPr>
        <p:spPr>
          <a:xfrm>
            <a:off x="337150" y="2386275"/>
            <a:ext cx="4984800" cy="13464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a:t>Tahap 1 (Transfer Learning)</a:t>
            </a:r>
            <a:endParaRPr/>
          </a:p>
          <a:p>
            <a:pPr marL="457200" lvl="0" indent="-228600" algn="l" rtl="0">
              <a:lnSpc>
                <a:spcPct val="90000"/>
              </a:lnSpc>
              <a:spcBef>
                <a:spcPts val="1000"/>
              </a:spcBef>
              <a:spcAft>
                <a:spcPts val="0"/>
              </a:spcAft>
              <a:buClr>
                <a:srgbClr val="F26E21"/>
              </a:buClr>
              <a:buSzPts val="2000"/>
              <a:buFont typeface="Noto Sans Symbols"/>
              <a:buNone/>
            </a:pPr>
            <a:r>
              <a:rPr lang="en-US" sz="1600"/>
              <a:t>Hanya Classifier Head yang dilatih, seperti menyambungkan "otak" baru ke seorang ahli dan hanya melatih otak baru tersebut.</a:t>
            </a:r>
            <a:endParaRPr sz="1600"/>
          </a:p>
        </p:txBody>
      </p:sp>
      <p:sp>
        <p:nvSpPr>
          <p:cNvPr id="326" name="Google Shape;326;g370f4e648af_0_103"/>
          <p:cNvSpPr txBox="1">
            <a:spLocks noGrp="1"/>
          </p:cNvSpPr>
          <p:nvPr>
            <p:ph type="body" idx="1"/>
          </p:nvPr>
        </p:nvSpPr>
        <p:spPr>
          <a:xfrm>
            <a:off x="337150" y="3887025"/>
            <a:ext cx="5574000" cy="1769400"/>
          </a:xfrm>
          <a:prstGeom prst="rect">
            <a:avLst/>
          </a:prstGeom>
          <a:noFill/>
          <a:ln>
            <a:noFill/>
          </a:ln>
        </p:spPr>
        <p:txBody>
          <a:bodyPr spcFirstLastPara="1" wrap="square" lIns="91425" tIns="45700" rIns="91425" bIns="45700" anchor="t" anchorCtr="0">
            <a:normAutofit lnSpcReduction="10000"/>
          </a:bodyPr>
          <a:lstStyle/>
          <a:p>
            <a:pPr marL="457200" lvl="0" indent="-228600" algn="l" rtl="0">
              <a:lnSpc>
                <a:spcPct val="90000"/>
              </a:lnSpc>
              <a:spcBef>
                <a:spcPts val="1000"/>
              </a:spcBef>
              <a:spcAft>
                <a:spcPts val="0"/>
              </a:spcAft>
              <a:buClr>
                <a:srgbClr val="F26E21"/>
              </a:buClr>
              <a:buSzPts val="2000"/>
              <a:buFont typeface="Noto Sans Symbols"/>
              <a:buNone/>
            </a:pPr>
            <a:r>
              <a:rPr lang="en-US"/>
              <a:t>Tahap 2 (Fine-Tuning)</a:t>
            </a:r>
            <a:endParaRPr/>
          </a:p>
          <a:p>
            <a:pPr marL="457200" lvl="0" indent="-228600" algn="l" rtl="0">
              <a:lnSpc>
                <a:spcPct val="90000"/>
              </a:lnSpc>
              <a:spcBef>
                <a:spcPts val="1000"/>
              </a:spcBef>
              <a:spcAft>
                <a:spcPts val="0"/>
              </a:spcAft>
              <a:buClr>
                <a:srgbClr val="F26E21"/>
              </a:buClr>
              <a:buSzPts val="2000"/>
              <a:buFont typeface="Noto Sans Symbols"/>
              <a:buNone/>
            </a:pPr>
            <a:r>
              <a:rPr lang="en-US" sz="1500">
                <a:solidFill>
                  <a:schemeClr val="dk1"/>
                </a:solidFill>
              </a:rPr>
              <a:t>Setelah Classifier Head stabil, beberapa lapisan teratas dari Base Model yang dicairkan (unfrozen) dan dilatih ulang bersama-sama dengan learning rate yang sangat rendah. Hal ini seperti meminta sang ahli untuk sedikit menyesuaikan pengetahuannya agar lebih cocok dengan masalah baru.</a:t>
            </a:r>
            <a:endParaRPr sz="1500"/>
          </a:p>
        </p:txBody>
      </p:sp>
      <p:sp>
        <p:nvSpPr>
          <p:cNvPr id="327" name="Google Shape;327;g370f4e648af_0_103"/>
          <p:cNvSpPr txBox="1">
            <a:spLocks noGrp="1"/>
          </p:cNvSpPr>
          <p:nvPr>
            <p:ph type="body" idx="1"/>
          </p:nvPr>
        </p:nvSpPr>
        <p:spPr>
          <a:xfrm>
            <a:off x="6005075" y="1858500"/>
            <a:ext cx="5902800" cy="684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None/>
            </a:pPr>
            <a:r>
              <a:rPr lang="en-US" sz="1600"/>
              <a:t>Berikut ini adalah tabel perbandingan parameter pada kedua tahap pelatihan MobileNetV2:</a:t>
            </a:r>
            <a:endParaRPr sz="1600">
              <a:latin typeface="Arial"/>
              <a:ea typeface="Arial"/>
              <a:cs typeface="Arial"/>
              <a:sym typeface="Arial"/>
            </a:endParaRPr>
          </a:p>
        </p:txBody>
      </p:sp>
      <p:pic>
        <p:nvPicPr>
          <p:cNvPr id="328" name="Google Shape;328;g370f4e648af_0_103"/>
          <p:cNvPicPr preferRelativeResize="0"/>
          <p:nvPr/>
        </p:nvPicPr>
        <p:blipFill>
          <a:blip r:embed="rId3">
            <a:alphaModFix/>
          </a:blip>
          <a:stretch>
            <a:fillRect/>
          </a:stretch>
        </p:blipFill>
        <p:spPr>
          <a:xfrm>
            <a:off x="6005075" y="2712025"/>
            <a:ext cx="5996749" cy="169157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332"/>
        <p:cNvGrpSpPr/>
        <p:nvPr/>
      </p:nvGrpSpPr>
      <p:grpSpPr>
        <a:xfrm>
          <a:off x="0" y="0"/>
          <a:ext cx="0" cy="0"/>
          <a:chOff x="0" y="0"/>
          <a:chExt cx="0" cy="0"/>
        </a:xfrm>
      </p:grpSpPr>
      <p:sp>
        <p:nvSpPr>
          <p:cNvPr id="333" name="Google Shape;333;g370ce3e83ae_0_40"/>
          <p:cNvSpPr txBox="1">
            <a:spLocks noGrp="1"/>
          </p:cNvSpPr>
          <p:nvPr>
            <p:ph type="body" idx="1"/>
          </p:nvPr>
        </p:nvSpPr>
        <p:spPr>
          <a:xfrm>
            <a:off x="838200" y="2428875"/>
            <a:ext cx="10515600" cy="5367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1000"/>
              </a:spcBef>
              <a:spcAft>
                <a:spcPts val="0"/>
              </a:spcAft>
              <a:buSzPts val="2000"/>
              <a:buFont typeface="Arial"/>
              <a:buAutoNum type="arabicPeriod" startAt="2"/>
            </a:pPr>
            <a:r>
              <a:rPr lang="en-US"/>
              <a:t>Model MobileNetV2 (Transfer Learning) - Komponen Utama</a:t>
            </a:r>
            <a:endParaRPr sz="2000">
              <a:latin typeface="Arial"/>
              <a:ea typeface="Arial"/>
              <a:cs typeface="Arial"/>
              <a:sym typeface="Arial"/>
            </a:endParaRPr>
          </a:p>
        </p:txBody>
      </p:sp>
      <p:sp>
        <p:nvSpPr>
          <p:cNvPr id="334" name="Google Shape;334;g370ce3e83ae_0_40"/>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Rincian Arsitektur</a:t>
            </a:r>
            <a:endParaRPr sz="3600">
              <a:solidFill>
                <a:schemeClr val="dk1"/>
              </a:solidFill>
            </a:endParaRPr>
          </a:p>
        </p:txBody>
      </p:sp>
      <p:sp>
        <p:nvSpPr>
          <p:cNvPr id="335" name="Google Shape;335;g370ce3e83ae_0_40"/>
          <p:cNvSpPr txBox="1">
            <a:spLocks noGrp="1"/>
          </p:cNvSpPr>
          <p:nvPr>
            <p:ph type="body" idx="1"/>
          </p:nvPr>
        </p:nvSpPr>
        <p:spPr>
          <a:xfrm>
            <a:off x="838175" y="2965575"/>
            <a:ext cx="4984800" cy="30420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a:t>Base Model (Model Dasar Pre-trained)</a:t>
            </a:r>
            <a:endParaRPr/>
          </a:p>
          <a:p>
            <a:pPr marL="457200" lvl="0" indent="-228600" algn="l" rtl="0">
              <a:lnSpc>
                <a:spcPct val="90000"/>
              </a:lnSpc>
              <a:spcBef>
                <a:spcPts val="1000"/>
              </a:spcBef>
              <a:spcAft>
                <a:spcPts val="0"/>
              </a:spcAft>
              <a:buClr>
                <a:srgbClr val="F26E21"/>
              </a:buClr>
              <a:buSzPts val="2000"/>
              <a:buFont typeface="Noto Sans Symbols"/>
              <a:buNone/>
            </a:pPr>
            <a:r>
              <a:rPr lang="en-US" sz="1600" b="1"/>
              <a:t>Tugas:</a:t>
            </a:r>
            <a:r>
              <a:rPr lang="en-US" sz="1600"/>
              <a:t> Berfungsi sebagai ekstraktor fitur ahli. Arsitektur MobileNetV2 ini telah dilatih pada jutaan gambar dari dataset ImageNet, sehingga sudah sangat pandai mengenali fitur visual umum (tekstur, warna, bentuk).</a:t>
            </a:r>
            <a:endParaRPr sz="1600"/>
          </a:p>
          <a:p>
            <a:pPr marL="457200" lvl="0" indent="-228600" algn="l" rtl="0">
              <a:spcBef>
                <a:spcPts val="1000"/>
              </a:spcBef>
              <a:spcAft>
                <a:spcPts val="0"/>
              </a:spcAft>
              <a:buClr>
                <a:srgbClr val="F26E21"/>
              </a:buClr>
              <a:buSzPts val="2000"/>
              <a:buFont typeface="Noto Sans Symbols"/>
              <a:buNone/>
            </a:pPr>
            <a:r>
              <a:rPr lang="en-US" sz="1600" b="1">
                <a:solidFill>
                  <a:schemeClr val="dk1"/>
                </a:solidFill>
              </a:rPr>
              <a:t>Implementasi:</a:t>
            </a:r>
            <a:r>
              <a:rPr lang="en-US" sz="1600">
                <a:solidFill>
                  <a:schemeClr val="dk1"/>
                </a:solidFill>
              </a:rPr>
              <a:t> Lapisan base model ini dibekukan (frozen) agar bobotnya tidak diubah selama pelatihan awal untuk menjaga pengetahuannya pada tahap awal.</a:t>
            </a:r>
            <a:endParaRPr sz="1600"/>
          </a:p>
        </p:txBody>
      </p:sp>
      <p:sp>
        <p:nvSpPr>
          <p:cNvPr id="336" name="Google Shape;336;g370ce3e83ae_0_40"/>
          <p:cNvSpPr txBox="1">
            <a:spLocks noGrp="1"/>
          </p:cNvSpPr>
          <p:nvPr>
            <p:ph type="body" idx="1"/>
          </p:nvPr>
        </p:nvSpPr>
        <p:spPr>
          <a:xfrm>
            <a:off x="6369025" y="2965575"/>
            <a:ext cx="4984800" cy="30420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a:t>Classifier Head (Kepala Klasifikasi Baru)</a:t>
            </a:r>
            <a:endParaRPr/>
          </a:p>
          <a:p>
            <a:pPr marL="457200" lvl="0" indent="-228600" algn="l" rtl="0">
              <a:lnSpc>
                <a:spcPct val="90000"/>
              </a:lnSpc>
              <a:spcBef>
                <a:spcPts val="1000"/>
              </a:spcBef>
              <a:spcAft>
                <a:spcPts val="0"/>
              </a:spcAft>
              <a:buClr>
                <a:srgbClr val="F26E21"/>
              </a:buClr>
              <a:buSzPts val="2000"/>
              <a:buFont typeface="Noto Sans Symbols"/>
              <a:buNone/>
            </a:pPr>
            <a:r>
              <a:rPr lang="en-US" sz="1600" b="1">
                <a:solidFill>
                  <a:schemeClr val="dk1"/>
                </a:solidFill>
              </a:rPr>
              <a:t>Tugas:</a:t>
            </a:r>
            <a:r>
              <a:rPr lang="en-US" sz="1600">
                <a:solidFill>
                  <a:schemeClr val="dk1"/>
                </a:solidFill>
              </a:rPr>
              <a:t> </a:t>
            </a:r>
            <a:r>
              <a:rPr lang="en-US" sz="1600"/>
              <a:t>Merupakan lapisan kustom yang ditambahkan di atas base model. Tugasnya adalah belajar untuk mengambil fitur-fitur canggih yang dihasilkan oleh base model dan memetakannya ke 6 kategori kemasan produk yang spesifik dalam penelitian ini.</a:t>
            </a:r>
            <a:endParaRPr sz="1600"/>
          </a:p>
          <a:p>
            <a:pPr marL="457200" lvl="0" indent="-228600" algn="l" rtl="0">
              <a:lnSpc>
                <a:spcPct val="90000"/>
              </a:lnSpc>
              <a:spcBef>
                <a:spcPts val="1000"/>
              </a:spcBef>
              <a:spcAft>
                <a:spcPts val="0"/>
              </a:spcAft>
              <a:buClr>
                <a:srgbClr val="F26E21"/>
              </a:buClr>
              <a:buSzPts val="2000"/>
              <a:buFont typeface="Noto Sans Symbols"/>
              <a:buNone/>
            </a:pPr>
            <a:r>
              <a:rPr lang="en-US" sz="1600" b="1"/>
              <a:t>Struktur:</a:t>
            </a:r>
            <a:r>
              <a:rPr lang="en-US" sz="1600"/>
              <a:t> Terdiri dari lapisan GlobalAveragePooling2D, Dense, dan Dropout.</a:t>
            </a:r>
            <a:endParaRPr sz="16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340"/>
        <p:cNvGrpSpPr/>
        <p:nvPr/>
      </p:nvGrpSpPr>
      <p:grpSpPr>
        <a:xfrm>
          <a:off x="0" y="0"/>
          <a:ext cx="0" cy="0"/>
          <a:chOff x="0" y="0"/>
          <a:chExt cx="0" cy="0"/>
        </a:xfrm>
      </p:grpSpPr>
      <p:sp>
        <p:nvSpPr>
          <p:cNvPr id="341" name="Google Shape;341;g370f4e648af_0_67"/>
          <p:cNvSpPr txBox="1">
            <a:spLocks noGrp="1"/>
          </p:cNvSpPr>
          <p:nvPr>
            <p:ph type="body" idx="1"/>
          </p:nvPr>
        </p:nvSpPr>
        <p:spPr>
          <a:xfrm>
            <a:off x="838200" y="2428875"/>
            <a:ext cx="10515600" cy="37482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1000"/>
              </a:spcBef>
              <a:spcAft>
                <a:spcPts val="0"/>
              </a:spcAft>
              <a:buSzPts val="2000"/>
              <a:buFont typeface="Arial"/>
              <a:buAutoNum type="arabicPeriod"/>
            </a:pPr>
            <a:r>
              <a:rPr lang="en-US"/>
              <a:t>Model CRNN (From Scratch)</a:t>
            </a:r>
            <a:endParaRPr/>
          </a:p>
          <a:p>
            <a:pPr marL="457200" lvl="0" indent="0" algn="l" rtl="0">
              <a:lnSpc>
                <a:spcPct val="90000"/>
              </a:lnSpc>
              <a:spcBef>
                <a:spcPts val="1000"/>
              </a:spcBef>
              <a:spcAft>
                <a:spcPts val="0"/>
              </a:spcAft>
              <a:buNone/>
            </a:pPr>
            <a:r>
              <a:rPr lang="en-US" sz="1600"/>
              <a:t>Hasil Akurasi Akhir : 30,65%</a:t>
            </a:r>
            <a:endParaRPr sz="1600"/>
          </a:p>
          <a:p>
            <a:pPr marL="457200" lvl="0" indent="0" algn="l" rtl="0">
              <a:lnSpc>
                <a:spcPct val="90000"/>
              </a:lnSpc>
              <a:spcBef>
                <a:spcPts val="1000"/>
              </a:spcBef>
              <a:spcAft>
                <a:spcPts val="0"/>
              </a:spcAft>
              <a:buNone/>
            </a:pPr>
            <a:endParaRPr sz="1600"/>
          </a:p>
          <a:p>
            <a:pPr marL="457200" lvl="0" indent="0" algn="l" rtl="0">
              <a:lnSpc>
                <a:spcPct val="90000"/>
              </a:lnSpc>
              <a:spcBef>
                <a:spcPts val="1000"/>
              </a:spcBef>
              <a:spcAft>
                <a:spcPts val="0"/>
              </a:spcAft>
              <a:buNone/>
            </a:pPr>
            <a:r>
              <a:rPr lang="en-US" sz="1600"/>
              <a:t>Hasil akurasi tersebut menunjukkan bahwa model CRNN mengalami overfitting yang parah, dan hanya "menghafal" data latih dan tidak dapat mengenali data baru.</a:t>
            </a:r>
            <a:endParaRPr sz="1600"/>
          </a:p>
          <a:p>
            <a:pPr marL="457200" lvl="0" indent="0" algn="l" rtl="0">
              <a:lnSpc>
                <a:spcPct val="90000"/>
              </a:lnSpc>
              <a:spcBef>
                <a:spcPts val="1000"/>
              </a:spcBef>
              <a:spcAft>
                <a:spcPts val="0"/>
              </a:spcAft>
              <a:buNone/>
            </a:pPr>
            <a:r>
              <a:rPr lang="en-US" sz="1600"/>
              <a:t>Kesimpulannya, model CRNN ini tidak efektif untuk dataset berskala kecil/menengah, harus membutuhkan dataset yang besar.</a:t>
            </a:r>
            <a:endParaRPr sz="1600"/>
          </a:p>
        </p:txBody>
      </p:sp>
      <p:sp>
        <p:nvSpPr>
          <p:cNvPr id="342" name="Google Shape;342;g370f4e648af_0_67"/>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Kinerja Pelatihan Model</a:t>
            </a:r>
            <a:endParaRPr b="1">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346"/>
        <p:cNvGrpSpPr/>
        <p:nvPr/>
      </p:nvGrpSpPr>
      <p:grpSpPr>
        <a:xfrm>
          <a:off x="0" y="0"/>
          <a:ext cx="0" cy="0"/>
          <a:chOff x="0" y="0"/>
          <a:chExt cx="0" cy="0"/>
        </a:xfrm>
      </p:grpSpPr>
      <p:sp>
        <p:nvSpPr>
          <p:cNvPr id="347" name="Google Shape;347;g370f4e648af_0_88"/>
          <p:cNvSpPr txBox="1">
            <a:spLocks noGrp="1"/>
          </p:cNvSpPr>
          <p:nvPr>
            <p:ph type="body" idx="1"/>
          </p:nvPr>
        </p:nvSpPr>
        <p:spPr>
          <a:xfrm>
            <a:off x="838200" y="2428875"/>
            <a:ext cx="10515600" cy="474000"/>
          </a:xfrm>
          <a:prstGeom prst="rect">
            <a:avLst/>
          </a:prstGeom>
          <a:noFill/>
          <a:ln>
            <a:noFill/>
          </a:ln>
        </p:spPr>
        <p:txBody>
          <a:bodyPr spcFirstLastPara="1" wrap="square" lIns="91425" tIns="45700" rIns="91425" bIns="45700" anchor="t" anchorCtr="0">
            <a:normAutofit lnSpcReduction="10000"/>
          </a:bodyPr>
          <a:lstStyle/>
          <a:p>
            <a:pPr marL="457200" lvl="0" indent="-355600" algn="l" rtl="0">
              <a:lnSpc>
                <a:spcPct val="90000"/>
              </a:lnSpc>
              <a:spcBef>
                <a:spcPts val="1000"/>
              </a:spcBef>
              <a:spcAft>
                <a:spcPts val="0"/>
              </a:spcAft>
              <a:buSzPts val="2000"/>
              <a:buFont typeface="Arial"/>
              <a:buAutoNum type="arabicPeriod"/>
            </a:pPr>
            <a:r>
              <a:rPr lang="en-US"/>
              <a:t>Model CRNN (From Scratch)</a:t>
            </a:r>
            <a:endParaRPr sz="2000">
              <a:latin typeface="Arial"/>
              <a:ea typeface="Arial"/>
              <a:cs typeface="Arial"/>
              <a:sym typeface="Arial"/>
            </a:endParaRPr>
          </a:p>
        </p:txBody>
      </p:sp>
      <p:sp>
        <p:nvSpPr>
          <p:cNvPr id="348" name="Google Shape;348;g370f4e648af_0_88"/>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Kinerja Pelatihan Model</a:t>
            </a:r>
            <a:endParaRPr b="1">
              <a:latin typeface="Arial"/>
              <a:ea typeface="Arial"/>
              <a:cs typeface="Arial"/>
              <a:sym typeface="Arial"/>
            </a:endParaRPr>
          </a:p>
        </p:txBody>
      </p:sp>
      <p:sp>
        <p:nvSpPr>
          <p:cNvPr id="349" name="Google Shape;349;g370f4e648af_0_88"/>
          <p:cNvSpPr txBox="1">
            <a:spLocks noGrp="1"/>
          </p:cNvSpPr>
          <p:nvPr>
            <p:ph type="body" idx="1"/>
          </p:nvPr>
        </p:nvSpPr>
        <p:spPr>
          <a:xfrm>
            <a:off x="667850" y="3064100"/>
            <a:ext cx="4984800" cy="4539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sz="1600"/>
              <a:t>Kurva Pelatihan Model Accuracy CRNN</a:t>
            </a:r>
            <a:endParaRPr sz="1600"/>
          </a:p>
        </p:txBody>
      </p:sp>
      <p:sp>
        <p:nvSpPr>
          <p:cNvPr id="350" name="Google Shape;350;g370f4e648af_0_88"/>
          <p:cNvSpPr txBox="1">
            <a:spLocks noGrp="1"/>
          </p:cNvSpPr>
          <p:nvPr>
            <p:ph type="body" idx="1"/>
          </p:nvPr>
        </p:nvSpPr>
        <p:spPr>
          <a:xfrm>
            <a:off x="6102550" y="3064100"/>
            <a:ext cx="5574000" cy="4539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sz="1600"/>
              <a:t>Kurva Pelatihan Model Loss CRNN</a:t>
            </a:r>
            <a:endParaRPr sz="1600"/>
          </a:p>
        </p:txBody>
      </p:sp>
      <p:pic>
        <p:nvPicPr>
          <p:cNvPr id="351" name="Google Shape;351;g370f4e648af_0_88"/>
          <p:cNvPicPr preferRelativeResize="0"/>
          <p:nvPr/>
        </p:nvPicPr>
        <p:blipFill>
          <a:blip r:embed="rId3">
            <a:alphaModFix/>
          </a:blip>
          <a:stretch>
            <a:fillRect/>
          </a:stretch>
        </p:blipFill>
        <p:spPr>
          <a:xfrm>
            <a:off x="667850" y="3518000"/>
            <a:ext cx="4887690" cy="3086450"/>
          </a:xfrm>
          <a:prstGeom prst="rect">
            <a:avLst/>
          </a:prstGeom>
          <a:noFill/>
          <a:ln>
            <a:noFill/>
          </a:ln>
        </p:spPr>
      </p:pic>
      <p:pic>
        <p:nvPicPr>
          <p:cNvPr id="352" name="Google Shape;352;g370f4e648af_0_88"/>
          <p:cNvPicPr preferRelativeResize="0"/>
          <p:nvPr/>
        </p:nvPicPr>
        <p:blipFill>
          <a:blip r:embed="rId4">
            <a:alphaModFix/>
          </a:blip>
          <a:stretch>
            <a:fillRect/>
          </a:stretch>
        </p:blipFill>
        <p:spPr>
          <a:xfrm>
            <a:off x="6102550" y="3477600"/>
            <a:ext cx="4781550" cy="30864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356"/>
        <p:cNvGrpSpPr/>
        <p:nvPr/>
      </p:nvGrpSpPr>
      <p:grpSpPr>
        <a:xfrm>
          <a:off x="0" y="0"/>
          <a:ext cx="0" cy="0"/>
          <a:chOff x="0" y="0"/>
          <a:chExt cx="0" cy="0"/>
        </a:xfrm>
      </p:grpSpPr>
      <p:sp>
        <p:nvSpPr>
          <p:cNvPr id="357" name="Google Shape;357;g370f4e648af_0_98"/>
          <p:cNvSpPr txBox="1">
            <a:spLocks noGrp="1"/>
          </p:cNvSpPr>
          <p:nvPr>
            <p:ph type="body" idx="1"/>
          </p:nvPr>
        </p:nvSpPr>
        <p:spPr>
          <a:xfrm>
            <a:off x="838200" y="2428875"/>
            <a:ext cx="10515600" cy="37482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1000"/>
              </a:spcBef>
              <a:spcAft>
                <a:spcPts val="0"/>
              </a:spcAft>
              <a:buSzPts val="2000"/>
              <a:buFont typeface="Arial"/>
              <a:buAutoNum type="arabicPeriod" startAt="2"/>
            </a:pPr>
            <a:r>
              <a:rPr lang="en-US"/>
              <a:t>Model MobileNetV2 (Transfer Learning)</a:t>
            </a:r>
            <a:endParaRPr/>
          </a:p>
          <a:p>
            <a:pPr marL="457200" lvl="0" indent="0" algn="l" rtl="0">
              <a:spcBef>
                <a:spcPts val="1000"/>
              </a:spcBef>
              <a:spcAft>
                <a:spcPts val="0"/>
              </a:spcAft>
              <a:buNone/>
            </a:pPr>
            <a:r>
              <a:rPr lang="en-US" sz="1600">
                <a:solidFill>
                  <a:schemeClr val="dk1"/>
                </a:solidFill>
              </a:rPr>
              <a:t>Hasil Akurasi Tahap 1 (Transfer Learning) : 65,63%</a:t>
            </a:r>
            <a:endParaRPr sz="1600">
              <a:solidFill>
                <a:schemeClr val="dk1"/>
              </a:solidFill>
            </a:endParaRPr>
          </a:p>
          <a:p>
            <a:pPr marL="457200" lvl="0" indent="0" algn="l" rtl="0">
              <a:spcBef>
                <a:spcPts val="1000"/>
              </a:spcBef>
              <a:spcAft>
                <a:spcPts val="0"/>
              </a:spcAft>
              <a:buNone/>
            </a:pPr>
            <a:r>
              <a:rPr lang="en-US" sz="1600">
                <a:solidFill>
                  <a:schemeClr val="dk1"/>
                </a:solidFill>
              </a:rPr>
              <a:t>Hasil Akurasi Tahap 2 (Fine-Tuning) : 78,77%</a:t>
            </a:r>
            <a:endParaRPr sz="1600">
              <a:solidFill>
                <a:schemeClr val="dk1"/>
              </a:solidFill>
            </a:endParaRPr>
          </a:p>
          <a:p>
            <a:pPr marL="457200" lvl="0" indent="0" algn="l" rtl="0">
              <a:spcBef>
                <a:spcPts val="1000"/>
              </a:spcBef>
              <a:spcAft>
                <a:spcPts val="0"/>
              </a:spcAft>
              <a:buNone/>
            </a:pPr>
            <a:endParaRPr sz="1600">
              <a:solidFill>
                <a:schemeClr val="dk1"/>
              </a:solidFill>
            </a:endParaRPr>
          </a:p>
          <a:p>
            <a:pPr marL="457200" lvl="0" indent="0" algn="l" rtl="0">
              <a:spcBef>
                <a:spcPts val="1000"/>
              </a:spcBef>
              <a:spcAft>
                <a:spcPts val="0"/>
              </a:spcAft>
              <a:buNone/>
            </a:pPr>
            <a:r>
              <a:rPr lang="en-US" sz="1600">
                <a:solidFill>
                  <a:schemeClr val="dk1"/>
                </a:solidFill>
              </a:rPr>
              <a:t>Pendekatan </a:t>
            </a:r>
            <a:r>
              <a:rPr lang="en-US" sz="1600" i="1">
                <a:solidFill>
                  <a:schemeClr val="dk1"/>
                </a:solidFill>
              </a:rPr>
              <a:t>transfer learning</a:t>
            </a:r>
            <a:r>
              <a:rPr lang="en-US" sz="1600">
                <a:solidFill>
                  <a:schemeClr val="dk1"/>
                </a:solidFill>
              </a:rPr>
              <a:t> dan </a:t>
            </a:r>
            <a:r>
              <a:rPr lang="en-US" sz="1600" i="1">
                <a:solidFill>
                  <a:schemeClr val="dk1"/>
                </a:solidFill>
              </a:rPr>
              <a:t>fine-tuning</a:t>
            </a:r>
            <a:r>
              <a:rPr lang="en-US" sz="1600">
                <a:solidFill>
                  <a:schemeClr val="dk1"/>
                </a:solidFill>
              </a:rPr>
              <a:t> sangat berhasil, dan mampu memanfaatkan "pengetahuan" awal dari ImageNet dan beradaptasi dengan baik pada dataset kemasan produk.</a:t>
            </a:r>
            <a:endParaRPr sz="1600">
              <a:solidFill>
                <a:schemeClr val="dk1"/>
              </a:solidFill>
            </a:endParaRPr>
          </a:p>
          <a:p>
            <a:pPr marL="457200" lvl="0" indent="0" algn="l" rtl="0">
              <a:spcBef>
                <a:spcPts val="1000"/>
              </a:spcBef>
              <a:spcAft>
                <a:spcPts val="0"/>
              </a:spcAft>
              <a:buClr>
                <a:schemeClr val="dk1"/>
              </a:buClr>
              <a:buSzPts val="1100"/>
              <a:buFont typeface="Arial"/>
              <a:buNone/>
            </a:pPr>
            <a:r>
              <a:rPr lang="en-US" sz="1600">
                <a:solidFill>
                  <a:schemeClr val="dk1"/>
                </a:solidFill>
              </a:rPr>
              <a:t>Jadi, MobileNetV2 ini jauh lebih unggul, efisien, dan cocok untuk tugas ini.</a:t>
            </a:r>
            <a:endParaRPr sz="1600">
              <a:solidFill>
                <a:schemeClr val="dk1"/>
              </a:solidFill>
            </a:endParaRPr>
          </a:p>
        </p:txBody>
      </p:sp>
      <p:sp>
        <p:nvSpPr>
          <p:cNvPr id="358" name="Google Shape;358;g370f4e648af_0_98"/>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Kinerja Pelatihan Model</a:t>
            </a:r>
            <a:endParaRPr b="1">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Shape 362"/>
        <p:cNvGrpSpPr/>
        <p:nvPr/>
      </p:nvGrpSpPr>
      <p:grpSpPr>
        <a:xfrm>
          <a:off x="0" y="0"/>
          <a:ext cx="0" cy="0"/>
          <a:chOff x="0" y="0"/>
          <a:chExt cx="0" cy="0"/>
        </a:xfrm>
      </p:grpSpPr>
      <p:sp>
        <p:nvSpPr>
          <p:cNvPr id="363" name="Google Shape;363;g370f4e648af_0_93"/>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Kinerja Pelatihan Model</a:t>
            </a:r>
            <a:endParaRPr sz="3600">
              <a:solidFill>
                <a:schemeClr val="dk1"/>
              </a:solidFill>
            </a:endParaRPr>
          </a:p>
        </p:txBody>
      </p:sp>
      <p:sp>
        <p:nvSpPr>
          <p:cNvPr id="364" name="Google Shape;364;g370f4e648af_0_93"/>
          <p:cNvSpPr txBox="1">
            <a:spLocks noGrp="1"/>
          </p:cNvSpPr>
          <p:nvPr>
            <p:ph type="body" idx="1"/>
          </p:nvPr>
        </p:nvSpPr>
        <p:spPr>
          <a:xfrm>
            <a:off x="838200" y="2428875"/>
            <a:ext cx="10515600" cy="474000"/>
          </a:xfrm>
          <a:prstGeom prst="rect">
            <a:avLst/>
          </a:prstGeom>
          <a:noFill/>
          <a:ln>
            <a:noFill/>
          </a:ln>
        </p:spPr>
        <p:txBody>
          <a:bodyPr spcFirstLastPara="1" wrap="square" lIns="91425" tIns="45700" rIns="91425" bIns="45700" anchor="t" anchorCtr="0">
            <a:normAutofit lnSpcReduction="10000"/>
          </a:bodyPr>
          <a:lstStyle/>
          <a:p>
            <a:pPr marL="457200" lvl="0" indent="-355600" algn="l" rtl="0">
              <a:lnSpc>
                <a:spcPct val="90000"/>
              </a:lnSpc>
              <a:spcBef>
                <a:spcPts val="1000"/>
              </a:spcBef>
              <a:spcAft>
                <a:spcPts val="0"/>
              </a:spcAft>
              <a:buSzPts val="2000"/>
              <a:buFont typeface="Arial"/>
              <a:buAutoNum type="arabicPeriod" startAt="2"/>
            </a:pPr>
            <a:r>
              <a:rPr lang="en-US"/>
              <a:t>Model MobileNetV2 (Transfer Learning)</a:t>
            </a:r>
            <a:endParaRPr sz="2000">
              <a:latin typeface="Arial"/>
              <a:ea typeface="Arial"/>
              <a:cs typeface="Arial"/>
              <a:sym typeface="Arial"/>
            </a:endParaRPr>
          </a:p>
        </p:txBody>
      </p:sp>
      <p:sp>
        <p:nvSpPr>
          <p:cNvPr id="365" name="Google Shape;365;g370f4e648af_0_93"/>
          <p:cNvSpPr txBox="1">
            <a:spLocks noGrp="1"/>
          </p:cNvSpPr>
          <p:nvPr>
            <p:ph type="body" idx="1"/>
          </p:nvPr>
        </p:nvSpPr>
        <p:spPr>
          <a:xfrm>
            <a:off x="667850" y="3064100"/>
            <a:ext cx="4984800" cy="4539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sz="1600"/>
              <a:t>Kurva Pelatihan Model Accuracy MobileNetV2</a:t>
            </a:r>
            <a:endParaRPr sz="1600"/>
          </a:p>
        </p:txBody>
      </p:sp>
      <p:sp>
        <p:nvSpPr>
          <p:cNvPr id="366" name="Google Shape;366;g370f4e648af_0_93"/>
          <p:cNvSpPr txBox="1">
            <a:spLocks noGrp="1"/>
          </p:cNvSpPr>
          <p:nvPr>
            <p:ph type="body" idx="1"/>
          </p:nvPr>
        </p:nvSpPr>
        <p:spPr>
          <a:xfrm>
            <a:off x="6102550" y="3064100"/>
            <a:ext cx="5574000" cy="4539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sz="1600"/>
              <a:t>Kurva Pelatihan Model Loss MobileNetV2</a:t>
            </a:r>
            <a:endParaRPr sz="1600"/>
          </a:p>
        </p:txBody>
      </p:sp>
      <p:pic>
        <p:nvPicPr>
          <p:cNvPr id="367" name="Google Shape;367;g370f4e648af_0_93"/>
          <p:cNvPicPr preferRelativeResize="0"/>
          <p:nvPr/>
        </p:nvPicPr>
        <p:blipFill>
          <a:blip r:embed="rId3">
            <a:alphaModFix/>
          </a:blip>
          <a:stretch>
            <a:fillRect/>
          </a:stretch>
        </p:blipFill>
        <p:spPr>
          <a:xfrm>
            <a:off x="667850" y="3518000"/>
            <a:ext cx="4840117" cy="3080075"/>
          </a:xfrm>
          <a:prstGeom prst="rect">
            <a:avLst/>
          </a:prstGeom>
          <a:noFill/>
          <a:ln>
            <a:noFill/>
          </a:ln>
        </p:spPr>
      </p:pic>
      <p:pic>
        <p:nvPicPr>
          <p:cNvPr id="368" name="Google Shape;368;g370f4e648af_0_93"/>
          <p:cNvPicPr preferRelativeResize="0"/>
          <p:nvPr/>
        </p:nvPicPr>
        <p:blipFill>
          <a:blip r:embed="rId4">
            <a:alphaModFix/>
          </a:blip>
          <a:stretch>
            <a:fillRect/>
          </a:stretch>
        </p:blipFill>
        <p:spPr>
          <a:xfrm>
            <a:off x="6102550" y="3518000"/>
            <a:ext cx="4746826" cy="30800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Shape 372"/>
        <p:cNvGrpSpPr/>
        <p:nvPr/>
      </p:nvGrpSpPr>
      <p:grpSpPr>
        <a:xfrm>
          <a:off x="0" y="0"/>
          <a:ext cx="0" cy="0"/>
          <a:chOff x="0" y="0"/>
          <a:chExt cx="0" cy="0"/>
        </a:xfrm>
      </p:grpSpPr>
      <p:sp>
        <p:nvSpPr>
          <p:cNvPr id="373" name="Google Shape;373;g370f4e648af_0_113"/>
          <p:cNvSpPr txBox="1">
            <a:spLocks noGrp="1"/>
          </p:cNvSpPr>
          <p:nvPr>
            <p:ph type="body" idx="1"/>
          </p:nvPr>
        </p:nvSpPr>
        <p:spPr>
          <a:xfrm>
            <a:off x="838200" y="2428875"/>
            <a:ext cx="10515600" cy="4428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1000"/>
              </a:spcBef>
              <a:spcAft>
                <a:spcPts val="0"/>
              </a:spcAft>
              <a:buNone/>
            </a:pPr>
            <a:r>
              <a:rPr lang="en-US"/>
              <a:t>Perbandingan Kinerja Klasifikasi antara Kedua Model secara Head-to-Head:</a:t>
            </a:r>
            <a:endParaRPr sz="2000">
              <a:latin typeface="Arial"/>
              <a:ea typeface="Arial"/>
              <a:cs typeface="Arial"/>
              <a:sym typeface="Arial"/>
            </a:endParaRPr>
          </a:p>
        </p:txBody>
      </p:sp>
      <p:sp>
        <p:nvSpPr>
          <p:cNvPr id="374" name="Google Shape;374;g370f4e648af_0_113"/>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Kinerja Pelatihan Model</a:t>
            </a:r>
            <a:endParaRPr b="1">
              <a:latin typeface="Arial"/>
              <a:ea typeface="Arial"/>
              <a:cs typeface="Arial"/>
              <a:sym typeface="Arial"/>
            </a:endParaRPr>
          </a:p>
        </p:txBody>
      </p:sp>
      <p:graphicFrame>
        <p:nvGraphicFramePr>
          <p:cNvPr id="375" name="Google Shape;375;g370f4e648af_0_113"/>
          <p:cNvGraphicFramePr/>
          <p:nvPr/>
        </p:nvGraphicFramePr>
        <p:xfrm>
          <a:off x="950950" y="3028275"/>
          <a:ext cx="3000000" cy="3000000"/>
        </p:xfrm>
        <a:graphic>
          <a:graphicData uri="http://schemas.openxmlformats.org/drawingml/2006/table">
            <a:tbl>
              <a:tblPr bandRow="1">
                <a:noFill/>
                <a:tableStyleId>{BAB51536-194C-4DF1-BF3E-D65146005E30}</a:tableStyleId>
              </a:tblPr>
              <a:tblGrid>
                <a:gridCol w="2841400">
                  <a:extLst>
                    <a:ext uri="{9D8B030D-6E8A-4147-A177-3AD203B41FA5}">
                      <a16:colId xmlns:a16="http://schemas.microsoft.com/office/drawing/2014/main" val="20000"/>
                    </a:ext>
                  </a:extLst>
                </a:gridCol>
                <a:gridCol w="1727175">
                  <a:extLst>
                    <a:ext uri="{9D8B030D-6E8A-4147-A177-3AD203B41FA5}">
                      <a16:colId xmlns:a16="http://schemas.microsoft.com/office/drawing/2014/main" val="20001"/>
                    </a:ext>
                  </a:extLst>
                </a:gridCol>
                <a:gridCol w="3252150">
                  <a:extLst>
                    <a:ext uri="{9D8B030D-6E8A-4147-A177-3AD203B41FA5}">
                      <a16:colId xmlns:a16="http://schemas.microsoft.com/office/drawing/2014/main" val="20002"/>
                    </a:ext>
                  </a:extLst>
                </a:gridCol>
                <a:gridCol w="1691000">
                  <a:extLst>
                    <a:ext uri="{9D8B030D-6E8A-4147-A177-3AD203B41FA5}">
                      <a16:colId xmlns:a16="http://schemas.microsoft.com/office/drawing/2014/main" val="20003"/>
                    </a:ext>
                  </a:extLst>
                </a:gridCol>
              </a:tblGrid>
              <a:tr h="357250">
                <a:tc>
                  <a:txBody>
                    <a:bodyPr/>
                    <a:lstStyle/>
                    <a:p>
                      <a:pPr marL="0" lvl="0" indent="0" algn="ctr" rtl="0">
                        <a:spcBef>
                          <a:spcPts val="0"/>
                        </a:spcBef>
                        <a:spcAft>
                          <a:spcPts val="0"/>
                        </a:spcAft>
                        <a:buNone/>
                      </a:pPr>
                      <a:r>
                        <a:rPr lang="en-US" sz="1600" b="1">
                          <a:solidFill>
                            <a:srgbClr val="1A1C1E"/>
                          </a:solidFill>
                        </a:rPr>
                        <a:t>Metrik</a:t>
                      </a:r>
                      <a:endParaRPr sz="1600" b="1">
                        <a:solidFill>
                          <a:srgbClr val="1A1C1E"/>
                        </a:solidFill>
                      </a:endParaRPr>
                    </a:p>
                  </a:txBody>
                  <a:tcPr marL="68575" marR="68575" marT="0" marB="0"/>
                </a:tc>
                <a:tc>
                  <a:txBody>
                    <a:bodyPr/>
                    <a:lstStyle/>
                    <a:p>
                      <a:pPr marL="0" lvl="0" indent="0" algn="ctr" rtl="0">
                        <a:spcBef>
                          <a:spcPts val="0"/>
                        </a:spcBef>
                        <a:spcAft>
                          <a:spcPts val="0"/>
                        </a:spcAft>
                        <a:buNone/>
                      </a:pPr>
                      <a:r>
                        <a:rPr lang="en-US" sz="1600" b="1">
                          <a:solidFill>
                            <a:srgbClr val="1A1C1E"/>
                          </a:solidFill>
                        </a:rPr>
                        <a:t>Model CRNN</a:t>
                      </a:r>
                      <a:endParaRPr sz="1600" b="1">
                        <a:solidFill>
                          <a:srgbClr val="1A1C1E"/>
                        </a:solidFill>
                      </a:endParaRPr>
                    </a:p>
                  </a:txBody>
                  <a:tcPr marL="68575" marR="68575" marT="0" marB="0"/>
                </a:tc>
                <a:tc>
                  <a:txBody>
                    <a:bodyPr/>
                    <a:lstStyle/>
                    <a:p>
                      <a:pPr marL="0" lvl="0" indent="0" algn="ctr" rtl="0">
                        <a:spcBef>
                          <a:spcPts val="0"/>
                        </a:spcBef>
                        <a:spcAft>
                          <a:spcPts val="0"/>
                        </a:spcAft>
                        <a:buNone/>
                      </a:pPr>
                      <a:r>
                        <a:rPr lang="en-US" sz="1600" b="1">
                          <a:solidFill>
                            <a:srgbClr val="1A1C1E"/>
                          </a:solidFill>
                        </a:rPr>
                        <a:t>Model MobileNetV2 (Final)</a:t>
                      </a:r>
                      <a:endParaRPr sz="1600" b="1">
                        <a:solidFill>
                          <a:srgbClr val="1A1C1E"/>
                        </a:solidFill>
                      </a:endParaRPr>
                    </a:p>
                  </a:txBody>
                  <a:tcPr marL="68575" marR="68575" marT="0" marB="0"/>
                </a:tc>
                <a:tc>
                  <a:txBody>
                    <a:bodyPr/>
                    <a:lstStyle/>
                    <a:p>
                      <a:pPr marL="0" lvl="0" indent="0" algn="ctr" rtl="0">
                        <a:spcBef>
                          <a:spcPts val="0"/>
                        </a:spcBef>
                        <a:spcAft>
                          <a:spcPts val="0"/>
                        </a:spcAft>
                        <a:buNone/>
                      </a:pPr>
                      <a:r>
                        <a:rPr lang="en-US" sz="1600" b="1">
                          <a:solidFill>
                            <a:srgbClr val="1A1C1E"/>
                          </a:solidFill>
                        </a:rPr>
                        <a:t>Pemenang</a:t>
                      </a:r>
                      <a:endParaRPr sz="1600" b="1">
                        <a:solidFill>
                          <a:srgbClr val="1A1C1E"/>
                        </a:solidFill>
                      </a:endParaRPr>
                    </a:p>
                  </a:txBody>
                  <a:tcPr marL="68575" marR="68575" marT="0" marB="0"/>
                </a:tc>
                <a:extLst>
                  <a:ext uri="{0D108BD9-81ED-4DB2-BD59-A6C34878D82A}">
                    <a16:rowId xmlns:a16="http://schemas.microsoft.com/office/drawing/2014/main" val="10000"/>
                  </a:ext>
                </a:extLst>
              </a:tr>
              <a:tr h="357250">
                <a:tc>
                  <a:txBody>
                    <a:bodyPr/>
                    <a:lstStyle/>
                    <a:p>
                      <a:pPr marL="0" lvl="0" indent="0" algn="l" rtl="0">
                        <a:spcBef>
                          <a:spcPts val="0"/>
                        </a:spcBef>
                        <a:spcAft>
                          <a:spcPts val="0"/>
                        </a:spcAft>
                        <a:buNone/>
                      </a:pPr>
                      <a:r>
                        <a:rPr lang="en-US" sz="1600" b="1">
                          <a:solidFill>
                            <a:srgbClr val="1A1C1E"/>
                          </a:solidFill>
                        </a:rPr>
                        <a:t>Akurasi</a:t>
                      </a:r>
                      <a:endParaRPr sz="1600">
                        <a:solidFill>
                          <a:srgbClr val="1A1C1E"/>
                        </a:solidFill>
                      </a:endParaRPr>
                    </a:p>
                  </a:txBody>
                  <a:tcPr marL="68575" marR="68575" marT="0" marB="0"/>
                </a:tc>
                <a:tc>
                  <a:txBody>
                    <a:bodyPr/>
                    <a:lstStyle/>
                    <a:p>
                      <a:pPr marL="0" lvl="0" indent="0" algn="l" rtl="0">
                        <a:spcBef>
                          <a:spcPts val="0"/>
                        </a:spcBef>
                        <a:spcAft>
                          <a:spcPts val="0"/>
                        </a:spcAft>
                        <a:buNone/>
                      </a:pPr>
                      <a:r>
                        <a:rPr lang="en-US" sz="1600">
                          <a:solidFill>
                            <a:srgbClr val="1A1C1E"/>
                          </a:solidFill>
                        </a:rPr>
                        <a:t>30.65%</a:t>
                      </a:r>
                      <a:endParaRPr sz="1600">
                        <a:solidFill>
                          <a:srgbClr val="1A1C1E"/>
                        </a:solidFill>
                      </a:endParaRPr>
                    </a:p>
                  </a:txBody>
                  <a:tcPr marL="68575" marR="68575" marT="0" marB="0"/>
                </a:tc>
                <a:tc>
                  <a:txBody>
                    <a:bodyPr/>
                    <a:lstStyle/>
                    <a:p>
                      <a:pPr marL="0" lvl="0" indent="0" algn="l" rtl="0">
                        <a:spcBef>
                          <a:spcPts val="0"/>
                        </a:spcBef>
                        <a:spcAft>
                          <a:spcPts val="0"/>
                        </a:spcAft>
                        <a:buNone/>
                      </a:pPr>
                      <a:r>
                        <a:rPr lang="en-US" sz="1600" b="1">
                          <a:solidFill>
                            <a:srgbClr val="1A1C1E"/>
                          </a:solidFill>
                        </a:rPr>
                        <a:t>78.77%</a:t>
                      </a:r>
                      <a:endParaRPr sz="1600">
                        <a:solidFill>
                          <a:srgbClr val="1A1C1E"/>
                        </a:solidFill>
                      </a:endParaRPr>
                    </a:p>
                  </a:txBody>
                  <a:tcPr marL="68575" marR="68575" marT="0" marB="0"/>
                </a:tc>
                <a:tc>
                  <a:txBody>
                    <a:bodyPr/>
                    <a:lstStyle/>
                    <a:p>
                      <a:pPr marL="0" lvl="0" indent="0" algn="l" rtl="0">
                        <a:spcBef>
                          <a:spcPts val="0"/>
                        </a:spcBef>
                        <a:spcAft>
                          <a:spcPts val="0"/>
                        </a:spcAft>
                        <a:buNone/>
                      </a:pPr>
                      <a:r>
                        <a:rPr lang="en-US" sz="1600" b="1">
                          <a:solidFill>
                            <a:srgbClr val="1A1C1E"/>
                          </a:solidFill>
                        </a:rPr>
                        <a:t>MobileNetV2</a:t>
                      </a:r>
                      <a:endParaRPr sz="1600">
                        <a:solidFill>
                          <a:srgbClr val="1A1C1E"/>
                        </a:solidFill>
                      </a:endParaRPr>
                    </a:p>
                  </a:txBody>
                  <a:tcPr marL="68575" marR="68575" marT="0" marB="0"/>
                </a:tc>
                <a:extLst>
                  <a:ext uri="{0D108BD9-81ED-4DB2-BD59-A6C34878D82A}">
                    <a16:rowId xmlns:a16="http://schemas.microsoft.com/office/drawing/2014/main" val="10001"/>
                  </a:ext>
                </a:extLst>
              </a:tr>
              <a:tr h="357250">
                <a:tc>
                  <a:txBody>
                    <a:bodyPr/>
                    <a:lstStyle/>
                    <a:p>
                      <a:pPr marL="0" lvl="0" indent="0" algn="l" rtl="0">
                        <a:spcBef>
                          <a:spcPts val="0"/>
                        </a:spcBef>
                        <a:spcAft>
                          <a:spcPts val="0"/>
                        </a:spcAft>
                        <a:buNone/>
                      </a:pPr>
                      <a:r>
                        <a:rPr lang="en-US" sz="1600" b="1">
                          <a:solidFill>
                            <a:srgbClr val="1A1C1E"/>
                          </a:solidFill>
                        </a:rPr>
                        <a:t>F1-Score (Macro Avg)</a:t>
                      </a:r>
                      <a:endParaRPr sz="1600">
                        <a:solidFill>
                          <a:srgbClr val="1A1C1E"/>
                        </a:solidFill>
                      </a:endParaRPr>
                    </a:p>
                  </a:txBody>
                  <a:tcPr marL="68575" marR="68575" marT="0" marB="0"/>
                </a:tc>
                <a:tc>
                  <a:txBody>
                    <a:bodyPr/>
                    <a:lstStyle/>
                    <a:p>
                      <a:pPr marL="0" lvl="0" indent="0" algn="l" rtl="0">
                        <a:spcBef>
                          <a:spcPts val="0"/>
                        </a:spcBef>
                        <a:spcAft>
                          <a:spcPts val="0"/>
                        </a:spcAft>
                        <a:buNone/>
                      </a:pPr>
                      <a:r>
                        <a:rPr lang="en-US" sz="1600">
                          <a:solidFill>
                            <a:srgbClr val="1A1C1E"/>
                          </a:solidFill>
                        </a:rPr>
                        <a:t>0.14</a:t>
                      </a:r>
                      <a:endParaRPr sz="1600">
                        <a:solidFill>
                          <a:srgbClr val="1A1C1E"/>
                        </a:solidFill>
                      </a:endParaRPr>
                    </a:p>
                  </a:txBody>
                  <a:tcPr marL="68575" marR="68575" marT="0" marB="0"/>
                </a:tc>
                <a:tc>
                  <a:txBody>
                    <a:bodyPr/>
                    <a:lstStyle/>
                    <a:p>
                      <a:pPr marL="0" lvl="0" indent="0" algn="l" rtl="0">
                        <a:spcBef>
                          <a:spcPts val="0"/>
                        </a:spcBef>
                        <a:spcAft>
                          <a:spcPts val="0"/>
                        </a:spcAft>
                        <a:buNone/>
                      </a:pPr>
                      <a:r>
                        <a:rPr lang="en-US" sz="1600" b="1">
                          <a:solidFill>
                            <a:srgbClr val="1A1C1E"/>
                          </a:solidFill>
                        </a:rPr>
                        <a:t>0.78</a:t>
                      </a:r>
                      <a:endParaRPr sz="1600">
                        <a:solidFill>
                          <a:srgbClr val="1A1C1E"/>
                        </a:solidFill>
                      </a:endParaRPr>
                    </a:p>
                  </a:txBody>
                  <a:tcPr marL="68575" marR="68575" marT="0" marB="0"/>
                </a:tc>
                <a:tc>
                  <a:txBody>
                    <a:bodyPr/>
                    <a:lstStyle/>
                    <a:p>
                      <a:pPr marL="0" lvl="0" indent="0" algn="l" rtl="0">
                        <a:spcBef>
                          <a:spcPts val="0"/>
                        </a:spcBef>
                        <a:spcAft>
                          <a:spcPts val="0"/>
                        </a:spcAft>
                        <a:buNone/>
                      </a:pPr>
                      <a:r>
                        <a:rPr lang="en-US" sz="1600" b="1">
                          <a:solidFill>
                            <a:srgbClr val="1A1C1E"/>
                          </a:solidFill>
                        </a:rPr>
                        <a:t>MobileNetV2</a:t>
                      </a:r>
                      <a:endParaRPr sz="1600">
                        <a:solidFill>
                          <a:srgbClr val="1A1C1E"/>
                        </a:solidFill>
                      </a:endParaRPr>
                    </a:p>
                  </a:txBody>
                  <a:tcPr marL="68575" marR="68575" marT="0" marB="0"/>
                </a:tc>
                <a:extLst>
                  <a:ext uri="{0D108BD9-81ED-4DB2-BD59-A6C34878D82A}">
                    <a16:rowId xmlns:a16="http://schemas.microsoft.com/office/drawing/2014/main" val="10002"/>
                  </a:ext>
                </a:extLst>
              </a:tr>
              <a:tr h="357250">
                <a:tc>
                  <a:txBody>
                    <a:bodyPr/>
                    <a:lstStyle/>
                    <a:p>
                      <a:pPr marL="0" lvl="0" indent="0" algn="l" rtl="0">
                        <a:spcBef>
                          <a:spcPts val="0"/>
                        </a:spcBef>
                        <a:spcAft>
                          <a:spcPts val="0"/>
                        </a:spcAft>
                        <a:buNone/>
                      </a:pPr>
                      <a:r>
                        <a:rPr lang="en-US" sz="1600" b="1">
                          <a:solidFill>
                            <a:srgbClr val="1A1C1E"/>
                          </a:solidFill>
                        </a:rPr>
                        <a:t>Ukuran Model (TFLite)</a:t>
                      </a:r>
                      <a:endParaRPr sz="1600">
                        <a:solidFill>
                          <a:srgbClr val="1A1C1E"/>
                        </a:solidFill>
                      </a:endParaRPr>
                    </a:p>
                  </a:txBody>
                  <a:tcPr marL="68575" marR="68575" marT="0" marB="0"/>
                </a:tc>
                <a:tc>
                  <a:txBody>
                    <a:bodyPr/>
                    <a:lstStyle/>
                    <a:p>
                      <a:pPr marL="0" lvl="0" indent="0" algn="l" rtl="0">
                        <a:spcBef>
                          <a:spcPts val="0"/>
                        </a:spcBef>
                        <a:spcAft>
                          <a:spcPts val="0"/>
                        </a:spcAft>
                        <a:buNone/>
                      </a:pPr>
                      <a:r>
                        <a:rPr lang="en-US" sz="1600">
                          <a:solidFill>
                            <a:srgbClr val="1A1C1E"/>
                          </a:solidFill>
                        </a:rPr>
                        <a:t>~20.76 MB</a:t>
                      </a:r>
                      <a:endParaRPr sz="1600">
                        <a:solidFill>
                          <a:srgbClr val="1A1C1E"/>
                        </a:solidFill>
                      </a:endParaRPr>
                    </a:p>
                  </a:txBody>
                  <a:tcPr marL="68575" marR="68575" marT="0" marB="0"/>
                </a:tc>
                <a:tc>
                  <a:txBody>
                    <a:bodyPr/>
                    <a:lstStyle/>
                    <a:p>
                      <a:pPr marL="0" lvl="0" indent="0" algn="l" rtl="0">
                        <a:spcBef>
                          <a:spcPts val="0"/>
                        </a:spcBef>
                        <a:spcAft>
                          <a:spcPts val="0"/>
                        </a:spcAft>
                        <a:buNone/>
                      </a:pPr>
                      <a:r>
                        <a:rPr lang="en-US" sz="1600" b="1">
                          <a:solidFill>
                            <a:srgbClr val="1A1C1E"/>
                          </a:solidFill>
                        </a:rPr>
                        <a:t>~11.14 MB</a:t>
                      </a:r>
                      <a:endParaRPr sz="1600">
                        <a:solidFill>
                          <a:srgbClr val="1A1C1E"/>
                        </a:solidFill>
                      </a:endParaRPr>
                    </a:p>
                  </a:txBody>
                  <a:tcPr marL="68575" marR="68575" marT="0" marB="0"/>
                </a:tc>
                <a:tc>
                  <a:txBody>
                    <a:bodyPr/>
                    <a:lstStyle/>
                    <a:p>
                      <a:pPr marL="0" lvl="0" indent="0" algn="l" rtl="0">
                        <a:spcBef>
                          <a:spcPts val="0"/>
                        </a:spcBef>
                        <a:spcAft>
                          <a:spcPts val="0"/>
                        </a:spcAft>
                        <a:buNone/>
                      </a:pPr>
                      <a:r>
                        <a:rPr lang="en-US" sz="1600" b="1">
                          <a:solidFill>
                            <a:srgbClr val="1A1C1E"/>
                          </a:solidFill>
                        </a:rPr>
                        <a:t>MobileNetV2</a:t>
                      </a:r>
                      <a:endParaRPr sz="1600">
                        <a:solidFill>
                          <a:srgbClr val="1A1C1E"/>
                        </a:solidFill>
                      </a:endParaRPr>
                    </a:p>
                  </a:txBody>
                  <a:tcPr marL="68575" marR="68575" marT="0" marB="0"/>
                </a:tc>
                <a:extLst>
                  <a:ext uri="{0D108BD9-81ED-4DB2-BD59-A6C34878D82A}">
                    <a16:rowId xmlns:a16="http://schemas.microsoft.com/office/drawing/2014/main" val="10003"/>
                  </a:ext>
                </a:extLst>
              </a:tr>
              <a:tr h="357250">
                <a:tc>
                  <a:txBody>
                    <a:bodyPr/>
                    <a:lstStyle/>
                    <a:p>
                      <a:pPr marL="0" lvl="0" indent="0" algn="l" rtl="0">
                        <a:spcBef>
                          <a:spcPts val="0"/>
                        </a:spcBef>
                        <a:spcAft>
                          <a:spcPts val="0"/>
                        </a:spcAft>
                        <a:buNone/>
                      </a:pPr>
                      <a:r>
                        <a:rPr lang="en-US" sz="1600" b="1">
                          <a:solidFill>
                            <a:srgbClr val="1A1C1E"/>
                          </a:solidFill>
                        </a:rPr>
                        <a:t>Potensi Overfitting</a:t>
                      </a:r>
                      <a:endParaRPr sz="1600">
                        <a:solidFill>
                          <a:srgbClr val="1A1C1E"/>
                        </a:solidFill>
                      </a:endParaRPr>
                    </a:p>
                  </a:txBody>
                  <a:tcPr marL="68575" marR="68575" marT="0" marB="0"/>
                </a:tc>
                <a:tc>
                  <a:txBody>
                    <a:bodyPr/>
                    <a:lstStyle/>
                    <a:p>
                      <a:pPr marL="0" lvl="0" indent="0" algn="l" rtl="0">
                        <a:spcBef>
                          <a:spcPts val="0"/>
                        </a:spcBef>
                        <a:spcAft>
                          <a:spcPts val="0"/>
                        </a:spcAft>
                        <a:buNone/>
                      </a:pPr>
                      <a:r>
                        <a:rPr lang="en-US" sz="1600">
                          <a:solidFill>
                            <a:srgbClr val="1A1C1E"/>
                          </a:solidFill>
                        </a:rPr>
                        <a:t>Sangat Tinggi</a:t>
                      </a:r>
                      <a:endParaRPr sz="1600">
                        <a:solidFill>
                          <a:srgbClr val="1A1C1E"/>
                        </a:solidFill>
                      </a:endParaRPr>
                    </a:p>
                  </a:txBody>
                  <a:tcPr marL="68575" marR="68575" marT="0" marB="0"/>
                </a:tc>
                <a:tc>
                  <a:txBody>
                    <a:bodyPr/>
                    <a:lstStyle/>
                    <a:p>
                      <a:pPr marL="0" lvl="0" indent="0" algn="l" rtl="0">
                        <a:spcBef>
                          <a:spcPts val="0"/>
                        </a:spcBef>
                        <a:spcAft>
                          <a:spcPts val="0"/>
                        </a:spcAft>
                        <a:buNone/>
                      </a:pPr>
                      <a:r>
                        <a:rPr lang="en-US" sz="1600">
                          <a:solidFill>
                            <a:srgbClr val="1A1C1E"/>
                          </a:solidFill>
                        </a:rPr>
                        <a:t>Rendah</a:t>
                      </a:r>
                      <a:endParaRPr sz="1600">
                        <a:solidFill>
                          <a:srgbClr val="1A1C1E"/>
                        </a:solidFill>
                      </a:endParaRPr>
                    </a:p>
                  </a:txBody>
                  <a:tcPr marL="68575" marR="68575" marT="0" marB="0"/>
                </a:tc>
                <a:tc>
                  <a:txBody>
                    <a:bodyPr/>
                    <a:lstStyle/>
                    <a:p>
                      <a:pPr marL="0" lvl="0" indent="0" algn="l" rtl="0">
                        <a:spcBef>
                          <a:spcPts val="0"/>
                        </a:spcBef>
                        <a:spcAft>
                          <a:spcPts val="0"/>
                        </a:spcAft>
                        <a:buNone/>
                      </a:pPr>
                      <a:r>
                        <a:rPr lang="en-US" sz="1600" b="1">
                          <a:solidFill>
                            <a:srgbClr val="1A1C1E"/>
                          </a:solidFill>
                        </a:rPr>
                        <a:t>MobileNetV2</a:t>
                      </a:r>
                      <a:endParaRPr sz="1600">
                        <a:solidFill>
                          <a:srgbClr val="1A1C1E"/>
                        </a:solidFill>
                      </a:endParaRPr>
                    </a:p>
                  </a:txBody>
                  <a:tcPr marL="68575" marR="68575" marT="0" marB="0"/>
                </a:tc>
                <a:extLst>
                  <a:ext uri="{0D108BD9-81ED-4DB2-BD59-A6C34878D82A}">
                    <a16:rowId xmlns:a16="http://schemas.microsoft.com/office/drawing/2014/main" val="10004"/>
                  </a:ext>
                </a:extLst>
              </a:tr>
            </a:tbl>
          </a:graphicData>
        </a:graphic>
      </p:graphicFrame>
      <p:sp>
        <p:nvSpPr>
          <p:cNvPr id="376" name="Google Shape;376;g370f4e648af_0_113"/>
          <p:cNvSpPr txBox="1">
            <a:spLocks noGrp="1"/>
          </p:cNvSpPr>
          <p:nvPr>
            <p:ph type="body" idx="1"/>
          </p:nvPr>
        </p:nvSpPr>
        <p:spPr>
          <a:xfrm>
            <a:off x="838200" y="5112050"/>
            <a:ext cx="10515600" cy="4428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lnSpc>
                <a:spcPct val="90000"/>
              </a:lnSpc>
              <a:spcBef>
                <a:spcPts val="1000"/>
              </a:spcBef>
              <a:spcAft>
                <a:spcPts val="0"/>
              </a:spcAft>
              <a:buNone/>
            </a:pPr>
            <a:r>
              <a:rPr lang="en-US" sz="1600"/>
              <a:t>Kesimpulannya adalah MobileNetV2 secara signifikan lebih unggul dalam semua aspek dari segi akurasi, efisiensi, dan generalisasi.</a:t>
            </a:r>
            <a:endParaRPr sz="1600">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Shape 380"/>
        <p:cNvGrpSpPr/>
        <p:nvPr/>
      </p:nvGrpSpPr>
      <p:grpSpPr>
        <a:xfrm>
          <a:off x="0" y="0"/>
          <a:ext cx="0" cy="0"/>
          <a:chOff x="0" y="0"/>
          <a:chExt cx="0" cy="0"/>
        </a:xfrm>
      </p:grpSpPr>
      <p:sp>
        <p:nvSpPr>
          <p:cNvPr id="381" name="Google Shape;381;g3711bd63d4f_0_34"/>
          <p:cNvSpPr txBox="1">
            <a:spLocks noGrp="1"/>
          </p:cNvSpPr>
          <p:nvPr>
            <p:ph type="body" idx="1"/>
          </p:nvPr>
        </p:nvSpPr>
        <p:spPr>
          <a:xfrm>
            <a:off x="838200" y="2428875"/>
            <a:ext cx="10515600" cy="411300"/>
          </a:xfrm>
          <a:prstGeom prst="rect">
            <a:avLst/>
          </a:prstGeom>
          <a:noFill/>
          <a:ln>
            <a:noFill/>
          </a:ln>
        </p:spPr>
        <p:txBody>
          <a:bodyPr spcFirstLastPara="1" wrap="square" lIns="91425" tIns="45700" rIns="91425" bIns="45700" anchor="t" anchorCtr="0">
            <a:normAutofit fontScale="85000" lnSpcReduction="20000"/>
          </a:bodyPr>
          <a:lstStyle/>
          <a:p>
            <a:pPr marL="457200" lvl="0" indent="-355600" algn="l" rtl="0">
              <a:lnSpc>
                <a:spcPct val="90000"/>
              </a:lnSpc>
              <a:spcBef>
                <a:spcPts val="1000"/>
              </a:spcBef>
              <a:spcAft>
                <a:spcPts val="0"/>
              </a:spcAft>
              <a:buSzPts val="2000"/>
              <a:buFont typeface="Arial"/>
              <a:buAutoNum type="arabicPeriod"/>
            </a:pPr>
            <a:r>
              <a:rPr lang="en-US"/>
              <a:t>Model CRNN (From Scratch)</a:t>
            </a:r>
            <a:endParaRPr sz="1600"/>
          </a:p>
        </p:txBody>
      </p:sp>
      <p:sp>
        <p:nvSpPr>
          <p:cNvPr id="382" name="Google Shape;382;g3711bd63d4f_0_34"/>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Kinerja Model Klasifikasi</a:t>
            </a:r>
            <a:endParaRPr b="1">
              <a:latin typeface="Arial"/>
              <a:ea typeface="Arial"/>
              <a:cs typeface="Arial"/>
              <a:sym typeface="Arial"/>
            </a:endParaRPr>
          </a:p>
        </p:txBody>
      </p:sp>
      <p:graphicFrame>
        <p:nvGraphicFramePr>
          <p:cNvPr id="383" name="Google Shape;383;g3711bd63d4f_0_34"/>
          <p:cNvGraphicFramePr/>
          <p:nvPr/>
        </p:nvGraphicFramePr>
        <p:xfrm>
          <a:off x="2909050" y="2986400"/>
          <a:ext cx="3000000" cy="3000000"/>
        </p:xfrm>
        <a:graphic>
          <a:graphicData uri="http://schemas.openxmlformats.org/drawingml/2006/table">
            <a:tbl>
              <a:tblPr bandRow="1">
                <a:noFill/>
                <a:tableStyleId>{BAB51536-194C-4DF1-BF3E-D65146005E30}</a:tableStyleId>
              </a:tblPr>
              <a:tblGrid>
                <a:gridCol w="2653625">
                  <a:extLst>
                    <a:ext uri="{9D8B030D-6E8A-4147-A177-3AD203B41FA5}">
                      <a16:colId xmlns:a16="http://schemas.microsoft.com/office/drawing/2014/main" val="20000"/>
                    </a:ext>
                  </a:extLst>
                </a:gridCol>
                <a:gridCol w="1014625">
                  <a:extLst>
                    <a:ext uri="{9D8B030D-6E8A-4147-A177-3AD203B41FA5}">
                      <a16:colId xmlns:a16="http://schemas.microsoft.com/office/drawing/2014/main" val="20001"/>
                    </a:ext>
                  </a:extLst>
                </a:gridCol>
                <a:gridCol w="741450">
                  <a:extLst>
                    <a:ext uri="{9D8B030D-6E8A-4147-A177-3AD203B41FA5}">
                      <a16:colId xmlns:a16="http://schemas.microsoft.com/office/drawing/2014/main" val="20002"/>
                    </a:ext>
                  </a:extLst>
                </a:gridCol>
                <a:gridCol w="988600">
                  <a:extLst>
                    <a:ext uri="{9D8B030D-6E8A-4147-A177-3AD203B41FA5}">
                      <a16:colId xmlns:a16="http://schemas.microsoft.com/office/drawing/2014/main" val="20003"/>
                    </a:ext>
                  </a:extLst>
                </a:gridCol>
                <a:gridCol w="975600">
                  <a:extLst>
                    <a:ext uri="{9D8B030D-6E8A-4147-A177-3AD203B41FA5}">
                      <a16:colId xmlns:a16="http://schemas.microsoft.com/office/drawing/2014/main" val="20004"/>
                    </a:ext>
                  </a:extLst>
                </a:gridCol>
              </a:tblGrid>
              <a:tr h="572425">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Class</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Precision</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Recall</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F1-Score</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Support</a:t>
                      </a:r>
                      <a:endParaRPr sz="1200" b="1">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r h="2862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Alat_Mandi_dan_Kebersihan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45</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2862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Kosmetik</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32</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2862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Makanan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0.43</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0.40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0.41</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83</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2862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Minuman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0.27</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0.77</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0.40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86</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r h="2862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Obat-obatan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34</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5"/>
                  </a:ext>
                </a:extLst>
              </a:tr>
              <a:tr h="2862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Peralatan_Masak_dan_Dapur</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43</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6"/>
                  </a:ext>
                </a:extLst>
              </a:tr>
              <a:tr h="289200">
                <a:tc>
                  <a:txBody>
                    <a:bodyPr/>
                    <a:lstStyle/>
                    <a:p>
                      <a:pPr marL="0" lvl="0" indent="0" algn="l" rtl="0">
                        <a:spcBef>
                          <a:spcPts val="0"/>
                        </a:spcBef>
                        <a:spcAft>
                          <a:spcPts val="0"/>
                        </a:spcAft>
                        <a:buNone/>
                      </a:pPr>
                      <a:r>
                        <a:rPr lang="en-US" sz="1200" b="1">
                          <a:latin typeface="Times New Roman"/>
                          <a:ea typeface="Times New Roman"/>
                          <a:cs typeface="Times New Roman"/>
                          <a:sym typeface="Times New Roman"/>
                        </a:rPr>
                        <a:t>Accuracy</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endParaRPr sz="10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b="1">
                          <a:latin typeface="Times New Roman"/>
                          <a:ea typeface="Times New Roman"/>
                          <a:cs typeface="Times New Roman"/>
                          <a:sym typeface="Times New Roman"/>
                        </a:rPr>
                        <a:t>0.31</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323</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7"/>
                  </a:ext>
                </a:extLst>
              </a:tr>
              <a:tr h="286200">
                <a:tc>
                  <a:txBody>
                    <a:bodyPr/>
                    <a:lstStyle/>
                    <a:p>
                      <a:pPr marL="0" lvl="0" indent="0" algn="l" rtl="0">
                        <a:spcBef>
                          <a:spcPts val="0"/>
                        </a:spcBef>
                        <a:spcAft>
                          <a:spcPts val="0"/>
                        </a:spcAft>
                        <a:buNone/>
                      </a:pPr>
                      <a:r>
                        <a:rPr lang="en-US" sz="1200" b="1">
                          <a:latin typeface="Times New Roman"/>
                          <a:ea typeface="Times New Roman"/>
                          <a:cs typeface="Times New Roman"/>
                          <a:sym typeface="Times New Roman"/>
                        </a:rPr>
                        <a:t>Macro Avg</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0.12</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0.19</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0.14</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323</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8"/>
                  </a:ext>
                </a:extLst>
              </a:tr>
              <a:tr h="286200">
                <a:tc>
                  <a:txBody>
                    <a:bodyPr/>
                    <a:lstStyle/>
                    <a:p>
                      <a:pPr marL="0" lvl="0" indent="0" algn="l" rtl="0">
                        <a:spcBef>
                          <a:spcPts val="0"/>
                        </a:spcBef>
                        <a:spcAft>
                          <a:spcPts val="0"/>
                        </a:spcAft>
                        <a:buNone/>
                      </a:pPr>
                      <a:r>
                        <a:rPr lang="en-US" sz="1200" b="1">
                          <a:latin typeface="Times New Roman"/>
                          <a:ea typeface="Times New Roman"/>
                          <a:cs typeface="Times New Roman"/>
                          <a:sym typeface="Times New Roman"/>
                        </a:rPr>
                        <a:t>Weighted Avg</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0.18</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0.31</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0.21</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323</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9"/>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Shape 387"/>
        <p:cNvGrpSpPr/>
        <p:nvPr/>
      </p:nvGrpSpPr>
      <p:grpSpPr>
        <a:xfrm>
          <a:off x="0" y="0"/>
          <a:ext cx="0" cy="0"/>
          <a:chOff x="0" y="0"/>
          <a:chExt cx="0" cy="0"/>
        </a:xfrm>
      </p:grpSpPr>
      <p:sp>
        <p:nvSpPr>
          <p:cNvPr id="388" name="Google Shape;388;g3711bd63d4f_0_44"/>
          <p:cNvSpPr txBox="1">
            <a:spLocks noGrp="1"/>
          </p:cNvSpPr>
          <p:nvPr>
            <p:ph type="body" idx="1"/>
          </p:nvPr>
        </p:nvSpPr>
        <p:spPr>
          <a:xfrm>
            <a:off x="838200" y="2428875"/>
            <a:ext cx="10515600" cy="37482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1000"/>
              </a:spcBef>
              <a:spcAft>
                <a:spcPts val="0"/>
              </a:spcAft>
              <a:buSzPts val="2000"/>
              <a:buFont typeface="Arial"/>
              <a:buAutoNum type="arabicPeriod"/>
            </a:pPr>
            <a:r>
              <a:rPr lang="en-US"/>
              <a:t>Model CRNN (From Scratch)</a:t>
            </a:r>
            <a:endParaRPr/>
          </a:p>
          <a:p>
            <a:pPr marL="457200" lvl="0" indent="0" algn="l" rtl="0">
              <a:lnSpc>
                <a:spcPct val="90000"/>
              </a:lnSpc>
              <a:spcBef>
                <a:spcPts val="1000"/>
              </a:spcBef>
              <a:spcAft>
                <a:spcPts val="0"/>
              </a:spcAft>
              <a:buNone/>
            </a:pPr>
            <a:r>
              <a:rPr lang="en-US" sz="1600"/>
              <a:t>Analisis :</a:t>
            </a:r>
            <a:endParaRPr sz="1600"/>
          </a:p>
          <a:p>
            <a:pPr marL="457200" lvl="0" indent="0" algn="l" rtl="0">
              <a:lnSpc>
                <a:spcPct val="90000"/>
              </a:lnSpc>
              <a:spcBef>
                <a:spcPts val="1000"/>
              </a:spcBef>
              <a:spcAft>
                <a:spcPts val="0"/>
              </a:spcAft>
              <a:buNone/>
            </a:pPr>
            <a:r>
              <a:rPr lang="en-US" sz="1600"/>
              <a:t>Pada model CRNN, hasil dari F1-Score 0.00 pada 4 dari 6 kategori menunjukkan model gagal total mengenali kelas-kelas tersebut, sehingga kinerjanya sangat rendah. Juga, Kinerja yang tidak seimbang dan hanya terlihat (meski rendah) pada kelas mayoritas ('Makanan' &amp; 'Minuman').</a:t>
            </a:r>
            <a:endParaRPr sz="1600"/>
          </a:p>
          <a:p>
            <a:pPr marL="457200" lvl="0" indent="0" algn="l" rtl="0">
              <a:lnSpc>
                <a:spcPct val="90000"/>
              </a:lnSpc>
              <a:spcBef>
                <a:spcPts val="1000"/>
              </a:spcBef>
              <a:spcAft>
                <a:spcPts val="0"/>
              </a:spcAft>
              <a:buNone/>
            </a:pPr>
            <a:endParaRPr sz="1600"/>
          </a:p>
          <a:p>
            <a:pPr marL="457200" lvl="0" indent="0" algn="l" rtl="0">
              <a:lnSpc>
                <a:spcPct val="90000"/>
              </a:lnSpc>
              <a:spcBef>
                <a:spcPts val="1000"/>
              </a:spcBef>
              <a:spcAft>
                <a:spcPts val="0"/>
              </a:spcAft>
              <a:buNone/>
            </a:pPr>
            <a:r>
              <a:rPr lang="en-US" sz="1600"/>
              <a:t>Kesimpulannya, Angka-angka ini secara kuantitatif membuktikan underfitting yang parah.</a:t>
            </a:r>
            <a:endParaRPr sz="1600"/>
          </a:p>
        </p:txBody>
      </p:sp>
      <p:sp>
        <p:nvSpPr>
          <p:cNvPr id="389" name="Google Shape;389;g3711bd63d4f_0_44"/>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Kinerja Model Klasifikasi</a:t>
            </a:r>
            <a:endParaRPr b="1">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393"/>
        <p:cNvGrpSpPr/>
        <p:nvPr/>
      </p:nvGrpSpPr>
      <p:grpSpPr>
        <a:xfrm>
          <a:off x="0" y="0"/>
          <a:ext cx="0" cy="0"/>
          <a:chOff x="0" y="0"/>
          <a:chExt cx="0" cy="0"/>
        </a:xfrm>
      </p:grpSpPr>
      <p:sp>
        <p:nvSpPr>
          <p:cNvPr id="394" name="Google Shape;394;g3711bd63d4f_0_58"/>
          <p:cNvSpPr txBox="1">
            <a:spLocks noGrp="1"/>
          </p:cNvSpPr>
          <p:nvPr>
            <p:ph type="body" idx="1"/>
          </p:nvPr>
        </p:nvSpPr>
        <p:spPr>
          <a:xfrm>
            <a:off x="838200" y="2428875"/>
            <a:ext cx="10515600" cy="427200"/>
          </a:xfrm>
          <a:prstGeom prst="rect">
            <a:avLst/>
          </a:prstGeom>
          <a:noFill/>
          <a:ln>
            <a:noFill/>
          </a:ln>
        </p:spPr>
        <p:txBody>
          <a:bodyPr spcFirstLastPara="1" wrap="square" lIns="91425" tIns="45700" rIns="91425" bIns="45700" anchor="t" anchorCtr="0">
            <a:normAutofit fontScale="92500" lnSpcReduction="20000"/>
          </a:bodyPr>
          <a:lstStyle/>
          <a:p>
            <a:pPr marL="457200" lvl="0" indent="-355600" algn="l" rtl="0">
              <a:lnSpc>
                <a:spcPct val="90000"/>
              </a:lnSpc>
              <a:spcBef>
                <a:spcPts val="1000"/>
              </a:spcBef>
              <a:spcAft>
                <a:spcPts val="0"/>
              </a:spcAft>
              <a:buSzPts val="2000"/>
              <a:buFont typeface="Arial"/>
              <a:buAutoNum type="arabicPeriod" startAt="2"/>
            </a:pPr>
            <a:r>
              <a:rPr lang="en-US"/>
              <a:t>Model MobileNetV2 (Transfer Learning)</a:t>
            </a:r>
            <a:endParaRPr sz="1600">
              <a:solidFill>
                <a:schemeClr val="dk1"/>
              </a:solidFill>
            </a:endParaRPr>
          </a:p>
        </p:txBody>
      </p:sp>
      <p:sp>
        <p:nvSpPr>
          <p:cNvPr id="395" name="Google Shape;395;g3711bd63d4f_0_58"/>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Kinerja Model Klasifikasi</a:t>
            </a:r>
            <a:endParaRPr b="1">
              <a:latin typeface="Arial"/>
              <a:ea typeface="Arial"/>
              <a:cs typeface="Arial"/>
              <a:sym typeface="Arial"/>
            </a:endParaRPr>
          </a:p>
        </p:txBody>
      </p:sp>
      <p:sp>
        <p:nvSpPr>
          <p:cNvPr id="396" name="Google Shape;396;g3711bd63d4f_0_58"/>
          <p:cNvSpPr txBox="1">
            <a:spLocks noGrp="1"/>
          </p:cNvSpPr>
          <p:nvPr>
            <p:ph type="body" idx="1"/>
          </p:nvPr>
        </p:nvSpPr>
        <p:spPr>
          <a:xfrm>
            <a:off x="667850" y="2856075"/>
            <a:ext cx="4984800" cy="4539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sz="1600"/>
              <a:t>Tahap 1 (Transfer Learning)</a:t>
            </a:r>
            <a:endParaRPr sz="1600"/>
          </a:p>
        </p:txBody>
      </p:sp>
      <p:sp>
        <p:nvSpPr>
          <p:cNvPr id="397" name="Google Shape;397;g3711bd63d4f_0_58"/>
          <p:cNvSpPr txBox="1">
            <a:spLocks noGrp="1"/>
          </p:cNvSpPr>
          <p:nvPr>
            <p:ph type="body" idx="1"/>
          </p:nvPr>
        </p:nvSpPr>
        <p:spPr>
          <a:xfrm>
            <a:off x="6102550" y="2856075"/>
            <a:ext cx="5574000" cy="4539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r>
              <a:rPr lang="en-US" sz="1600"/>
              <a:t>Tahap 2 (Fine-Tuning)</a:t>
            </a:r>
            <a:endParaRPr sz="1600"/>
          </a:p>
        </p:txBody>
      </p:sp>
      <p:graphicFrame>
        <p:nvGraphicFramePr>
          <p:cNvPr id="398" name="Google Shape;398;g3711bd63d4f_0_58"/>
          <p:cNvGraphicFramePr/>
          <p:nvPr/>
        </p:nvGraphicFramePr>
        <p:xfrm>
          <a:off x="667850" y="3430800"/>
          <a:ext cx="3000000" cy="3000000"/>
        </p:xfrm>
        <a:graphic>
          <a:graphicData uri="http://schemas.openxmlformats.org/drawingml/2006/table">
            <a:tbl>
              <a:tblPr bandRow="1">
                <a:noFill/>
                <a:tableStyleId>{BAB51536-194C-4DF1-BF3E-D65146005E30}</a:tableStyleId>
              </a:tblPr>
              <a:tblGrid>
                <a:gridCol w="2071075">
                  <a:extLst>
                    <a:ext uri="{9D8B030D-6E8A-4147-A177-3AD203B41FA5}">
                      <a16:colId xmlns:a16="http://schemas.microsoft.com/office/drawing/2014/main" val="20000"/>
                    </a:ext>
                  </a:extLst>
                </a:gridCol>
                <a:gridCol w="791875">
                  <a:extLst>
                    <a:ext uri="{9D8B030D-6E8A-4147-A177-3AD203B41FA5}">
                      <a16:colId xmlns:a16="http://schemas.microsoft.com/office/drawing/2014/main" val="20001"/>
                    </a:ext>
                  </a:extLst>
                </a:gridCol>
                <a:gridCol w="578675">
                  <a:extLst>
                    <a:ext uri="{9D8B030D-6E8A-4147-A177-3AD203B41FA5}">
                      <a16:colId xmlns:a16="http://schemas.microsoft.com/office/drawing/2014/main" val="20002"/>
                    </a:ext>
                  </a:extLst>
                </a:gridCol>
                <a:gridCol w="771575">
                  <a:extLst>
                    <a:ext uri="{9D8B030D-6E8A-4147-A177-3AD203B41FA5}">
                      <a16:colId xmlns:a16="http://schemas.microsoft.com/office/drawing/2014/main" val="20003"/>
                    </a:ext>
                  </a:extLst>
                </a:gridCol>
                <a:gridCol w="771575">
                  <a:extLst>
                    <a:ext uri="{9D8B030D-6E8A-4147-A177-3AD203B41FA5}">
                      <a16:colId xmlns:a16="http://schemas.microsoft.com/office/drawing/2014/main" val="20004"/>
                    </a:ext>
                  </a:extLst>
                </a:gridCol>
              </a:tblGrid>
              <a:tr h="404600">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Class</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Precision</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Recall</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F1-Score</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Support</a:t>
                      </a:r>
                      <a:endParaRPr sz="1200" b="1">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r h="2023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Alat_Mandi_dan_Kebersihan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0.49</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0.73</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0.59</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45</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2023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Kosmetik</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0.38</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0.41</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0.39</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32</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2023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Makanan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0.79</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0.67</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0.73</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83</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2023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Minuman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0.81</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0.65</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0.72</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86</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r h="2023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Obat-obatan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0.67</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0.76</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0.71</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34</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5"/>
                  </a:ext>
                </a:extLst>
              </a:tr>
              <a:tr h="2023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Peralatan_Masak_dan_Dapur</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0.65</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0.65</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0.65</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43</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6"/>
                  </a:ext>
                </a:extLst>
              </a:tr>
              <a:tr h="204425">
                <a:tc>
                  <a:txBody>
                    <a:bodyPr/>
                    <a:lstStyle/>
                    <a:p>
                      <a:pPr marL="0" lvl="0" indent="0" algn="l" rtl="0">
                        <a:spcBef>
                          <a:spcPts val="0"/>
                        </a:spcBef>
                        <a:spcAft>
                          <a:spcPts val="0"/>
                        </a:spcAft>
                        <a:buNone/>
                      </a:pPr>
                      <a:r>
                        <a:rPr lang="en-US" sz="1200" b="1">
                          <a:latin typeface="Times New Roman"/>
                          <a:ea typeface="Times New Roman"/>
                          <a:cs typeface="Times New Roman"/>
                          <a:sym typeface="Times New Roman"/>
                        </a:rPr>
                        <a:t>Accuracy</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endParaRPr sz="10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b="1">
                          <a:latin typeface="Times New Roman"/>
                          <a:ea typeface="Times New Roman"/>
                          <a:cs typeface="Times New Roman"/>
                          <a:sym typeface="Times New Roman"/>
                        </a:rPr>
                        <a:t>0.66</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323</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7"/>
                  </a:ext>
                </a:extLst>
              </a:tr>
              <a:tr h="202300">
                <a:tc>
                  <a:txBody>
                    <a:bodyPr/>
                    <a:lstStyle/>
                    <a:p>
                      <a:pPr marL="0" lvl="0" indent="0" algn="l" rtl="0">
                        <a:spcBef>
                          <a:spcPts val="0"/>
                        </a:spcBef>
                        <a:spcAft>
                          <a:spcPts val="0"/>
                        </a:spcAft>
                        <a:buNone/>
                      </a:pPr>
                      <a:r>
                        <a:rPr lang="en-US" sz="1200" b="1">
                          <a:latin typeface="Times New Roman"/>
                          <a:ea typeface="Times New Roman"/>
                          <a:cs typeface="Times New Roman"/>
                          <a:sym typeface="Times New Roman"/>
                        </a:rPr>
                        <a:t>Macro Avg</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0.63</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0.65</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0.63</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323</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8"/>
                  </a:ext>
                </a:extLst>
              </a:tr>
              <a:tr h="202300">
                <a:tc>
                  <a:txBody>
                    <a:bodyPr/>
                    <a:lstStyle/>
                    <a:p>
                      <a:pPr marL="0" lvl="0" indent="0" algn="l" rtl="0">
                        <a:spcBef>
                          <a:spcPts val="0"/>
                        </a:spcBef>
                        <a:spcAft>
                          <a:spcPts val="0"/>
                        </a:spcAft>
                        <a:buNone/>
                      </a:pPr>
                      <a:r>
                        <a:rPr lang="en-US" sz="1200" b="1">
                          <a:latin typeface="Times New Roman"/>
                          <a:ea typeface="Times New Roman"/>
                          <a:cs typeface="Times New Roman"/>
                          <a:sym typeface="Times New Roman"/>
                        </a:rPr>
                        <a:t>Weighted Avg</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0.68</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0.66</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0.66</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323</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9"/>
                  </a:ext>
                </a:extLst>
              </a:tr>
            </a:tbl>
          </a:graphicData>
        </a:graphic>
      </p:graphicFrame>
      <p:graphicFrame>
        <p:nvGraphicFramePr>
          <p:cNvPr id="399" name="Google Shape;399;g3711bd63d4f_0_58"/>
          <p:cNvGraphicFramePr/>
          <p:nvPr/>
        </p:nvGraphicFramePr>
        <p:xfrm>
          <a:off x="6102550" y="3430800"/>
          <a:ext cx="3000000" cy="3000000"/>
        </p:xfrm>
        <a:graphic>
          <a:graphicData uri="http://schemas.openxmlformats.org/drawingml/2006/table">
            <a:tbl>
              <a:tblPr bandRow="1">
                <a:noFill/>
                <a:tableStyleId>{BAB51536-194C-4DF1-BF3E-D65146005E30}</a:tableStyleId>
              </a:tblPr>
              <a:tblGrid>
                <a:gridCol w="2062675">
                  <a:extLst>
                    <a:ext uri="{9D8B030D-6E8A-4147-A177-3AD203B41FA5}">
                      <a16:colId xmlns:a16="http://schemas.microsoft.com/office/drawing/2014/main" val="20000"/>
                    </a:ext>
                  </a:extLst>
                </a:gridCol>
                <a:gridCol w="788675">
                  <a:extLst>
                    <a:ext uri="{9D8B030D-6E8A-4147-A177-3AD203B41FA5}">
                      <a16:colId xmlns:a16="http://schemas.microsoft.com/office/drawing/2014/main" val="20001"/>
                    </a:ext>
                  </a:extLst>
                </a:gridCol>
                <a:gridCol w="576325">
                  <a:extLst>
                    <a:ext uri="{9D8B030D-6E8A-4147-A177-3AD203B41FA5}">
                      <a16:colId xmlns:a16="http://schemas.microsoft.com/office/drawing/2014/main" val="20002"/>
                    </a:ext>
                  </a:extLst>
                </a:gridCol>
                <a:gridCol w="768450">
                  <a:extLst>
                    <a:ext uri="{9D8B030D-6E8A-4147-A177-3AD203B41FA5}">
                      <a16:colId xmlns:a16="http://schemas.microsoft.com/office/drawing/2014/main" val="20003"/>
                    </a:ext>
                  </a:extLst>
                </a:gridCol>
                <a:gridCol w="788675">
                  <a:extLst>
                    <a:ext uri="{9D8B030D-6E8A-4147-A177-3AD203B41FA5}">
                      <a16:colId xmlns:a16="http://schemas.microsoft.com/office/drawing/2014/main" val="20004"/>
                    </a:ext>
                  </a:extLst>
                </a:gridCol>
              </a:tblGrid>
              <a:tr h="404600">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Class</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Precision</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Recall</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F1-Score</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spcBef>
                          <a:spcPts val="0"/>
                        </a:spcBef>
                        <a:spcAft>
                          <a:spcPts val="0"/>
                        </a:spcAft>
                        <a:buNone/>
                      </a:pPr>
                      <a:r>
                        <a:rPr lang="en-US" sz="1200" b="1">
                          <a:latin typeface="Times New Roman"/>
                          <a:ea typeface="Times New Roman"/>
                          <a:cs typeface="Times New Roman"/>
                          <a:sym typeface="Times New Roman"/>
                        </a:rPr>
                        <a:t>Support</a:t>
                      </a:r>
                      <a:endParaRPr sz="1200" b="1">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r h="2023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Alat_Mandi_dan_Kebersihan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0.63</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0.81</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0.71</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226</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2023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Kosmetik</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0.72</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0.79</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0.75</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160</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2023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Makanan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0.87</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0.83</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411</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2023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Minuman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0.87</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0.73</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430</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r h="2023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Obat-obatan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0.75</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0.85</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172</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5"/>
                  </a:ext>
                </a:extLst>
              </a:tr>
              <a:tr h="2023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Peralatan_Masak_dan_Dapur</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0.81</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0.79</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212</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6"/>
                  </a:ext>
                </a:extLst>
              </a:tr>
              <a:tr h="204425">
                <a:tc>
                  <a:txBody>
                    <a:bodyPr/>
                    <a:lstStyle/>
                    <a:p>
                      <a:pPr marL="0" lvl="0" indent="0" algn="l" rtl="0">
                        <a:spcBef>
                          <a:spcPts val="0"/>
                        </a:spcBef>
                        <a:spcAft>
                          <a:spcPts val="0"/>
                        </a:spcAft>
                        <a:buNone/>
                      </a:pPr>
                      <a:r>
                        <a:rPr lang="en-US" sz="1200" b="1">
                          <a:latin typeface="Times New Roman"/>
                          <a:ea typeface="Times New Roman"/>
                          <a:cs typeface="Times New Roman"/>
                          <a:sym typeface="Times New Roman"/>
                        </a:rPr>
                        <a:t>Accuracy</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endParaRPr sz="10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b="1">
                          <a:latin typeface="Times New Roman"/>
                          <a:ea typeface="Times New Roman"/>
                          <a:cs typeface="Times New Roman"/>
                          <a:sym typeface="Times New Roman"/>
                        </a:rPr>
                        <a:t>0.79</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1611</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7"/>
                  </a:ext>
                </a:extLst>
              </a:tr>
              <a:tr h="202300">
                <a:tc>
                  <a:txBody>
                    <a:bodyPr/>
                    <a:lstStyle/>
                    <a:p>
                      <a:pPr marL="0" lvl="0" indent="0" algn="l" rtl="0">
                        <a:spcBef>
                          <a:spcPts val="0"/>
                        </a:spcBef>
                        <a:spcAft>
                          <a:spcPts val="0"/>
                        </a:spcAft>
                        <a:buNone/>
                      </a:pPr>
                      <a:r>
                        <a:rPr lang="en-US" sz="1200" b="1">
                          <a:latin typeface="Times New Roman"/>
                          <a:ea typeface="Times New Roman"/>
                          <a:cs typeface="Times New Roman"/>
                          <a:sym typeface="Times New Roman"/>
                        </a:rPr>
                        <a:t>Macro Avg</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0.78</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0.78</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1611</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8"/>
                  </a:ext>
                </a:extLst>
              </a:tr>
              <a:tr h="202300">
                <a:tc>
                  <a:txBody>
                    <a:bodyPr/>
                    <a:lstStyle/>
                    <a:p>
                      <a:pPr marL="0" lvl="0" indent="0" algn="l" rtl="0">
                        <a:spcBef>
                          <a:spcPts val="0"/>
                        </a:spcBef>
                        <a:spcAft>
                          <a:spcPts val="0"/>
                        </a:spcAft>
                        <a:buNone/>
                      </a:pPr>
                      <a:r>
                        <a:rPr lang="en-US" sz="1200" b="1">
                          <a:latin typeface="Times New Roman"/>
                          <a:ea typeface="Times New Roman"/>
                          <a:cs typeface="Times New Roman"/>
                          <a:sym typeface="Times New Roman"/>
                        </a:rPr>
                        <a:t>Weighted Avg</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0.80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0.79</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0.79</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1611</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9"/>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Shape 403"/>
        <p:cNvGrpSpPr/>
        <p:nvPr/>
      </p:nvGrpSpPr>
      <p:grpSpPr>
        <a:xfrm>
          <a:off x="0" y="0"/>
          <a:ext cx="0" cy="0"/>
          <a:chOff x="0" y="0"/>
          <a:chExt cx="0" cy="0"/>
        </a:xfrm>
      </p:grpSpPr>
      <p:sp>
        <p:nvSpPr>
          <p:cNvPr id="404" name="Google Shape;404;g3711bd63d4f_0_49"/>
          <p:cNvSpPr txBox="1">
            <a:spLocks noGrp="1"/>
          </p:cNvSpPr>
          <p:nvPr>
            <p:ph type="body" idx="1"/>
          </p:nvPr>
        </p:nvSpPr>
        <p:spPr>
          <a:xfrm>
            <a:off x="838200" y="2428875"/>
            <a:ext cx="10515600" cy="37482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1000"/>
              </a:spcBef>
              <a:spcAft>
                <a:spcPts val="0"/>
              </a:spcAft>
              <a:buSzPts val="2000"/>
              <a:buFont typeface="Arial"/>
              <a:buAutoNum type="arabicPeriod" startAt="2"/>
            </a:pPr>
            <a:r>
              <a:rPr lang="en-US"/>
              <a:t>Model MobileNetV2 (Transfer Learning)</a:t>
            </a:r>
            <a:endParaRPr/>
          </a:p>
          <a:p>
            <a:pPr marL="457200" lvl="0" indent="0" algn="l" rtl="0">
              <a:spcBef>
                <a:spcPts val="1000"/>
              </a:spcBef>
              <a:spcAft>
                <a:spcPts val="0"/>
              </a:spcAft>
              <a:buNone/>
            </a:pPr>
            <a:r>
              <a:rPr lang="en-US" sz="1600">
                <a:solidFill>
                  <a:schemeClr val="dk1"/>
                </a:solidFill>
              </a:rPr>
              <a:t>Analisis :</a:t>
            </a:r>
            <a:endParaRPr sz="1600">
              <a:solidFill>
                <a:schemeClr val="dk1"/>
              </a:solidFill>
            </a:endParaRPr>
          </a:p>
          <a:p>
            <a:pPr marL="457200" lvl="0" indent="0" algn="l" rtl="0">
              <a:spcBef>
                <a:spcPts val="1000"/>
              </a:spcBef>
              <a:spcAft>
                <a:spcPts val="0"/>
              </a:spcAft>
              <a:buNone/>
            </a:pPr>
            <a:r>
              <a:rPr lang="en-US" sz="1600">
                <a:solidFill>
                  <a:schemeClr val="dk1"/>
                </a:solidFill>
              </a:rPr>
              <a:t>Berbeda dengan CRNN, MobileNetV2 justru memiliki performa yang tinggi dan seimbang, hal ini dikarenakan F1-Score untuk semua kategori berada di level yang baik (rata-rata 0.78), menunjukkan model mampu mengenali semua kelas dengan efektif.</a:t>
            </a:r>
            <a:endParaRPr sz="1600">
              <a:solidFill>
                <a:schemeClr val="dk1"/>
              </a:solidFill>
            </a:endParaRPr>
          </a:p>
          <a:p>
            <a:pPr marL="457200" lvl="0" indent="0" algn="l" rtl="0">
              <a:spcBef>
                <a:spcPts val="1000"/>
              </a:spcBef>
              <a:spcAft>
                <a:spcPts val="0"/>
              </a:spcAft>
              <a:buNone/>
            </a:pPr>
            <a:r>
              <a:rPr lang="en-US" sz="1600">
                <a:solidFill>
                  <a:schemeClr val="dk1"/>
                </a:solidFill>
              </a:rPr>
              <a:t>Jadi, F1-Score untuk semua kategori berada di level yang baik (rata-rata 0.78), menunjukkan model mampu mengenali semua kelas dengan efektif.</a:t>
            </a:r>
            <a:endParaRPr sz="1600">
              <a:solidFill>
                <a:schemeClr val="dk1"/>
              </a:solidFill>
            </a:endParaRPr>
          </a:p>
          <a:p>
            <a:pPr marL="457200" lvl="0" indent="0" algn="l" rtl="0">
              <a:spcBef>
                <a:spcPts val="1000"/>
              </a:spcBef>
              <a:spcAft>
                <a:spcPts val="0"/>
              </a:spcAft>
              <a:buNone/>
            </a:pPr>
            <a:endParaRPr sz="1600">
              <a:solidFill>
                <a:schemeClr val="dk1"/>
              </a:solidFill>
            </a:endParaRPr>
          </a:p>
        </p:txBody>
      </p:sp>
      <p:sp>
        <p:nvSpPr>
          <p:cNvPr id="405" name="Google Shape;405;g3711bd63d4f_0_49"/>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Kinerja Model Klasifikasi</a:t>
            </a:r>
            <a:endParaRPr b="1">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409"/>
        <p:cNvGrpSpPr/>
        <p:nvPr/>
      </p:nvGrpSpPr>
      <p:grpSpPr>
        <a:xfrm>
          <a:off x="0" y="0"/>
          <a:ext cx="0" cy="0"/>
          <a:chOff x="0" y="0"/>
          <a:chExt cx="0" cy="0"/>
        </a:xfrm>
      </p:grpSpPr>
      <p:sp>
        <p:nvSpPr>
          <p:cNvPr id="410" name="Google Shape;410;g3711bd63d4f_0_69"/>
          <p:cNvSpPr txBox="1">
            <a:spLocks noGrp="1"/>
          </p:cNvSpPr>
          <p:nvPr>
            <p:ph type="body" idx="1"/>
          </p:nvPr>
        </p:nvSpPr>
        <p:spPr>
          <a:xfrm>
            <a:off x="838200" y="1008650"/>
            <a:ext cx="10515600" cy="4428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1000"/>
              </a:spcBef>
              <a:spcAft>
                <a:spcPts val="0"/>
              </a:spcAft>
              <a:buNone/>
            </a:pPr>
            <a:r>
              <a:rPr lang="en-US"/>
              <a:t>Perbandingan Metrik Akhir antara Kedua Model secara Head-to-Head:</a:t>
            </a:r>
            <a:endParaRPr sz="2000">
              <a:latin typeface="Arial"/>
              <a:ea typeface="Arial"/>
              <a:cs typeface="Arial"/>
              <a:sym typeface="Arial"/>
            </a:endParaRPr>
          </a:p>
        </p:txBody>
      </p:sp>
      <p:sp>
        <p:nvSpPr>
          <p:cNvPr id="411" name="Google Shape;411;g3711bd63d4f_0_69"/>
          <p:cNvSpPr txBox="1">
            <a:spLocks noGrp="1"/>
          </p:cNvSpPr>
          <p:nvPr>
            <p:ph type="title"/>
          </p:nvPr>
        </p:nvSpPr>
        <p:spPr>
          <a:xfrm>
            <a:off x="838200" y="2403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Kinerja Model Klasifikasi</a:t>
            </a:r>
            <a:endParaRPr b="1">
              <a:latin typeface="Arial"/>
              <a:ea typeface="Arial"/>
              <a:cs typeface="Arial"/>
              <a:sym typeface="Arial"/>
            </a:endParaRPr>
          </a:p>
        </p:txBody>
      </p:sp>
      <p:sp>
        <p:nvSpPr>
          <p:cNvPr id="412" name="Google Shape;412;g3711bd63d4f_0_69"/>
          <p:cNvSpPr txBox="1">
            <a:spLocks noGrp="1"/>
          </p:cNvSpPr>
          <p:nvPr>
            <p:ph type="body" idx="1"/>
          </p:nvPr>
        </p:nvSpPr>
        <p:spPr>
          <a:xfrm>
            <a:off x="838188" y="5126275"/>
            <a:ext cx="10515600" cy="114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None/>
            </a:pPr>
            <a:r>
              <a:rPr lang="en-US" sz="1600"/>
              <a:t>Kesimpulannya adalah Model MobileNetV2 unggul secara signifikan dan konsisten di semua metrik evaluasi. Serta, angka-angka tersebut secara tegas membuktikan bahwa pendekatan </a:t>
            </a:r>
            <a:r>
              <a:rPr lang="en-US" sz="1600" b="1"/>
              <a:t>Transfer Learning</a:t>
            </a:r>
            <a:r>
              <a:rPr lang="en-US" sz="1600"/>
              <a:t> dan </a:t>
            </a:r>
            <a:r>
              <a:rPr lang="en-US" sz="1600" b="1"/>
              <a:t>Fine-Tuning</a:t>
            </a:r>
            <a:r>
              <a:rPr lang="en-US" sz="1600"/>
              <a:t> adalah strategi yang jauh lebih superior untuk masalah ini dibandingkan membangun model dari nol dengan dataset terbatas.</a:t>
            </a:r>
            <a:endParaRPr sz="1600">
              <a:latin typeface="Arial"/>
              <a:ea typeface="Arial"/>
              <a:cs typeface="Arial"/>
              <a:sym typeface="Arial"/>
            </a:endParaRPr>
          </a:p>
        </p:txBody>
      </p:sp>
      <p:graphicFrame>
        <p:nvGraphicFramePr>
          <p:cNvPr id="413" name="Google Shape;413;g3711bd63d4f_0_69"/>
          <p:cNvGraphicFramePr/>
          <p:nvPr/>
        </p:nvGraphicFramePr>
        <p:xfrm>
          <a:off x="1816400" y="1762263"/>
          <a:ext cx="3000000" cy="3000000"/>
        </p:xfrm>
        <a:graphic>
          <a:graphicData uri="http://schemas.openxmlformats.org/drawingml/2006/table">
            <a:tbl>
              <a:tblPr bandRow="1">
                <a:noFill/>
                <a:tableStyleId>{BAB51536-194C-4DF1-BF3E-D65146005E30}</a:tableStyleId>
              </a:tblPr>
              <a:tblGrid>
                <a:gridCol w="1744875">
                  <a:extLst>
                    <a:ext uri="{9D8B030D-6E8A-4147-A177-3AD203B41FA5}">
                      <a16:colId xmlns:a16="http://schemas.microsoft.com/office/drawing/2014/main" val="20000"/>
                    </a:ext>
                  </a:extLst>
                </a:gridCol>
                <a:gridCol w="1106925">
                  <a:extLst>
                    <a:ext uri="{9D8B030D-6E8A-4147-A177-3AD203B41FA5}">
                      <a16:colId xmlns:a16="http://schemas.microsoft.com/office/drawing/2014/main" val="20001"/>
                    </a:ext>
                  </a:extLst>
                </a:gridCol>
                <a:gridCol w="1947050">
                  <a:extLst>
                    <a:ext uri="{9D8B030D-6E8A-4147-A177-3AD203B41FA5}">
                      <a16:colId xmlns:a16="http://schemas.microsoft.com/office/drawing/2014/main" val="20002"/>
                    </a:ext>
                  </a:extLst>
                </a:gridCol>
                <a:gridCol w="3760325">
                  <a:extLst>
                    <a:ext uri="{9D8B030D-6E8A-4147-A177-3AD203B41FA5}">
                      <a16:colId xmlns:a16="http://schemas.microsoft.com/office/drawing/2014/main" val="20003"/>
                    </a:ext>
                  </a:extLst>
                </a:gridCol>
              </a:tblGrid>
              <a:tr h="853125">
                <a:tc>
                  <a:txBody>
                    <a:bodyPr/>
                    <a:lstStyle/>
                    <a:p>
                      <a:pPr marL="0" lvl="0" indent="0" algn="ctr" rtl="0">
                        <a:lnSpc>
                          <a:spcPct val="115833"/>
                        </a:lnSpc>
                        <a:spcBef>
                          <a:spcPts val="0"/>
                        </a:spcBef>
                        <a:spcAft>
                          <a:spcPts val="800"/>
                        </a:spcAft>
                        <a:buNone/>
                      </a:pPr>
                      <a:r>
                        <a:rPr lang="en-US" sz="1200" b="1">
                          <a:latin typeface="Times New Roman"/>
                          <a:ea typeface="Times New Roman"/>
                          <a:cs typeface="Times New Roman"/>
                          <a:sym typeface="Times New Roman"/>
                        </a:rPr>
                        <a:t>Metrik Evaluasi</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lnSpc>
                          <a:spcPct val="115833"/>
                        </a:lnSpc>
                        <a:spcBef>
                          <a:spcPts val="0"/>
                        </a:spcBef>
                        <a:spcAft>
                          <a:spcPts val="800"/>
                        </a:spcAft>
                        <a:buNone/>
                      </a:pPr>
                      <a:r>
                        <a:rPr lang="en-US" sz="1200" b="1">
                          <a:latin typeface="Times New Roman"/>
                          <a:ea typeface="Times New Roman"/>
                          <a:cs typeface="Times New Roman"/>
                          <a:sym typeface="Times New Roman"/>
                        </a:rPr>
                        <a:t>Model CRNN</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lnSpc>
                          <a:spcPct val="115833"/>
                        </a:lnSpc>
                        <a:spcBef>
                          <a:spcPts val="0"/>
                        </a:spcBef>
                        <a:spcAft>
                          <a:spcPts val="800"/>
                        </a:spcAft>
                        <a:buNone/>
                      </a:pPr>
                      <a:r>
                        <a:rPr lang="en-US" sz="1200" b="1">
                          <a:latin typeface="Times New Roman"/>
                          <a:ea typeface="Times New Roman"/>
                          <a:cs typeface="Times New Roman"/>
                          <a:sym typeface="Times New Roman"/>
                        </a:rPr>
                        <a:t>Model MobileNetV2 (Final)</a:t>
                      </a:r>
                      <a:endParaRPr sz="1200" b="1">
                        <a:latin typeface="Times New Roman"/>
                        <a:ea typeface="Times New Roman"/>
                        <a:cs typeface="Times New Roman"/>
                        <a:sym typeface="Times New Roman"/>
                      </a:endParaRPr>
                    </a:p>
                  </a:txBody>
                  <a:tcPr marL="68575" marR="68575" marT="0" marB="0"/>
                </a:tc>
                <a:tc>
                  <a:txBody>
                    <a:bodyPr/>
                    <a:lstStyle/>
                    <a:p>
                      <a:pPr marL="0" lvl="0" indent="0" algn="ctr" rtl="0">
                        <a:lnSpc>
                          <a:spcPct val="115833"/>
                        </a:lnSpc>
                        <a:spcBef>
                          <a:spcPts val="0"/>
                        </a:spcBef>
                        <a:spcAft>
                          <a:spcPts val="800"/>
                        </a:spcAft>
                        <a:buNone/>
                      </a:pPr>
                      <a:r>
                        <a:rPr lang="en-US" sz="1200" b="1">
                          <a:latin typeface="Times New Roman"/>
                          <a:ea typeface="Times New Roman"/>
                          <a:cs typeface="Times New Roman"/>
                          <a:sym typeface="Times New Roman"/>
                        </a:rPr>
                        <a:t>Keterangan</a:t>
                      </a:r>
                      <a:endParaRPr sz="1200" b="1">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r h="439050">
                <a:tc>
                  <a:txBody>
                    <a:bodyPr/>
                    <a:lstStyle/>
                    <a:p>
                      <a:pPr marL="0" lvl="0" indent="0" algn="l" rtl="0">
                        <a:lnSpc>
                          <a:spcPct val="115833"/>
                        </a:lnSpc>
                        <a:spcBef>
                          <a:spcPts val="0"/>
                        </a:spcBef>
                        <a:spcAft>
                          <a:spcPts val="800"/>
                        </a:spcAft>
                        <a:buNone/>
                      </a:pPr>
                      <a:r>
                        <a:rPr lang="en-US" sz="1200" b="1">
                          <a:latin typeface="Times New Roman"/>
                          <a:ea typeface="Times New Roman"/>
                          <a:cs typeface="Times New Roman"/>
                          <a:sym typeface="Times New Roman"/>
                        </a:rPr>
                        <a:t>Akurasi Keseluruhan</a:t>
                      </a:r>
                      <a:endParaRPr sz="1200">
                        <a:latin typeface="Times New Roman"/>
                        <a:ea typeface="Times New Roman"/>
                        <a:cs typeface="Times New Roman"/>
                        <a:sym typeface="Times New Roman"/>
                      </a:endParaRPr>
                    </a:p>
                  </a:txBody>
                  <a:tcPr marL="68575" marR="68575" marT="0" marB="0"/>
                </a:tc>
                <a:tc>
                  <a:txBody>
                    <a:bodyPr/>
                    <a:lstStyle/>
                    <a:p>
                      <a:pPr marL="0" lvl="0" indent="0" algn="ctr" rtl="0">
                        <a:lnSpc>
                          <a:spcPct val="115833"/>
                        </a:lnSpc>
                        <a:spcBef>
                          <a:spcPts val="0"/>
                        </a:spcBef>
                        <a:spcAft>
                          <a:spcPts val="800"/>
                        </a:spcAft>
                        <a:buNone/>
                      </a:pPr>
                      <a:r>
                        <a:rPr lang="en-US" sz="1200">
                          <a:latin typeface="Times New Roman"/>
                          <a:ea typeface="Times New Roman"/>
                          <a:cs typeface="Times New Roman"/>
                          <a:sym typeface="Times New Roman"/>
                        </a:rPr>
                        <a:t>30.65%</a:t>
                      </a:r>
                      <a:endParaRPr sz="1200">
                        <a:latin typeface="Times New Roman"/>
                        <a:ea typeface="Times New Roman"/>
                        <a:cs typeface="Times New Roman"/>
                        <a:sym typeface="Times New Roman"/>
                      </a:endParaRPr>
                    </a:p>
                  </a:txBody>
                  <a:tcPr marL="68575" marR="68575" marT="0" marB="0"/>
                </a:tc>
                <a:tc>
                  <a:txBody>
                    <a:bodyPr/>
                    <a:lstStyle/>
                    <a:p>
                      <a:pPr marL="0" lvl="0" indent="0" algn="ctr" rtl="0">
                        <a:lnSpc>
                          <a:spcPct val="115833"/>
                        </a:lnSpc>
                        <a:spcBef>
                          <a:spcPts val="0"/>
                        </a:spcBef>
                        <a:spcAft>
                          <a:spcPts val="800"/>
                        </a:spcAft>
                        <a:buNone/>
                      </a:pPr>
                      <a:r>
                        <a:rPr lang="en-US" sz="1200" b="1">
                          <a:latin typeface="Times New Roman"/>
                          <a:ea typeface="Times New Roman"/>
                          <a:cs typeface="Times New Roman"/>
                          <a:sym typeface="Times New Roman"/>
                        </a:rPr>
                        <a:t>78.77%</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MobileNetV2 </a:t>
                      </a:r>
                      <a:r>
                        <a:rPr lang="en-US" sz="1200" b="1">
                          <a:latin typeface="Times New Roman"/>
                          <a:ea typeface="Times New Roman"/>
                          <a:cs typeface="Times New Roman"/>
                          <a:sym typeface="Times New Roman"/>
                        </a:rPr>
                        <a:t>2.5x lebih akurat</a:t>
                      </a:r>
                      <a:r>
                        <a:rPr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573850">
                <a:tc>
                  <a:txBody>
                    <a:bodyPr/>
                    <a:lstStyle/>
                    <a:p>
                      <a:pPr marL="0" lvl="0" indent="0" algn="l" rtl="0">
                        <a:lnSpc>
                          <a:spcPct val="115833"/>
                        </a:lnSpc>
                        <a:spcBef>
                          <a:spcPts val="0"/>
                        </a:spcBef>
                        <a:spcAft>
                          <a:spcPts val="800"/>
                        </a:spcAft>
                        <a:buNone/>
                      </a:pPr>
                      <a:r>
                        <a:rPr lang="en-US" sz="1200" b="1">
                          <a:latin typeface="Times New Roman"/>
                          <a:ea typeface="Times New Roman"/>
                          <a:cs typeface="Times New Roman"/>
                          <a:sym typeface="Times New Roman"/>
                        </a:rPr>
                        <a:t>F1-Score (Macro Avg)</a:t>
                      </a:r>
                      <a:endParaRPr sz="1200">
                        <a:latin typeface="Times New Roman"/>
                        <a:ea typeface="Times New Roman"/>
                        <a:cs typeface="Times New Roman"/>
                        <a:sym typeface="Times New Roman"/>
                      </a:endParaRPr>
                    </a:p>
                  </a:txBody>
                  <a:tcPr marL="68575" marR="68575" marT="0" marB="0"/>
                </a:tc>
                <a:tc>
                  <a:txBody>
                    <a:bodyPr/>
                    <a:lstStyle/>
                    <a:p>
                      <a:pPr marL="0" lvl="0" indent="0" algn="ctr" rtl="0">
                        <a:lnSpc>
                          <a:spcPct val="115833"/>
                        </a:lnSpc>
                        <a:spcBef>
                          <a:spcPts val="0"/>
                        </a:spcBef>
                        <a:spcAft>
                          <a:spcPts val="800"/>
                        </a:spcAft>
                        <a:buNone/>
                      </a:pPr>
                      <a:r>
                        <a:rPr lang="en-US" sz="1200">
                          <a:latin typeface="Times New Roman"/>
                          <a:ea typeface="Times New Roman"/>
                          <a:cs typeface="Times New Roman"/>
                          <a:sym typeface="Times New Roman"/>
                        </a:rPr>
                        <a:t>0.14</a:t>
                      </a:r>
                      <a:endParaRPr sz="1200">
                        <a:latin typeface="Times New Roman"/>
                        <a:ea typeface="Times New Roman"/>
                        <a:cs typeface="Times New Roman"/>
                        <a:sym typeface="Times New Roman"/>
                      </a:endParaRPr>
                    </a:p>
                  </a:txBody>
                  <a:tcPr marL="68575" marR="68575" marT="0" marB="0"/>
                </a:tc>
                <a:tc>
                  <a:txBody>
                    <a:bodyPr/>
                    <a:lstStyle/>
                    <a:p>
                      <a:pPr marL="0" lvl="0" indent="0" algn="ctr" rtl="0">
                        <a:lnSpc>
                          <a:spcPct val="115833"/>
                        </a:lnSpc>
                        <a:spcBef>
                          <a:spcPts val="0"/>
                        </a:spcBef>
                        <a:spcAft>
                          <a:spcPts val="800"/>
                        </a:spcAft>
                        <a:buNone/>
                      </a:pPr>
                      <a:r>
                        <a:rPr lang="en-US" sz="1200" b="1">
                          <a:latin typeface="Times New Roman"/>
                          <a:ea typeface="Times New Roman"/>
                          <a:cs typeface="Times New Roman"/>
                          <a:sym typeface="Times New Roman"/>
                        </a:rPr>
                        <a:t>0.78</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MobileNetV2 </a:t>
                      </a:r>
                      <a:r>
                        <a:rPr lang="en-US" sz="1200" b="1">
                          <a:latin typeface="Times New Roman"/>
                          <a:ea typeface="Times New Roman"/>
                          <a:cs typeface="Times New Roman"/>
                          <a:sym typeface="Times New Roman"/>
                        </a:rPr>
                        <a:t>5.5x lebih baik</a:t>
                      </a:r>
                      <a:r>
                        <a:rPr lang="en-US" sz="1200">
                          <a:latin typeface="Times New Roman"/>
                          <a:ea typeface="Times New Roman"/>
                          <a:cs typeface="Times New Roman"/>
                          <a:sym typeface="Times New Roman"/>
                        </a:rPr>
                        <a:t> dalam menyeimbangkan presisi &amp; recall.</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573850">
                <a:tc>
                  <a:txBody>
                    <a:bodyPr/>
                    <a:lstStyle/>
                    <a:p>
                      <a:pPr marL="0" lvl="0" indent="0" algn="l" rtl="0">
                        <a:lnSpc>
                          <a:spcPct val="115833"/>
                        </a:lnSpc>
                        <a:spcBef>
                          <a:spcPts val="0"/>
                        </a:spcBef>
                        <a:spcAft>
                          <a:spcPts val="800"/>
                        </a:spcAft>
                        <a:buNone/>
                      </a:pPr>
                      <a:r>
                        <a:rPr lang="en-US" sz="1200" b="1">
                          <a:latin typeface="Times New Roman"/>
                          <a:ea typeface="Times New Roman"/>
                          <a:cs typeface="Times New Roman"/>
                          <a:sym typeface="Times New Roman"/>
                        </a:rPr>
                        <a:t>Precision (Macro Avg)</a:t>
                      </a:r>
                      <a:endParaRPr sz="1200">
                        <a:latin typeface="Times New Roman"/>
                        <a:ea typeface="Times New Roman"/>
                        <a:cs typeface="Times New Roman"/>
                        <a:sym typeface="Times New Roman"/>
                      </a:endParaRPr>
                    </a:p>
                  </a:txBody>
                  <a:tcPr marL="68575" marR="68575" marT="0" marB="0"/>
                </a:tc>
                <a:tc>
                  <a:txBody>
                    <a:bodyPr/>
                    <a:lstStyle/>
                    <a:p>
                      <a:pPr marL="0" lvl="0" indent="0" algn="ctr" rtl="0">
                        <a:lnSpc>
                          <a:spcPct val="115833"/>
                        </a:lnSpc>
                        <a:spcBef>
                          <a:spcPts val="0"/>
                        </a:spcBef>
                        <a:spcAft>
                          <a:spcPts val="800"/>
                        </a:spcAft>
                        <a:buNone/>
                      </a:pPr>
                      <a:r>
                        <a:rPr lang="en-US" sz="1200">
                          <a:latin typeface="Times New Roman"/>
                          <a:ea typeface="Times New Roman"/>
                          <a:cs typeface="Times New Roman"/>
                          <a:sym typeface="Times New Roman"/>
                        </a:rPr>
                        <a:t>0.12</a:t>
                      </a:r>
                      <a:endParaRPr sz="1200">
                        <a:latin typeface="Times New Roman"/>
                        <a:ea typeface="Times New Roman"/>
                        <a:cs typeface="Times New Roman"/>
                        <a:sym typeface="Times New Roman"/>
                      </a:endParaRPr>
                    </a:p>
                  </a:txBody>
                  <a:tcPr marL="68575" marR="68575" marT="0" marB="0"/>
                </a:tc>
                <a:tc>
                  <a:txBody>
                    <a:bodyPr/>
                    <a:lstStyle/>
                    <a:p>
                      <a:pPr marL="0" lvl="0" indent="0" algn="ctr" rtl="0">
                        <a:lnSpc>
                          <a:spcPct val="115833"/>
                        </a:lnSpc>
                        <a:spcBef>
                          <a:spcPts val="0"/>
                        </a:spcBef>
                        <a:spcAft>
                          <a:spcPts val="800"/>
                        </a:spcAft>
                        <a:buNone/>
                      </a:pPr>
                      <a:r>
                        <a:rPr lang="en-US" sz="1200" b="1">
                          <a:latin typeface="Times New Roman"/>
                          <a:ea typeface="Times New Roman"/>
                          <a:cs typeface="Times New Roman"/>
                          <a:sym typeface="Times New Roman"/>
                        </a:rPr>
                        <a:t>0.78</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Dari semua yang diprediksi positif, MobileNetV2 jauh lebih akurat.</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613325">
                <a:tc>
                  <a:txBody>
                    <a:bodyPr/>
                    <a:lstStyle/>
                    <a:p>
                      <a:pPr marL="0" lvl="0" indent="0" algn="l" rtl="0">
                        <a:lnSpc>
                          <a:spcPct val="115833"/>
                        </a:lnSpc>
                        <a:spcBef>
                          <a:spcPts val="0"/>
                        </a:spcBef>
                        <a:spcAft>
                          <a:spcPts val="800"/>
                        </a:spcAft>
                        <a:buNone/>
                      </a:pPr>
                      <a:r>
                        <a:rPr lang="en-US" sz="1200" b="1">
                          <a:latin typeface="Times New Roman"/>
                          <a:ea typeface="Times New Roman"/>
                          <a:cs typeface="Times New Roman"/>
                          <a:sym typeface="Times New Roman"/>
                        </a:rPr>
                        <a:t>Recall (Macro Avg)</a:t>
                      </a:r>
                      <a:endParaRPr sz="1200">
                        <a:latin typeface="Times New Roman"/>
                        <a:ea typeface="Times New Roman"/>
                        <a:cs typeface="Times New Roman"/>
                        <a:sym typeface="Times New Roman"/>
                      </a:endParaRPr>
                    </a:p>
                  </a:txBody>
                  <a:tcPr marL="68575" marR="68575" marT="0" marB="0"/>
                </a:tc>
                <a:tc>
                  <a:txBody>
                    <a:bodyPr/>
                    <a:lstStyle/>
                    <a:p>
                      <a:pPr marL="0" lvl="0" indent="0" algn="ctr" rtl="0">
                        <a:lnSpc>
                          <a:spcPct val="115833"/>
                        </a:lnSpc>
                        <a:spcBef>
                          <a:spcPts val="0"/>
                        </a:spcBef>
                        <a:spcAft>
                          <a:spcPts val="800"/>
                        </a:spcAft>
                        <a:buNone/>
                      </a:pPr>
                      <a:r>
                        <a:rPr lang="en-US" sz="1200">
                          <a:latin typeface="Times New Roman"/>
                          <a:ea typeface="Times New Roman"/>
                          <a:cs typeface="Times New Roman"/>
                          <a:sym typeface="Times New Roman"/>
                        </a:rPr>
                        <a:t>0.19</a:t>
                      </a:r>
                      <a:endParaRPr sz="1200">
                        <a:latin typeface="Times New Roman"/>
                        <a:ea typeface="Times New Roman"/>
                        <a:cs typeface="Times New Roman"/>
                        <a:sym typeface="Times New Roman"/>
                      </a:endParaRPr>
                    </a:p>
                  </a:txBody>
                  <a:tcPr marL="68575" marR="68575" marT="0" marB="0"/>
                </a:tc>
                <a:tc>
                  <a:txBody>
                    <a:bodyPr/>
                    <a:lstStyle/>
                    <a:p>
                      <a:pPr marL="0" lvl="0" indent="0" algn="ctr" rtl="0">
                        <a:lnSpc>
                          <a:spcPct val="115833"/>
                        </a:lnSpc>
                        <a:spcBef>
                          <a:spcPts val="0"/>
                        </a:spcBef>
                        <a:spcAft>
                          <a:spcPts val="800"/>
                        </a:spcAft>
                        <a:buNone/>
                      </a:pPr>
                      <a:r>
                        <a:rPr lang="en-US" sz="1200" b="1">
                          <a:latin typeface="Times New Roman"/>
                          <a:ea typeface="Times New Roman"/>
                          <a:cs typeface="Times New Roman"/>
                          <a:sym typeface="Times New Roman"/>
                        </a:rPr>
                        <a:t>0.80</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MobileNetV2 mampu menemukan sebagian besar sampel positif yang sebenarnya.</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417"/>
        <p:cNvGrpSpPr/>
        <p:nvPr/>
      </p:nvGrpSpPr>
      <p:grpSpPr>
        <a:xfrm>
          <a:off x="0" y="0"/>
          <a:ext cx="0" cy="0"/>
          <a:chOff x="0" y="0"/>
          <a:chExt cx="0" cy="0"/>
        </a:xfrm>
      </p:grpSpPr>
      <p:sp>
        <p:nvSpPr>
          <p:cNvPr id="418" name="Google Shape;418;g370ce3e83ae_0_45"/>
          <p:cNvSpPr txBox="1">
            <a:spLocks noGrp="1"/>
          </p:cNvSpPr>
          <p:nvPr>
            <p:ph type="body" idx="1"/>
          </p:nvPr>
        </p:nvSpPr>
        <p:spPr>
          <a:xfrm>
            <a:off x="459300" y="1163425"/>
            <a:ext cx="4112700" cy="427200"/>
          </a:xfrm>
          <a:prstGeom prst="rect">
            <a:avLst/>
          </a:prstGeom>
          <a:noFill/>
          <a:ln>
            <a:noFill/>
          </a:ln>
        </p:spPr>
        <p:txBody>
          <a:bodyPr spcFirstLastPara="1" wrap="square" lIns="91425" tIns="45700" rIns="91425" bIns="45700" anchor="t" anchorCtr="0">
            <a:normAutofit fontScale="92500" lnSpcReduction="20000"/>
          </a:bodyPr>
          <a:lstStyle/>
          <a:p>
            <a:pPr marL="457200" lvl="0" indent="-355600" algn="l" rtl="0">
              <a:spcBef>
                <a:spcPts val="1000"/>
              </a:spcBef>
              <a:spcAft>
                <a:spcPts val="0"/>
              </a:spcAft>
              <a:buSzPts val="2000"/>
              <a:buFont typeface="Arial"/>
              <a:buAutoNum type="arabicPeriod"/>
            </a:pPr>
            <a:r>
              <a:rPr lang="en-US">
                <a:solidFill>
                  <a:schemeClr val="dk1"/>
                </a:solidFill>
              </a:rPr>
              <a:t>Model CRNN (From Scratch)</a:t>
            </a:r>
            <a:endParaRPr sz="2000">
              <a:latin typeface="Arial"/>
              <a:ea typeface="Arial"/>
              <a:cs typeface="Arial"/>
              <a:sym typeface="Arial"/>
            </a:endParaRPr>
          </a:p>
        </p:txBody>
      </p:sp>
      <p:sp>
        <p:nvSpPr>
          <p:cNvPr id="419" name="Google Shape;419;g370ce3e83ae_0_45"/>
          <p:cNvSpPr txBox="1">
            <a:spLocks noGrp="1"/>
          </p:cNvSpPr>
          <p:nvPr>
            <p:ph type="title"/>
          </p:nvPr>
        </p:nvSpPr>
        <p:spPr>
          <a:xfrm>
            <a:off x="838200" y="193375"/>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Confusion Matrix</a:t>
            </a:r>
            <a:endParaRPr b="1">
              <a:latin typeface="Arial"/>
              <a:ea typeface="Arial"/>
              <a:cs typeface="Arial"/>
              <a:sym typeface="Arial"/>
            </a:endParaRPr>
          </a:p>
        </p:txBody>
      </p:sp>
      <p:pic>
        <p:nvPicPr>
          <p:cNvPr id="420" name="Google Shape;420;g370ce3e83ae_0_45"/>
          <p:cNvPicPr preferRelativeResize="0"/>
          <p:nvPr/>
        </p:nvPicPr>
        <p:blipFill>
          <a:blip r:embed="rId3">
            <a:alphaModFix/>
          </a:blip>
          <a:stretch>
            <a:fillRect/>
          </a:stretch>
        </p:blipFill>
        <p:spPr>
          <a:xfrm>
            <a:off x="4637750" y="1055625"/>
            <a:ext cx="6863200" cy="57303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424"/>
        <p:cNvGrpSpPr/>
        <p:nvPr/>
      </p:nvGrpSpPr>
      <p:grpSpPr>
        <a:xfrm>
          <a:off x="0" y="0"/>
          <a:ext cx="0" cy="0"/>
          <a:chOff x="0" y="0"/>
          <a:chExt cx="0" cy="0"/>
        </a:xfrm>
      </p:grpSpPr>
      <p:sp>
        <p:nvSpPr>
          <p:cNvPr id="425" name="Google Shape;425;g370f4e648af_0_121"/>
          <p:cNvSpPr txBox="1">
            <a:spLocks noGrp="1"/>
          </p:cNvSpPr>
          <p:nvPr>
            <p:ph type="body" idx="1"/>
          </p:nvPr>
        </p:nvSpPr>
        <p:spPr>
          <a:xfrm>
            <a:off x="838200" y="2428875"/>
            <a:ext cx="10515600" cy="3748200"/>
          </a:xfrm>
          <a:prstGeom prst="rect">
            <a:avLst/>
          </a:prstGeom>
          <a:noFill/>
          <a:ln>
            <a:noFill/>
          </a:ln>
        </p:spPr>
        <p:txBody>
          <a:bodyPr spcFirstLastPara="1" wrap="square" lIns="91425" tIns="45700" rIns="91425" bIns="45700" anchor="t" anchorCtr="0">
            <a:normAutofit/>
          </a:bodyPr>
          <a:lstStyle/>
          <a:p>
            <a:pPr marL="457200" lvl="0" indent="-355600" algn="l" rtl="0">
              <a:spcBef>
                <a:spcPts val="1000"/>
              </a:spcBef>
              <a:spcAft>
                <a:spcPts val="0"/>
              </a:spcAft>
              <a:buSzPts val="2000"/>
              <a:buFont typeface="Arial"/>
              <a:buAutoNum type="arabicPeriod"/>
            </a:pPr>
            <a:r>
              <a:rPr lang="en-US">
                <a:solidFill>
                  <a:schemeClr val="dk1"/>
                </a:solidFill>
              </a:rPr>
              <a:t>Model CRNN (From Scratch)</a:t>
            </a:r>
            <a:endParaRPr>
              <a:solidFill>
                <a:schemeClr val="dk1"/>
              </a:solidFill>
            </a:endParaRPr>
          </a:p>
          <a:p>
            <a:pPr marL="457200" lvl="0" indent="0" algn="l" rtl="0">
              <a:spcBef>
                <a:spcPts val="1000"/>
              </a:spcBef>
              <a:spcAft>
                <a:spcPts val="0"/>
              </a:spcAft>
              <a:buNone/>
            </a:pPr>
            <a:r>
              <a:rPr lang="en-US" sz="1600">
                <a:solidFill>
                  <a:schemeClr val="dk1"/>
                </a:solidFill>
              </a:rPr>
              <a:t>Nilai pada sel diagonal sangat rendah, kecuali untuk 'Makanan' dan 'Minuman', yang menunjukkan model gagal mengenali sebagian besar kategori. Hal ini disebabkan oleh mayoritas prediksi, bahkan yang salah, terpusat pada kolom 'Minuman'.</a:t>
            </a:r>
            <a:endParaRPr sz="1600">
              <a:solidFill>
                <a:schemeClr val="dk1"/>
              </a:solidFill>
            </a:endParaRPr>
          </a:p>
          <a:p>
            <a:pPr marL="457200" lvl="0" indent="0" algn="l" rtl="0">
              <a:spcBef>
                <a:spcPts val="1000"/>
              </a:spcBef>
              <a:spcAft>
                <a:spcPts val="0"/>
              </a:spcAft>
              <a:buNone/>
            </a:pPr>
            <a:r>
              <a:rPr lang="en-US" sz="1600">
                <a:solidFill>
                  <a:schemeClr val="dk1"/>
                </a:solidFill>
              </a:rPr>
              <a:t>Contoh konkretnya adalah 44 gambar 'Alat Mandi' salah diprediksi sebagai 'Minuman'. 29 gambar 'Kosmetik' juga salah diprediksi sebagai 'Minuman'.</a:t>
            </a:r>
            <a:endParaRPr sz="1600">
              <a:solidFill>
                <a:schemeClr val="dk1"/>
              </a:solidFill>
            </a:endParaRPr>
          </a:p>
          <a:p>
            <a:pPr marL="457200" lvl="0" indent="0" algn="l" rtl="0">
              <a:spcBef>
                <a:spcPts val="1000"/>
              </a:spcBef>
              <a:spcAft>
                <a:spcPts val="0"/>
              </a:spcAft>
              <a:buNone/>
            </a:pPr>
            <a:r>
              <a:rPr lang="en-US" sz="1600">
                <a:solidFill>
                  <a:schemeClr val="dk1"/>
                </a:solidFill>
              </a:rPr>
              <a:t>Kesimpulannya adalah bukti visual dari underfitting yang parah. Ketika model tidak tahu jawabannya, ia hanya menebak kelas mayoritas yang paling sering ia lihat saat latihan ('Minuman'). Model ini tidak benar-benar "belajar".</a:t>
            </a:r>
            <a:endParaRPr sz="1600">
              <a:solidFill>
                <a:schemeClr val="dk1"/>
              </a:solidFill>
            </a:endParaRPr>
          </a:p>
        </p:txBody>
      </p:sp>
      <p:sp>
        <p:nvSpPr>
          <p:cNvPr id="426" name="Google Shape;426;g370f4e648af_0_121"/>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Confusion Matrix</a:t>
            </a:r>
            <a:endParaRPr b="1">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Shape 430"/>
        <p:cNvGrpSpPr/>
        <p:nvPr/>
      </p:nvGrpSpPr>
      <p:grpSpPr>
        <a:xfrm>
          <a:off x="0" y="0"/>
          <a:ext cx="0" cy="0"/>
          <a:chOff x="0" y="0"/>
          <a:chExt cx="0" cy="0"/>
        </a:xfrm>
      </p:grpSpPr>
      <p:sp>
        <p:nvSpPr>
          <p:cNvPr id="431" name="Google Shape;431;g370f4e648af_0_128"/>
          <p:cNvSpPr txBox="1">
            <a:spLocks noGrp="1"/>
          </p:cNvSpPr>
          <p:nvPr>
            <p:ph type="body" idx="1"/>
          </p:nvPr>
        </p:nvSpPr>
        <p:spPr>
          <a:xfrm>
            <a:off x="446750" y="883375"/>
            <a:ext cx="10515600" cy="5367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1000"/>
              </a:spcBef>
              <a:spcAft>
                <a:spcPts val="0"/>
              </a:spcAft>
              <a:buSzPts val="2000"/>
              <a:buFont typeface="Arial"/>
              <a:buAutoNum type="arabicPeriod" startAt="2"/>
            </a:pPr>
            <a:r>
              <a:rPr lang="en-US"/>
              <a:t>Model MobileNetV2 (Transfer Learning)</a:t>
            </a:r>
            <a:endParaRPr sz="2000">
              <a:latin typeface="Arial"/>
              <a:ea typeface="Arial"/>
              <a:cs typeface="Arial"/>
              <a:sym typeface="Arial"/>
            </a:endParaRPr>
          </a:p>
        </p:txBody>
      </p:sp>
      <p:sp>
        <p:nvSpPr>
          <p:cNvPr id="432" name="Google Shape;432;g370f4e648af_0_128"/>
          <p:cNvSpPr txBox="1">
            <a:spLocks noGrp="1"/>
          </p:cNvSpPr>
          <p:nvPr>
            <p:ph type="title"/>
          </p:nvPr>
        </p:nvSpPr>
        <p:spPr>
          <a:xfrm>
            <a:off x="446750" y="115075"/>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Confusion Matrix</a:t>
            </a:r>
            <a:endParaRPr sz="3600">
              <a:solidFill>
                <a:schemeClr val="dk1"/>
              </a:solidFill>
            </a:endParaRPr>
          </a:p>
        </p:txBody>
      </p:sp>
      <p:sp>
        <p:nvSpPr>
          <p:cNvPr id="433" name="Google Shape;433;g370f4e648af_0_128"/>
          <p:cNvSpPr txBox="1">
            <a:spLocks noGrp="1"/>
          </p:cNvSpPr>
          <p:nvPr>
            <p:ph type="body" idx="1"/>
          </p:nvPr>
        </p:nvSpPr>
        <p:spPr>
          <a:xfrm>
            <a:off x="446750" y="1420075"/>
            <a:ext cx="4984800" cy="453900"/>
          </a:xfrm>
          <a:prstGeom prst="rect">
            <a:avLst/>
          </a:prstGeom>
          <a:noFill/>
          <a:ln>
            <a:noFill/>
          </a:ln>
        </p:spPr>
        <p:txBody>
          <a:bodyPr spcFirstLastPara="1" wrap="square" lIns="91425" tIns="45700" rIns="91425" bIns="45700" anchor="t" anchorCtr="0">
            <a:normAutofit fontScale="92500" lnSpcReduction="10000"/>
          </a:bodyPr>
          <a:lstStyle/>
          <a:p>
            <a:pPr marL="457200" lvl="0" indent="-228600" algn="l" rtl="0">
              <a:lnSpc>
                <a:spcPct val="90000"/>
              </a:lnSpc>
              <a:spcBef>
                <a:spcPts val="1000"/>
              </a:spcBef>
              <a:spcAft>
                <a:spcPts val="0"/>
              </a:spcAft>
              <a:buClr>
                <a:srgbClr val="F26E21"/>
              </a:buClr>
              <a:buSzPts val="2000"/>
              <a:buFont typeface="Noto Sans Symbols"/>
              <a:buNone/>
            </a:pPr>
            <a:r>
              <a:rPr lang="en-US"/>
              <a:t>Tahap 1 (Transfer Learning)</a:t>
            </a:r>
            <a:endParaRPr sz="1600"/>
          </a:p>
        </p:txBody>
      </p:sp>
      <p:sp>
        <p:nvSpPr>
          <p:cNvPr id="434" name="Google Shape;434;g370f4e648af_0_128"/>
          <p:cNvSpPr txBox="1">
            <a:spLocks noGrp="1"/>
          </p:cNvSpPr>
          <p:nvPr>
            <p:ph type="body" idx="1"/>
          </p:nvPr>
        </p:nvSpPr>
        <p:spPr>
          <a:xfrm>
            <a:off x="6256200" y="1420075"/>
            <a:ext cx="5574000" cy="453900"/>
          </a:xfrm>
          <a:prstGeom prst="rect">
            <a:avLst/>
          </a:prstGeom>
          <a:noFill/>
          <a:ln>
            <a:noFill/>
          </a:ln>
        </p:spPr>
        <p:txBody>
          <a:bodyPr spcFirstLastPara="1" wrap="square" lIns="91425" tIns="45700" rIns="91425" bIns="45700" anchor="t" anchorCtr="0">
            <a:normAutofit fontScale="92500" lnSpcReduction="10000"/>
          </a:bodyPr>
          <a:lstStyle/>
          <a:p>
            <a:pPr marL="457200" lvl="0" indent="-228600" algn="l" rtl="0">
              <a:lnSpc>
                <a:spcPct val="90000"/>
              </a:lnSpc>
              <a:spcBef>
                <a:spcPts val="1000"/>
              </a:spcBef>
              <a:spcAft>
                <a:spcPts val="0"/>
              </a:spcAft>
              <a:buClr>
                <a:srgbClr val="F26E21"/>
              </a:buClr>
              <a:buSzPts val="2000"/>
              <a:buFont typeface="Noto Sans Symbols"/>
              <a:buNone/>
            </a:pPr>
            <a:r>
              <a:rPr lang="en-US"/>
              <a:t>Tahap 2 (Fine-Tuning)</a:t>
            </a:r>
            <a:endParaRPr sz="1500"/>
          </a:p>
        </p:txBody>
      </p:sp>
      <p:pic>
        <p:nvPicPr>
          <p:cNvPr id="435" name="Google Shape;435;g370f4e648af_0_128"/>
          <p:cNvPicPr preferRelativeResize="0"/>
          <p:nvPr/>
        </p:nvPicPr>
        <p:blipFill>
          <a:blip r:embed="rId3">
            <a:alphaModFix/>
          </a:blip>
          <a:stretch>
            <a:fillRect/>
          </a:stretch>
        </p:blipFill>
        <p:spPr>
          <a:xfrm>
            <a:off x="206825" y="1873975"/>
            <a:ext cx="5735501" cy="4880675"/>
          </a:xfrm>
          <a:prstGeom prst="rect">
            <a:avLst/>
          </a:prstGeom>
          <a:noFill/>
          <a:ln>
            <a:noFill/>
          </a:ln>
        </p:spPr>
      </p:pic>
      <p:pic>
        <p:nvPicPr>
          <p:cNvPr id="436" name="Google Shape;436;g370f4e648af_0_128"/>
          <p:cNvPicPr preferRelativeResize="0"/>
          <p:nvPr/>
        </p:nvPicPr>
        <p:blipFill>
          <a:blip r:embed="rId4">
            <a:alphaModFix/>
          </a:blip>
          <a:stretch>
            <a:fillRect/>
          </a:stretch>
        </p:blipFill>
        <p:spPr>
          <a:xfrm>
            <a:off x="6256200" y="1873975"/>
            <a:ext cx="5812101" cy="48806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440"/>
        <p:cNvGrpSpPr/>
        <p:nvPr/>
      </p:nvGrpSpPr>
      <p:grpSpPr>
        <a:xfrm>
          <a:off x="0" y="0"/>
          <a:ext cx="0" cy="0"/>
          <a:chOff x="0" y="0"/>
          <a:chExt cx="0" cy="0"/>
        </a:xfrm>
      </p:grpSpPr>
      <p:sp>
        <p:nvSpPr>
          <p:cNvPr id="441" name="Google Shape;441;g370ce3e83ae_0_50"/>
          <p:cNvSpPr txBox="1">
            <a:spLocks noGrp="1"/>
          </p:cNvSpPr>
          <p:nvPr>
            <p:ph type="body" idx="1"/>
          </p:nvPr>
        </p:nvSpPr>
        <p:spPr>
          <a:xfrm>
            <a:off x="838200" y="1285875"/>
            <a:ext cx="10515600" cy="474000"/>
          </a:xfrm>
          <a:prstGeom prst="rect">
            <a:avLst/>
          </a:prstGeom>
          <a:noFill/>
          <a:ln>
            <a:noFill/>
          </a:ln>
        </p:spPr>
        <p:txBody>
          <a:bodyPr spcFirstLastPara="1" wrap="square" lIns="91425" tIns="45700" rIns="91425" bIns="45700" anchor="t" anchorCtr="0">
            <a:normAutofit lnSpcReduction="10000"/>
          </a:bodyPr>
          <a:lstStyle/>
          <a:p>
            <a:pPr marL="457200" lvl="0" indent="-355600" algn="l" rtl="0">
              <a:spcBef>
                <a:spcPts val="1000"/>
              </a:spcBef>
              <a:spcAft>
                <a:spcPts val="0"/>
              </a:spcAft>
              <a:buSzPts val="2000"/>
              <a:buFont typeface="Arial"/>
              <a:buAutoNum type="arabicPeriod" startAt="2"/>
            </a:pPr>
            <a:r>
              <a:rPr lang="en-US">
                <a:solidFill>
                  <a:schemeClr val="dk1"/>
                </a:solidFill>
              </a:rPr>
              <a:t>Model MobileNetV2 (Transfer Learning)</a:t>
            </a:r>
            <a:endParaRPr sz="2000">
              <a:latin typeface="Arial"/>
              <a:ea typeface="Arial"/>
              <a:cs typeface="Arial"/>
              <a:sym typeface="Arial"/>
            </a:endParaRPr>
          </a:p>
        </p:txBody>
      </p:sp>
      <p:sp>
        <p:nvSpPr>
          <p:cNvPr id="442" name="Google Shape;442;g370ce3e83ae_0_50"/>
          <p:cNvSpPr txBox="1">
            <a:spLocks noGrp="1"/>
          </p:cNvSpPr>
          <p:nvPr>
            <p:ph type="title"/>
          </p:nvPr>
        </p:nvSpPr>
        <p:spPr>
          <a:xfrm>
            <a:off x="838200" y="36560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&amp; Pembahasan - Confusion Matrix</a:t>
            </a:r>
            <a:endParaRPr b="1">
              <a:latin typeface="Arial"/>
              <a:ea typeface="Arial"/>
              <a:cs typeface="Arial"/>
              <a:sym typeface="Arial"/>
            </a:endParaRPr>
          </a:p>
        </p:txBody>
      </p:sp>
      <p:sp>
        <p:nvSpPr>
          <p:cNvPr id="443" name="Google Shape;443;g370ce3e83ae_0_50"/>
          <p:cNvSpPr txBox="1">
            <a:spLocks noGrp="1"/>
          </p:cNvSpPr>
          <p:nvPr>
            <p:ph type="body" idx="1"/>
          </p:nvPr>
        </p:nvSpPr>
        <p:spPr>
          <a:xfrm>
            <a:off x="838200" y="2323575"/>
            <a:ext cx="4984800" cy="3930000"/>
          </a:xfrm>
          <a:prstGeom prst="rect">
            <a:avLst/>
          </a:prstGeom>
          <a:noFill/>
          <a:ln>
            <a:noFill/>
          </a:ln>
        </p:spPr>
        <p:txBody>
          <a:bodyPr spcFirstLastPara="1" wrap="square" lIns="91425" tIns="45700" rIns="91425" bIns="45700" anchor="t" anchorCtr="0">
            <a:normAutofit/>
          </a:bodyPr>
          <a:lstStyle/>
          <a:p>
            <a:pPr marL="457200" lvl="0" indent="-228600" algn="l" rtl="0">
              <a:spcBef>
                <a:spcPts val="1000"/>
              </a:spcBef>
              <a:spcAft>
                <a:spcPts val="0"/>
              </a:spcAft>
              <a:buClr>
                <a:srgbClr val="F26E21"/>
              </a:buClr>
              <a:buSzPts val="2000"/>
              <a:buFont typeface="Noto Sans Symbols"/>
              <a:buNone/>
            </a:pPr>
            <a:r>
              <a:rPr lang="en-US">
                <a:solidFill>
                  <a:schemeClr val="dk1"/>
                </a:solidFill>
              </a:rPr>
              <a:t>Tahap 1 (Transfer Learning)</a:t>
            </a:r>
            <a:endParaRPr>
              <a:solidFill>
                <a:schemeClr val="dk1"/>
              </a:solidFill>
            </a:endParaRPr>
          </a:p>
          <a:p>
            <a:pPr marL="457200" lvl="0" indent="-228600" algn="l" rtl="0">
              <a:spcBef>
                <a:spcPts val="1000"/>
              </a:spcBef>
              <a:spcAft>
                <a:spcPts val="0"/>
              </a:spcAft>
              <a:buClr>
                <a:srgbClr val="F26E21"/>
              </a:buClr>
              <a:buSzPts val="2000"/>
              <a:buFont typeface="Noto Sans Symbols"/>
              <a:buNone/>
            </a:pPr>
            <a:r>
              <a:rPr lang="en-US" sz="1600">
                <a:solidFill>
                  <a:schemeClr val="dk1"/>
                </a:solidFill>
              </a:rPr>
              <a:t>Temuan dasarnya yang baik, namun belum sempurna.</a:t>
            </a:r>
            <a:endParaRPr sz="1600">
              <a:solidFill>
                <a:schemeClr val="dk1"/>
              </a:solidFill>
            </a:endParaRPr>
          </a:p>
          <a:p>
            <a:pPr marL="457200" lvl="0" indent="-228600" algn="l" rtl="0">
              <a:spcBef>
                <a:spcPts val="1000"/>
              </a:spcBef>
              <a:spcAft>
                <a:spcPts val="0"/>
              </a:spcAft>
              <a:buClr>
                <a:srgbClr val="F26E21"/>
              </a:buClr>
              <a:buSzPts val="2000"/>
              <a:buFont typeface="Noto Sans Symbols"/>
              <a:buNone/>
            </a:pPr>
            <a:r>
              <a:rPr lang="en-US" sz="1600">
                <a:solidFill>
                  <a:schemeClr val="dk1"/>
                </a:solidFill>
              </a:rPr>
              <a:t>Sudah terlihat pola diagonal yang jelas, menunjukkan bahwa pengetahuan dari ImageNet sudah cukup kuat untuk membedakan kategori secara umum.</a:t>
            </a:r>
            <a:endParaRPr sz="1600">
              <a:solidFill>
                <a:schemeClr val="dk1"/>
              </a:solidFill>
            </a:endParaRPr>
          </a:p>
          <a:p>
            <a:pPr marL="457200" lvl="0" indent="-228600" algn="l" rtl="0">
              <a:spcBef>
                <a:spcPts val="1000"/>
              </a:spcBef>
              <a:spcAft>
                <a:spcPts val="0"/>
              </a:spcAft>
              <a:buClr>
                <a:srgbClr val="F26E21"/>
              </a:buClr>
              <a:buSzPts val="2000"/>
              <a:buFont typeface="Noto Sans Symbols"/>
              <a:buNone/>
            </a:pPr>
            <a:r>
              <a:rPr lang="en-US" sz="1600">
                <a:solidFill>
                  <a:schemeClr val="dk1"/>
                </a:solidFill>
              </a:rPr>
              <a:t>Namun, Masih terdapat cukup banyak kekeliruan di luar diagonal. Contohnya, model masih agak bingung membedakan antara kategori "Alat Mandi" dan "Kosmetik".</a:t>
            </a:r>
            <a:endParaRPr sz="1600">
              <a:solidFill>
                <a:schemeClr val="dk1"/>
              </a:solidFill>
            </a:endParaRPr>
          </a:p>
        </p:txBody>
      </p:sp>
      <p:sp>
        <p:nvSpPr>
          <p:cNvPr id="444" name="Google Shape;444;g370ce3e83ae_0_50"/>
          <p:cNvSpPr txBox="1">
            <a:spLocks noGrp="1"/>
          </p:cNvSpPr>
          <p:nvPr>
            <p:ph type="body" idx="1"/>
          </p:nvPr>
        </p:nvSpPr>
        <p:spPr>
          <a:xfrm>
            <a:off x="6369050" y="2323575"/>
            <a:ext cx="4984800" cy="3930000"/>
          </a:xfrm>
          <a:prstGeom prst="rect">
            <a:avLst/>
          </a:prstGeom>
          <a:noFill/>
          <a:ln>
            <a:noFill/>
          </a:ln>
        </p:spPr>
        <p:txBody>
          <a:bodyPr spcFirstLastPara="1" wrap="square" lIns="91425" tIns="45700" rIns="91425" bIns="45700" anchor="t" anchorCtr="0">
            <a:normAutofit lnSpcReduction="10000"/>
          </a:bodyPr>
          <a:lstStyle/>
          <a:p>
            <a:pPr marL="457200" lvl="0" indent="-228600" algn="l" rtl="0">
              <a:spcBef>
                <a:spcPts val="1000"/>
              </a:spcBef>
              <a:spcAft>
                <a:spcPts val="0"/>
              </a:spcAft>
              <a:buClr>
                <a:srgbClr val="F26E21"/>
              </a:buClr>
              <a:buSzPts val="2000"/>
              <a:buFont typeface="Noto Sans Symbols"/>
              <a:buNone/>
            </a:pPr>
            <a:r>
              <a:rPr lang="en-US">
                <a:solidFill>
                  <a:schemeClr val="dk1"/>
                </a:solidFill>
              </a:rPr>
              <a:t>Tahap 2 (Fine-Tuning)</a:t>
            </a:r>
            <a:endParaRPr>
              <a:solidFill>
                <a:schemeClr val="dk1"/>
              </a:solidFill>
            </a:endParaRPr>
          </a:p>
          <a:p>
            <a:pPr marL="457200" lvl="0" indent="-228600" algn="l" rtl="0">
              <a:spcBef>
                <a:spcPts val="1000"/>
              </a:spcBef>
              <a:spcAft>
                <a:spcPts val="0"/>
              </a:spcAft>
              <a:buClr>
                <a:srgbClr val="F26E21"/>
              </a:buClr>
              <a:buSzPts val="2000"/>
              <a:buFont typeface="Noto Sans Symbols"/>
              <a:buNone/>
            </a:pPr>
            <a:r>
              <a:rPr lang="en-US" sz="1600">
                <a:solidFill>
                  <a:schemeClr val="dk1"/>
                </a:solidFill>
              </a:rPr>
              <a:t>Temuan yaitu peningkatan performa yang dramatis.</a:t>
            </a:r>
            <a:endParaRPr sz="1600">
              <a:solidFill>
                <a:schemeClr val="dk1"/>
              </a:solidFill>
            </a:endParaRPr>
          </a:p>
          <a:p>
            <a:pPr marL="457200" lvl="0" indent="-228600" algn="l" rtl="0">
              <a:spcBef>
                <a:spcPts val="1000"/>
              </a:spcBef>
              <a:spcAft>
                <a:spcPts val="0"/>
              </a:spcAft>
              <a:buClr>
                <a:srgbClr val="F26E21"/>
              </a:buClr>
              <a:buSzPts val="2000"/>
              <a:buFont typeface="Noto Sans Symbols"/>
              <a:buNone/>
            </a:pPr>
            <a:r>
              <a:rPr lang="en-US" sz="1600">
                <a:solidFill>
                  <a:schemeClr val="dk1"/>
                </a:solidFill>
              </a:rPr>
              <a:t>Angka pada sel-sel diagonal meningkat pesat. Ini menunjukkan jumlah prediksi yang benar naik signifikan untuk semua kategori.</a:t>
            </a:r>
            <a:endParaRPr sz="1600">
              <a:solidFill>
                <a:schemeClr val="dk1"/>
              </a:solidFill>
            </a:endParaRPr>
          </a:p>
          <a:p>
            <a:pPr marL="457200" lvl="0" indent="-228600" algn="l" rtl="0">
              <a:spcBef>
                <a:spcPts val="1000"/>
              </a:spcBef>
              <a:spcAft>
                <a:spcPts val="0"/>
              </a:spcAft>
              <a:buClr>
                <a:srgbClr val="F26E21"/>
              </a:buClr>
              <a:buSzPts val="2000"/>
              <a:buFont typeface="Noto Sans Symbols"/>
              <a:buNone/>
            </a:pPr>
            <a:r>
              <a:rPr lang="en-US" sz="1600">
                <a:solidFill>
                  <a:schemeClr val="dk1"/>
                </a:solidFill>
              </a:rPr>
              <a:t>Namun, Angka-angka di luar diagonal berkurang drastis. Model menjadi jauh lebih "yakin" dan spesifik dalam membedakan antar kategori</a:t>
            </a:r>
            <a:endParaRPr sz="1600">
              <a:solidFill>
                <a:schemeClr val="dk1"/>
              </a:solidFill>
            </a:endParaRPr>
          </a:p>
          <a:p>
            <a:pPr marL="457200" lvl="0" indent="-228600" algn="l" rtl="0">
              <a:spcBef>
                <a:spcPts val="1000"/>
              </a:spcBef>
              <a:spcAft>
                <a:spcPts val="0"/>
              </a:spcAft>
              <a:buClr>
                <a:srgbClr val="F26E21"/>
              </a:buClr>
              <a:buSzPts val="2000"/>
              <a:buFont typeface="Noto Sans Symbols"/>
              <a:buNone/>
            </a:pPr>
            <a:r>
              <a:rPr lang="en-US" sz="1600">
                <a:solidFill>
                  <a:schemeClr val="dk1"/>
                </a:solidFill>
              </a:rPr>
              <a:t>Hal inilah yang membuktikan bahwa proses fine-tuning berhasil. Model tidak hanya menggunakan pengetahuan umum, tetapi telah berhasil "menyesuaikan" pengetahuannya secara spesifik untuk mengenali fitur-fitur unik dari dataset kemasan produk.</a:t>
            </a:r>
            <a:endParaRPr sz="1600">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Shape 448"/>
        <p:cNvGrpSpPr/>
        <p:nvPr/>
      </p:nvGrpSpPr>
      <p:grpSpPr>
        <a:xfrm>
          <a:off x="0" y="0"/>
          <a:ext cx="0" cy="0"/>
          <a:chOff x="0" y="0"/>
          <a:chExt cx="0" cy="0"/>
        </a:xfrm>
      </p:grpSpPr>
      <p:sp>
        <p:nvSpPr>
          <p:cNvPr id="449" name="Google Shape;449;g370ce3e83ae_0_55"/>
          <p:cNvSpPr txBox="1">
            <a:spLocks noGrp="1"/>
          </p:cNvSpPr>
          <p:nvPr>
            <p:ph type="body" idx="1"/>
          </p:nvPr>
        </p:nvSpPr>
        <p:spPr>
          <a:xfrm>
            <a:off x="838200" y="1278063"/>
            <a:ext cx="10515600" cy="458400"/>
          </a:xfrm>
          <a:prstGeom prst="rect">
            <a:avLst/>
          </a:prstGeom>
          <a:noFill/>
          <a:ln>
            <a:noFill/>
          </a:ln>
        </p:spPr>
        <p:txBody>
          <a:bodyPr spcFirstLastPara="1" wrap="square" lIns="91425" tIns="45700" rIns="91425" bIns="45700" anchor="t" anchorCtr="0">
            <a:normAutofit fontScale="92500" lnSpcReduction="10000"/>
          </a:bodyPr>
          <a:lstStyle/>
          <a:p>
            <a:pPr marL="457200" lvl="0" indent="-355600" algn="l" rtl="0">
              <a:spcBef>
                <a:spcPts val="1000"/>
              </a:spcBef>
              <a:spcAft>
                <a:spcPts val="0"/>
              </a:spcAft>
              <a:buSzPts val="2000"/>
              <a:buFont typeface="Arial"/>
              <a:buAutoNum type="arabicPeriod"/>
            </a:pPr>
            <a:r>
              <a:rPr lang="en-US">
                <a:solidFill>
                  <a:schemeClr val="dk1"/>
                </a:solidFill>
              </a:rPr>
              <a:t>Tabel Tingkat Keberhasilan Ekstraksi</a:t>
            </a:r>
            <a:endParaRPr sz="2000">
              <a:latin typeface="Arial"/>
              <a:ea typeface="Arial"/>
              <a:cs typeface="Arial"/>
              <a:sym typeface="Arial"/>
            </a:endParaRPr>
          </a:p>
        </p:txBody>
      </p:sp>
      <p:sp>
        <p:nvSpPr>
          <p:cNvPr id="450" name="Google Shape;450;g370ce3e83ae_0_55"/>
          <p:cNvSpPr txBox="1">
            <a:spLocks noGrp="1"/>
          </p:cNvSpPr>
          <p:nvPr>
            <p:ph type="title"/>
          </p:nvPr>
        </p:nvSpPr>
        <p:spPr>
          <a:xfrm>
            <a:off x="838200" y="396925"/>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Kinerja Ekstraksi Informasi</a:t>
            </a:r>
            <a:endParaRPr b="1">
              <a:latin typeface="Arial"/>
              <a:ea typeface="Arial"/>
              <a:cs typeface="Arial"/>
              <a:sym typeface="Arial"/>
            </a:endParaRPr>
          </a:p>
        </p:txBody>
      </p:sp>
      <p:graphicFrame>
        <p:nvGraphicFramePr>
          <p:cNvPr id="451" name="Google Shape;451;g370ce3e83ae_0_55"/>
          <p:cNvGraphicFramePr/>
          <p:nvPr/>
        </p:nvGraphicFramePr>
        <p:xfrm>
          <a:off x="3274575" y="1849300"/>
          <a:ext cx="3000000" cy="3000000"/>
        </p:xfrm>
        <a:graphic>
          <a:graphicData uri="http://schemas.openxmlformats.org/drawingml/2006/table">
            <a:tbl>
              <a:tblPr bandRow="1">
                <a:noFill/>
                <a:tableStyleId>{BAB51536-194C-4DF1-BF3E-D65146005E30}</a:tableStyleId>
              </a:tblPr>
              <a:tblGrid>
                <a:gridCol w="2014450">
                  <a:extLst>
                    <a:ext uri="{9D8B030D-6E8A-4147-A177-3AD203B41FA5}">
                      <a16:colId xmlns:a16="http://schemas.microsoft.com/office/drawing/2014/main" val="20000"/>
                    </a:ext>
                  </a:extLst>
                </a:gridCol>
                <a:gridCol w="1260500">
                  <a:extLst>
                    <a:ext uri="{9D8B030D-6E8A-4147-A177-3AD203B41FA5}">
                      <a16:colId xmlns:a16="http://schemas.microsoft.com/office/drawing/2014/main" val="20001"/>
                    </a:ext>
                  </a:extLst>
                </a:gridCol>
                <a:gridCol w="2367875">
                  <a:extLst>
                    <a:ext uri="{9D8B030D-6E8A-4147-A177-3AD203B41FA5}">
                      <a16:colId xmlns:a16="http://schemas.microsoft.com/office/drawing/2014/main" val="20002"/>
                    </a:ext>
                  </a:extLst>
                </a:gridCol>
              </a:tblGrid>
              <a:tr h="378075">
                <a:tc>
                  <a:txBody>
                    <a:bodyPr/>
                    <a:lstStyle/>
                    <a:p>
                      <a:pPr marL="0" lvl="0" indent="0" algn="l" rtl="0">
                        <a:lnSpc>
                          <a:spcPct val="115833"/>
                        </a:lnSpc>
                        <a:spcBef>
                          <a:spcPts val="0"/>
                        </a:spcBef>
                        <a:spcAft>
                          <a:spcPts val="800"/>
                        </a:spcAft>
                        <a:buNone/>
                      </a:pPr>
                      <a:r>
                        <a:rPr lang="en-US" sz="1200" b="1">
                          <a:latin typeface="Times New Roman"/>
                          <a:ea typeface="Times New Roman"/>
                          <a:cs typeface="Times New Roman"/>
                          <a:sym typeface="Times New Roman"/>
                        </a:rPr>
                        <a:t>Label Informasi</a:t>
                      </a:r>
                      <a:endParaRPr sz="1200" b="1">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b="1">
                          <a:latin typeface="Times New Roman"/>
                          <a:ea typeface="Times New Roman"/>
                          <a:cs typeface="Times New Roman"/>
                          <a:sym typeface="Times New Roman"/>
                        </a:rPr>
                        <a:t>Jenis</a:t>
                      </a:r>
                      <a:endParaRPr sz="1200" b="1">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b="1">
                          <a:latin typeface="Times New Roman"/>
                          <a:ea typeface="Times New Roman"/>
                          <a:cs typeface="Times New Roman"/>
                          <a:sym typeface="Times New Roman"/>
                        </a:rPr>
                        <a:t>Tingkat Keberhasilan (%)</a:t>
                      </a:r>
                      <a:endParaRPr sz="1200" b="1">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r h="378075">
                <a:tc>
                  <a:txBody>
                    <a:bodyPr/>
                    <a:lstStyle/>
                    <a:p>
                      <a:pPr marL="0" lvl="0" indent="0" algn="l" rtl="0">
                        <a:lnSpc>
                          <a:spcPct val="115833"/>
                        </a:lnSpc>
                        <a:spcBef>
                          <a:spcPts val="0"/>
                        </a:spcBef>
                        <a:spcAft>
                          <a:spcPts val="800"/>
                        </a:spcAft>
                        <a:buNone/>
                      </a:pPr>
                      <a:r>
                        <a:rPr lang="en-US" sz="1100">
                          <a:latin typeface="Consolas"/>
                          <a:ea typeface="Consolas"/>
                          <a:cs typeface="Consolas"/>
                          <a:sym typeface="Consolas"/>
                        </a:rPr>
                        <a:t>product_name</a:t>
                      </a:r>
                      <a:endParaRPr sz="1100">
                        <a:latin typeface="Consolas"/>
                        <a:ea typeface="Consolas"/>
                        <a:cs typeface="Consolas"/>
                        <a:sym typeface="Consolas"/>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Wajib</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100.00%</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378075">
                <a:tc>
                  <a:txBody>
                    <a:bodyPr/>
                    <a:lstStyle/>
                    <a:p>
                      <a:pPr marL="0" lvl="0" indent="0" algn="l" rtl="0">
                        <a:lnSpc>
                          <a:spcPct val="115833"/>
                        </a:lnSpc>
                        <a:spcBef>
                          <a:spcPts val="0"/>
                        </a:spcBef>
                        <a:spcAft>
                          <a:spcPts val="800"/>
                        </a:spcAft>
                        <a:buNone/>
                      </a:pPr>
                      <a:r>
                        <a:rPr lang="en-US" sz="1100">
                          <a:latin typeface="Consolas"/>
                          <a:ea typeface="Consolas"/>
                          <a:cs typeface="Consolas"/>
                          <a:sym typeface="Consolas"/>
                        </a:rPr>
                        <a:t>expired_date</a:t>
                      </a:r>
                      <a:endParaRPr sz="1100">
                        <a:latin typeface="Consolas"/>
                        <a:ea typeface="Consolas"/>
                        <a:cs typeface="Consolas"/>
                        <a:sym typeface="Consolas"/>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Wajib</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378075">
                <a:tc>
                  <a:txBody>
                    <a:bodyPr/>
                    <a:lstStyle/>
                    <a:p>
                      <a:pPr marL="0" lvl="0" indent="0" algn="l" rtl="0">
                        <a:lnSpc>
                          <a:spcPct val="115833"/>
                        </a:lnSpc>
                        <a:spcBef>
                          <a:spcPts val="0"/>
                        </a:spcBef>
                        <a:spcAft>
                          <a:spcPts val="800"/>
                        </a:spcAft>
                        <a:buNone/>
                      </a:pPr>
                      <a:r>
                        <a:rPr lang="en-US" sz="1100">
                          <a:latin typeface="Consolas"/>
                          <a:ea typeface="Consolas"/>
                          <a:cs typeface="Consolas"/>
                          <a:sym typeface="Consolas"/>
                        </a:rPr>
                        <a:t>net_content</a:t>
                      </a:r>
                      <a:endParaRPr sz="1100">
                        <a:latin typeface="Consolas"/>
                        <a:ea typeface="Consolas"/>
                        <a:cs typeface="Consolas"/>
                        <a:sym typeface="Consolas"/>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Wajib</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0.25%</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378075">
                <a:tc>
                  <a:txBody>
                    <a:bodyPr/>
                    <a:lstStyle/>
                    <a:p>
                      <a:pPr marL="0" lvl="0" indent="0" algn="l" rtl="0">
                        <a:lnSpc>
                          <a:spcPct val="115833"/>
                        </a:lnSpc>
                        <a:spcBef>
                          <a:spcPts val="0"/>
                        </a:spcBef>
                        <a:spcAft>
                          <a:spcPts val="800"/>
                        </a:spcAft>
                        <a:buNone/>
                      </a:pPr>
                      <a:r>
                        <a:rPr lang="en-US" sz="1100">
                          <a:latin typeface="Consolas"/>
                          <a:ea typeface="Consolas"/>
                          <a:cs typeface="Consolas"/>
                          <a:sym typeface="Consolas"/>
                        </a:rPr>
                        <a:t>regulatory_code</a:t>
                      </a:r>
                      <a:endParaRPr sz="1100">
                        <a:latin typeface="Consolas"/>
                        <a:ea typeface="Consolas"/>
                        <a:cs typeface="Consolas"/>
                        <a:sym typeface="Consolas"/>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Wajib</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0.57%</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r h="378075">
                <a:tc>
                  <a:txBody>
                    <a:bodyPr/>
                    <a:lstStyle/>
                    <a:p>
                      <a:pPr marL="0" lvl="0" indent="0" algn="l" rtl="0">
                        <a:lnSpc>
                          <a:spcPct val="115833"/>
                        </a:lnSpc>
                        <a:spcBef>
                          <a:spcPts val="0"/>
                        </a:spcBef>
                        <a:spcAft>
                          <a:spcPts val="800"/>
                        </a:spcAft>
                        <a:buNone/>
                      </a:pPr>
                      <a:r>
                        <a:rPr lang="en-US" sz="1100">
                          <a:latin typeface="Consolas"/>
                          <a:ea typeface="Consolas"/>
                          <a:cs typeface="Consolas"/>
                          <a:sym typeface="Consolas"/>
                        </a:rPr>
                        <a:t>batch_code</a:t>
                      </a:r>
                      <a:endParaRPr sz="1100">
                        <a:latin typeface="Consolas"/>
                        <a:ea typeface="Consolas"/>
                        <a:cs typeface="Consolas"/>
                        <a:sym typeface="Consolas"/>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Wajib</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0.70%</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5"/>
                  </a:ext>
                </a:extLst>
              </a:tr>
              <a:tr h="378075">
                <a:tc>
                  <a:txBody>
                    <a:bodyPr/>
                    <a:lstStyle/>
                    <a:p>
                      <a:pPr marL="0" lvl="0" indent="0" algn="l" rtl="0">
                        <a:lnSpc>
                          <a:spcPct val="115833"/>
                        </a:lnSpc>
                        <a:spcBef>
                          <a:spcPts val="0"/>
                        </a:spcBef>
                        <a:spcAft>
                          <a:spcPts val="800"/>
                        </a:spcAft>
                        <a:buNone/>
                      </a:pPr>
                      <a:r>
                        <a:rPr lang="en-US" sz="1100">
                          <a:latin typeface="Consolas"/>
                          <a:ea typeface="Consolas"/>
                          <a:cs typeface="Consolas"/>
                          <a:sym typeface="Consolas"/>
                        </a:rPr>
                        <a:t>compositions</a:t>
                      </a:r>
                      <a:endParaRPr sz="1100">
                        <a:latin typeface="Consolas"/>
                        <a:ea typeface="Consolas"/>
                        <a:cs typeface="Consolas"/>
                        <a:sym typeface="Consolas"/>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Opsional</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5.83%</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6"/>
                  </a:ext>
                </a:extLst>
              </a:tr>
              <a:tr h="378075">
                <a:tc>
                  <a:txBody>
                    <a:bodyPr/>
                    <a:lstStyle/>
                    <a:p>
                      <a:pPr marL="0" lvl="0" indent="0" algn="l" rtl="0">
                        <a:lnSpc>
                          <a:spcPct val="115833"/>
                        </a:lnSpc>
                        <a:spcBef>
                          <a:spcPts val="0"/>
                        </a:spcBef>
                        <a:spcAft>
                          <a:spcPts val="800"/>
                        </a:spcAft>
                        <a:buNone/>
                      </a:pPr>
                      <a:r>
                        <a:rPr lang="en-US" sz="1100">
                          <a:latin typeface="Consolas"/>
                          <a:ea typeface="Consolas"/>
                          <a:cs typeface="Consolas"/>
                          <a:sym typeface="Consolas"/>
                        </a:rPr>
                        <a:t>nutrition_fact</a:t>
                      </a:r>
                      <a:endParaRPr sz="1100">
                        <a:latin typeface="Consolas"/>
                        <a:ea typeface="Consolas"/>
                        <a:cs typeface="Consolas"/>
                        <a:sym typeface="Consolas"/>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Opsional</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0.70%</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7"/>
                  </a:ext>
                </a:extLst>
              </a:tr>
              <a:tr h="584275">
                <a:tc>
                  <a:txBody>
                    <a:bodyPr/>
                    <a:lstStyle/>
                    <a:p>
                      <a:pPr marL="0" lvl="0" indent="0" algn="l" rtl="0">
                        <a:lnSpc>
                          <a:spcPct val="115833"/>
                        </a:lnSpc>
                        <a:spcBef>
                          <a:spcPts val="0"/>
                        </a:spcBef>
                        <a:spcAft>
                          <a:spcPts val="800"/>
                        </a:spcAft>
                        <a:buNone/>
                      </a:pPr>
                      <a:r>
                        <a:rPr lang="en-US" sz="1100">
                          <a:latin typeface="Consolas"/>
                          <a:ea typeface="Consolas"/>
                          <a:cs typeface="Consolas"/>
                          <a:sym typeface="Consolas"/>
                        </a:rPr>
                        <a:t>product_instructions</a:t>
                      </a:r>
                      <a:endParaRPr sz="1100">
                        <a:latin typeface="Consolas"/>
                        <a:ea typeface="Consolas"/>
                        <a:cs typeface="Consolas"/>
                        <a:sym typeface="Consolas"/>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Opsional</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1.01%</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8"/>
                  </a:ext>
                </a:extLst>
              </a:tr>
              <a:tr h="378075">
                <a:tc>
                  <a:txBody>
                    <a:bodyPr/>
                    <a:lstStyle/>
                    <a:p>
                      <a:pPr marL="0" lvl="0" indent="0" algn="l" rtl="0">
                        <a:lnSpc>
                          <a:spcPct val="115833"/>
                        </a:lnSpc>
                        <a:spcBef>
                          <a:spcPts val="0"/>
                        </a:spcBef>
                        <a:spcAft>
                          <a:spcPts val="800"/>
                        </a:spcAft>
                        <a:buNone/>
                      </a:pPr>
                      <a:r>
                        <a:rPr lang="en-US" sz="1100">
                          <a:latin typeface="Consolas"/>
                          <a:ea typeface="Consolas"/>
                          <a:cs typeface="Consolas"/>
                          <a:sym typeface="Consolas"/>
                        </a:rPr>
                        <a:t>manufacturer_info</a:t>
                      </a:r>
                      <a:endParaRPr sz="1100">
                        <a:latin typeface="Consolas"/>
                        <a:ea typeface="Consolas"/>
                        <a:cs typeface="Consolas"/>
                        <a:sym typeface="Consolas"/>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Opsional</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2.09%</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9"/>
                  </a:ext>
                </a:extLst>
              </a:tr>
              <a:tr h="378075">
                <a:tc>
                  <a:txBody>
                    <a:bodyPr/>
                    <a:lstStyle/>
                    <a:p>
                      <a:pPr marL="0" lvl="0" indent="0" algn="l" rtl="0">
                        <a:lnSpc>
                          <a:spcPct val="115833"/>
                        </a:lnSpc>
                        <a:spcBef>
                          <a:spcPts val="0"/>
                        </a:spcBef>
                        <a:spcAft>
                          <a:spcPts val="800"/>
                        </a:spcAft>
                        <a:buNone/>
                      </a:pPr>
                      <a:r>
                        <a:rPr lang="en-US" sz="1100">
                          <a:latin typeface="Consolas"/>
                          <a:ea typeface="Consolas"/>
                          <a:cs typeface="Consolas"/>
                          <a:sym typeface="Consolas"/>
                        </a:rPr>
                        <a:t>warning_label</a:t>
                      </a:r>
                      <a:endParaRPr sz="1100">
                        <a:latin typeface="Consolas"/>
                        <a:ea typeface="Consolas"/>
                        <a:cs typeface="Consolas"/>
                        <a:sym typeface="Consolas"/>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Opsional</a:t>
                      </a:r>
                      <a:endParaRPr sz="1200">
                        <a:latin typeface="Times New Roman"/>
                        <a:ea typeface="Times New Roman"/>
                        <a:cs typeface="Times New Roman"/>
                        <a:sym typeface="Times New Roman"/>
                      </a:endParaRPr>
                    </a:p>
                  </a:txBody>
                  <a:tcPr marL="68575" marR="68575" marT="0" marB="0"/>
                </a:tc>
                <a:tc>
                  <a:txBody>
                    <a:bodyPr/>
                    <a:lstStyle/>
                    <a:p>
                      <a:pPr marL="0" lvl="0" indent="0" algn="l" rtl="0">
                        <a:lnSpc>
                          <a:spcPct val="115833"/>
                        </a:lnSpc>
                        <a:spcBef>
                          <a:spcPts val="0"/>
                        </a:spcBef>
                        <a:spcAft>
                          <a:spcPts val="800"/>
                        </a:spcAft>
                        <a:buNone/>
                      </a:pPr>
                      <a:r>
                        <a:rPr lang="en-US" sz="1200">
                          <a:latin typeface="Times New Roman"/>
                          <a:ea typeface="Times New Roman"/>
                          <a:cs typeface="Times New Roman"/>
                          <a:sym typeface="Times New Roman"/>
                        </a:rPr>
                        <a:t>1.71%</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10"/>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Shape 455"/>
        <p:cNvGrpSpPr/>
        <p:nvPr/>
      </p:nvGrpSpPr>
      <p:grpSpPr>
        <a:xfrm>
          <a:off x="0" y="0"/>
          <a:ext cx="0" cy="0"/>
          <a:chOff x="0" y="0"/>
          <a:chExt cx="0" cy="0"/>
        </a:xfrm>
      </p:grpSpPr>
      <p:sp>
        <p:nvSpPr>
          <p:cNvPr id="456" name="Google Shape;456;g370ce3e83ae_0_60"/>
          <p:cNvSpPr txBox="1">
            <a:spLocks noGrp="1"/>
          </p:cNvSpPr>
          <p:nvPr>
            <p:ph type="body" idx="1"/>
          </p:nvPr>
        </p:nvSpPr>
        <p:spPr>
          <a:xfrm>
            <a:off x="838200" y="992988"/>
            <a:ext cx="10515600" cy="458400"/>
          </a:xfrm>
          <a:prstGeom prst="rect">
            <a:avLst/>
          </a:prstGeom>
          <a:noFill/>
          <a:ln>
            <a:noFill/>
          </a:ln>
        </p:spPr>
        <p:txBody>
          <a:bodyPr spcFirstLastPara="1" wrap="square" lIns="91425" tIns="45700" rIns="91425" bIns="45700" anchor="t" anchorCtr="0">
            <a:normAutofit fontScale="92500" lnSpcReduction="10000"/>
          </a:bodyPr>
          <a:lstStyle/>
          <a:p>
            <a:pPr marL="457200" lvl="0" indent="-355600" algn="l" rtl="0">
              <a:spcBef>
                <a:spcPts val="1000"/>
              </a:spcBef>
              <a:spcAft>
                <a:spcPts val="0"/>
              </a:spcAft>
              <a:buSzPts val="2000"/>
              <a:buFont typeface="Arial"/>
              <a:buAutoNum type="arabicPeriod" startAt="2"/>
            </a:pPr>
            <a:r>
              <a:rPr lang="en-US">
                <a:solidFill>
                  <a:schemeClr val="dk1"/>
                </a:solidFill>
              </a:rPr>
              <a:t>Grafik Analisis per Kategori</a:t>
            </a:r>
            <a:endParaRPr sz="2000">
              <a:latin typeface="Arial"/>
              <a:ea typeface="Arial"/>
              <a:cs typeface="Arial"/>
              <a:sym typeface="Arial"/>
            </a:endParaRPr>
          </a:p>
        </p:txBody>
      </p:sp>
      <p:sp>
        <p:nvSpPr>
          <p:cNvPr id="457" name="Google Shape;457;g370ce3e83ae_0_60"/>
          <p:cNvSpPr txBox="1">
            <a:spLocks noGrp="1"/>
          </p:cNvSpPr>
          <p:nvPr>
            <p:ph type="title"/>
          </p:nvPr>
        </p:nvSpPr>
        <p:spPr>
          <a:xfrm>
            <a:off x="838200" y="22470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Kinerja Ekstraksi Informasi</a:t>
            </a:r>
            <a:endParaRPr b="1">
              <a:latin typeface="Arial"/>
              <a:ea typeface="Arial"/>
              <a:cs typeface="Arial"/>
              <a:sym typeface="Arial"/>
            </a:endParaRPr>
          </a:p>
        </p:txBody>
      </p:sp>
      <p:pic>
        <p:nvPicPr>
          <p:cNvPr id="458" name="Google Shape;458;g370ce3e83ae_0_60"/>
          <p:cNvPicPr preferRelativeResize="0"/>
          <p:nvPr/>
        </p:nvPicPr>
        <p:blipFill>
          <a:blip r:embed="rId3">
            <a:alphaModFix/>
          </a:blip>
          <a:stretch>
            <a:fillRect/>
          </a:stretch>
        </p:blipFill>
        <p:spPr>
          <a:xfrm>
            <a:off x="838188" y="1451400"/>
            <a:ext cx="8532876" cy="52876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Shape 462"/>
        <p:cNvGrpSpPr/>
        <p:nvPr/>
      </p:nvGrpSpPr>
      <p:grpSpPr>
        <a:xfrm>
          <a:off x="0" y="0"/>
          <a:ext cx="0" cy="0"/>
          <a:chOff x="0" y="0"/>
          <a:chExt cx="0" cy="0"/>
        </a:xfrm>
      </p:grpSpPr>
      <p:sp>
        <p:nvSpPr>
          <p:cNvPr id="463" name="Google Shape;463;g3711bd63d4f_0_18"/>
          <p:cNvSpPr txBox="1">
            <a:spLocks noGrp="1"/>
          </p:cNvSpPr>
          <p:nvPr>
            <p:ph type="body" idx="1"/>
          </p:nvPr>
        </p:nvSpPr>
        <p:spPr>
          <a:xfrm>
            <a:off x="838200" y="2428875"/>
            <a:ext cx="10515600" cy="3748200"/>
          </a:xfrm>
          <a:prstGeom prst="rect">
            <a:avLst/>
          </a:prstGeom>
          <a:noFill/>
          <a:ln>
            <a:noFill/>
          </a:ln>
        </p:spPr>
        <p:txBody>
          <a:bodyPr spcFirstLastPara="1" wrap="square" lIns="91425" tIns="45700" rIns="91425" bIns="45700" anchor="t" anchorCtr="0">
            <a:normAutofit/>
          </a:bodyPr>
          <a:lstStyle/>
          <a:p>
            <a:pPr marL="457200" lvl="0" indent="-355600" algn="l" rtl="0">
              <a:spcBef>
                <a:spcPts val="1000"/>
              </a:spcBef>
              <a:spcAft>
                <a:spcPts val="0"/>
              </a:spcAft>
              <a:buSzPts val="2000"/>
              <a:buFont typeface="Arial"/>
              <a:buAutoNum type="arabicPeriod" startAt="3"/>
            </a:pPr>
            <a:r>
              <a:rPr lang="en-US">
                <a:solidFill>
                  <a:schemeClr val="dk1"/>
                </a:solidFill>
              </a:rPr>
              <a:t>Analisis</a:t>
            </a:r>
            <a:endParaRPr>
              <a:solidFill>
                <a:schemeClr val="dk1"/>
              </a:solidFill>
            </a:endParaRPr>
          </a:p>
          <a:p>
            <a:pPr marL="457200" lvl="0" indent="0" algn="l" rtl="0">
              <a:spcBef>
                <a:spcPts val="1000"/>
              </a:spcBef>
              <a:spcAft>
                <a:spcPts val="0"/>
              </a:spcAft>
              <a:buNone/>
            </a:pPr>
            <a:r>
              <a:rPr lang="en-US" sz="1600" b="1">
                <a:solidFill>
                  <a:schemeClr val="dk1"/>
                </a:solidFill>
              </a:rPr>
              <a:t>Pendekatan:</a:t>
            </a:r>
            <a:r>
              <a:rPr lang="en-US" sz="1600">
                <a:solidFill>
                  <a:schemeClr val="dk1"/>
                </a:solidFill>
              </a:rPr>
              <a:t> Tesseract OCR + Ekspresi Reguler (Regex)</a:t>
            </a:r>
            <a:endParaRPr sz="1600">
              <a:solidFill>
                <a:schemeClr val="dk1"/>
              </a:solidFill>
            </a:endParaRPr>
          </a:p>
          <a:p>
            <a:pPr marL="457200" lvl="0" indent="0" algn="l" rtl="0">
              <a:spcBef>
                <a:spcPts val="1000"/>
              </a:spcBef>
              <a:spcAft>
                <a:spcPts val="0"/>
              </a:spcAft>
              <a:buNone/>
            </a:pPr>
            <a:r>
              <a:rPr lang="en-US" sz="1600" b="1">
                <a:solidFill>
                  <a:schemeClr val="dk1"/>
                </a:solidFill>
              </a:rPr>
              <a:t>Berhasil:</a:t>
            </a:r>
            <a:endParaRPr sz="1600" b="1">
              <a:solidFill>
                <a:schemeClr val="dk1"/>
              </a:solidFill>
            </a:endParaRPr>
          </a:p>
          <a:p>
            <a:pPr marL="914400" lvl="0" indent="-330200" algn="l" rtl="0">
              <a:spcBef>
                <a:spcPts val="1000"/>
              </a:spcBef>
              <a:spcAft>
                <a:spcPts val="0"/>
              </a:spcAft>
              <a:buClr>
                <a:schemeClr val="dk1"/>
              </a:buClr>
              <a:buSzPts val="1600"/>
              <a:buChar char="▪"/>
            </a:pPr>
            <a:r>
              <a:rPr lang="en-US" sz="1600">
                <a:solidFill>
                  <a:schemeClr val="dk1"/>
                </a:solidFill>
              </a:rPr>
              <a:t>product_name: 100% (dibantu oleh strategi fallback heuristik).</a:t>
            </a:r>
            <a:endParaRPr sz="1600">
              <a:solidFill>
                <a:schemeClr val="dk1"/>
              </a:solidFill>
            </a:endParaRPr>
          </a:p>
          <a:p>
            <a:pPr marL="457200" lvl="0" indent="0" algn="l" rtl="0">
              <a:spcBef>
                <a:spcPts val="1000"/>
              </a:spcBef>
              <a:spcAft>
                <a:spcPts val="0"/>
              </a:spcAft>
              <a:buNone/>
            </a:pPr>
            <a:r>
              <a:rPr lang="en-US" sz="1600" b="1">
                <a:solidFill>
                  <a:schemeClr val="dk1"/>
                </a:solidFill>
              </a:rPr>
              <a:t>Gagal Total:</a:t>
            </a:r>
            <a:endParaRPr sz="1600" b="1">
              <a:solidFill>
                <a:schemeClr val="dk1"/>
              </a:solidFill>
            </a:endParaRPr>
          </a:p>
          <a:p>
            <a:pPr marL="914400" lvl="0" indent="-330200" algn="l" rtl="0">
              <a:spcBef>
                <a:spcPts val="1000"/>
              </a:spcBef>
              <a:spcAft>
                <a:spcPts val="0"/>
              </a:spcAft>
              <a:buClr>
                <a:schemeClr val="dk1"/>
              </a:buClr>
              <a:buSzPts val="1600"/>
              <a:buChar char="▪"/>
            </a:pPr>
            <a:r>
              <a:rPr lang="en-US" sz="1600">
                <a:solidFill>
                  <a:schemeClr val="dk1"/>
                </a:solidFill>
              </a:rPr>
              <a:t>expired_date: 0%.</a:t>
            </a:r>
            <a:endParaRPr sz="1600">
              <a:solidFill>
                <a:schemeClr val="dk1"/>
              </a:solidFill>
            </a:endParaRPr>
          </a:p>
          <a:p>
            <a:pPr marL="914400" lvl="0" indent="-330200" algn="l" rtl="0">
              <a:spcBef>
                <a:spcPts val="0"/>
              </a:spcBef>
              <a:spcAft>
                <a:spcPts val="0"/>
              </a:spcAft>
              <a:buClr>
                <a:schemeClr val="dk1"/>
              </a:buClr>
              <a:buSzPts val="1600"/>
              <a:buChar char="▪"/>
            </a:pPr>
            <a:r>
              <a:rPr lang="en-US" sz="1600">
                <a:solidFill>
                  <a:schemeClr val="dk1"/>
                </a:solidFill>
              </a:rPr>
              <a:t>net_content, regulatory_code, batch_code: &lt; 1%.</a:t>
            </a:r>
            <a:endParaRPr sz="1600">
              <a:solidFill>
                <a:schemeClr val="dk1"/>
              </a:solidFill>
            </a:endParaRPr>
          </a:p>
          <a:p>
            <a:pPr marL="457200" lvl="0" indent="0" algn="l" rtl="0">
              <a:spcBef>
                <a:spcPts val="1000"/>
              </a:spcBef>
              <a:spcAft>
                <a:spcPts val="0"/>
              </a:spcAft>
              <a:buNone/>
            </a:pPr>
            <a:r>
              <a:rPr lang="en-US" sz="1600" b="1">
                <a:solidFill>
                  <a:schemeClr val="dk1"/>
                </a:solidFill>
              </a:rPr>
              <a:t>Lainnya yang termasuk Gagal:</a:t>
            </a:r>
            <a:endParaRPr sz="1600">
              <a:solidFill>
                <a:schemeClr val="dk1"/>
              </a:solidFill>
            </a:endParaRPr>
          </a:p>
          <a:p>
            <a:pPr marL="914400" lvl="0" indent="-330200" algn="l" rtl="0">
              <a:spcBef>
                <a:spcPts val="1000"/>
              </a:spcBef>
              <a:spcAft>
                <a:spcPts val="0"/>
              </a:spcAft>
              <a:buClr>
                <a:schemeClr val="dk1"/>
              </a:buClr>
              <a:buSzPts val="1600"/>
              <a:buChar char="▪"/>
            </a:pPr>
            <a:r>
              <a:rPr lang="en-US" sz="1600">
                <a:solidFill>
                  <a:schemeClr val="dk1"/>
                </a:solidFill>
              </a:rPr>
              <a:t>warning_label, manufacturer_info, compositions: &lt; 10%.</a:t>
            </a:r>
            <a:endParaRPr sz="1600">
              <a:solidFill>
                <a:schemeClr val="dk1"/>
              </a:solidFill>
            </a:endParaRPr>
          </a:p>
          <a:p>
            <a:pPr marL="457200" lvl="0" indent="0" algn="l" rtl="0">
              <a:spcBef>
                <a:spcPts val="1000"/>
              </a:spcBef>
              <a:spcAft>
                <a:spcPts val="0"/>
              </a:spcAft>
              <a:buNone/>
            </a:pPr>
            <a:endParaRPr sz="1600">
              <a:solidFill>
                <a:schemeClr val="dk1"/>
              </a:solidFill>
            </a:endParaRPr>
          </a:p>
          <a:p>
            <a:pPr marL="457200" lvl="0" indent="0" algn="l" rtl="0">
              <a:spcBef>
                <a:spcPts val="1000"/>
              </a:spcBef>
              <a:spcAft>
                <a:spcPts val="0"/>
              </a:spcAft>
              <a:buNone/>
            </a:pPr>
            <a:endParaRPr sz="1600">
              <a:solidFill>
                <a:schemeClr val="dk1"/>
              </a:solidFill>
            </a:endParaRPr>
          </a:p>
        </p:txBody>
      </p:sp>
      <p:sp>
        <p:nvSpPr>
          <p:cNvPr id="464" name="Google Shape;464;g3711bd63d4f_0_18"/>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Kinerja Ekstraksi Informasi</a:t>
            </a:r>
            <a:endParaRPr b="1">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Shape 468"/>
        <p:cNvGrpSpPr/>
        <p:nvPr/>
      </p:nvGrpSpPr>
      <p:grpSpPr>
        <a:xfrm>
          <a:off x="0" y="0"/>
          <a:ext cx="0" cy="0"/>
          <a:chOff x="0" y="0"/>
          <a:chExt cx="0" cy="0"/>
        </a:xfrm>
      </p:grpSpPr>
      <p:sp>
        <p:nvSpPr>
          <p:cNvPr id="469" name="Google Shape;469;g3711bd63d4f_0_29"/>
          <p:cNvSpPr txBox="1">
            <a:spLocks noGrp="1"/>
          </p:cNvSpPr>
          <p:nvPr>
            <p:ph type="body" idx="1"/>
          </p:nvPr>
        </p:nvSpPr>
        <p:spPr>
          <a:xfrm>
            <a:off x="838200" y="2428875"/>
            <a:ext cx="10515600" cy="3748200"/>
          </a:xfrm>
          <a:prstGeom prst="rect">
            <a:avLst/>
          </a:prstGeom>
          <a:noFill/>
          <a:ln>
            <a:noFill/>
          </a:ln>
        </p:spPr>
        <p:txBody>
          <a:bodyPr spcFirstLastPara="1" wrap="square" lIns="91425" tIns="45700" rIns="91425" bIns="45700" anchor="t" anchorCtr="0">
            <a:normAutofit/>
          </a:bodyPr>
          <a:lstStyle/>
          <a:p>
            <a:pPr marL="457200" lvl="0" indent="-355600" algn="l" rtl="0">
              <a:spcBef>
                <a:spcPts val="1000"/>
              </a:spcBef>
              <a:spcAft>
                <a:spcPts val="0"/>
              </a:spcAft>
              <a:buSzPts val="2000"/>
              <a:buFont typeface="Arial"/>
              <a:buAutoNum type="arabicPeriod" startAt="4"/>
            </a:pPr>
            <a:r>
              <a:rPr lang="en-US">
                <a:solidFill>
                  <a:schemeClr val="dk1"/>
                </a:solidFill>
              </a:rPr>
              <a:t>Penjelasan</a:t>
            </a:r>
            <a:endParaRPr>
              <a:solidFill>
                <a:schemeClr val="dk1"/>
              </a:solidFill>
            </a:endParaRPr>
          </a:p>
          <a:p>
            <a:pPr marL="0" lvl="0" indent="0" algn="l" rtl="0">
              <a:spcBef>
                <a:spcPts val="1000"/>
              </a:spcBef>
              <a:spcAft>
                <a:spcPts val="0"/>
              </a:spcAft>
              <a:buNone/>
            </a:pPr>
            <a:r>
              <a:rPr lang="en-US" sz="1600">
                <a:solidFill>
                  <a:schemeClr val="dk1"/>
                </a:solidFill>
              </a:rPr>
              <a:t>	</a:t>
            </a:r>
            <a:endParaRPr sz="1600">
              <a:solidFill>
                <a:schemeClr val="dk1"/>
              </a:solidFill>
            </a:endParaRPr>
          </a:p>
          <a:p>
            <a:pPr marL="457200" lvl="0" indent="0" algn="l" rtl="0">
              <a:spcBef>
                <a:spcPts val="1000"/>
              </a:spcBef>
              <a:spcAft>
                <a:spcPts val="0"/>
              </a:spcAft>
              <a:buNone/>
            </a:pPr>
            <a:r>
              <a:rPr lang="en-US" sz="1600">
                <a:solidFill>
                  <a:schemeClr val="dk1"/>
                </a:solidFill>
              </a:rPr>
              <a:t>Kegagalan tersebut disebabkan oleh :</a:t>
            </a:r>
            <a:endParaRPr sz="1600">
              <a:solidFill>
                <a:schemeClr val="dk1"/>
              </a:solidFill>
            </a:endParaRPr>
          </a:p>
          <a:p>
            <a:pPr marL="914400" lvl="0" indent="-330200" algn="l" rtl="0">
              <a:spcBef>
                <a:spcPts val="1000"/>
              </a:spcBef>
              <a:spcAft>
                <a:spcPts val="0"/>
              </a:spcAft>
              <a:buClr>
                <a:schemeClr val="dk1"/>
              </a:buClr>
              <a:buSzPts val="1600"/>
              <a:buChar char="▪"/>
            </a:pPr>
            <a:r>
              <a:rPr lang="en-US" sz="1600" b="1">
                <a:solidFill>
                  <a:schemeClr val="dk1"/>
                </a:solidFill>
              </a:rPr>
              <a:t>Kekakuan Regex:</a:t>
            </a:r>
            <a:r>
              <a:rPr lang="en-US" sz="1600">
                <a:solidFill>
                  <a:schemeClr val="dk1"/>
                </a:solidFill>
              </a:rPr>
              <a:t> Pola harus sangat spesifik dan tidak toleran terhadap variasi format, sehingga tidak dapat menangani variasi format tanggal atau teks.</a:t>
            </a:r>
            <a:endParaRPr sz="1600">
              <a:solidFill>
                <a:schemeClr val="dk1"/>
              </a:solidFill>
            </a:endParaRPr>
          </a:p>
          <a:p>
            <a:pPr marL="914400" lvl="0" indent="-330200" algn="l" rtl="0">
              <a:spcBef>
                <a:spcPts val="0"/>
              </a:spcBef>
              <a:spcAft>
                <a:spcPts val="0"/>
              </a:spcAft>
              <a:buClr>
                <a:schemeClr val="dk1"/>
              </a:buClr>
              <a:buSzPts val="1600"/>
              <a:buChar char="▪"/>
            </a:pPr>
            <a:r>
              <a:rPr lang="en-US" sz="1600" b="1">
                <a:solidFill>
                  <a:schemeClr val="dk1"/>
                </a:solidFill>
              </a:rPr>
              <a:t>Sensitivitas Kualitas OCR:</a:t>
            </a:r>
            <a:r>
              <a:rPr lang="en-US" sz="1600">
                <a:solidFill>
                  <a:schemeClr val="dk1"/>
                </a:solidFill>
              </a:rPr>
              <a:t> Kesalahan kecil dari Tesseract (misal, 'O' dibaca '0') membuat Regex gagal.</a:t>
            </a:r>
            <a:endParaRPr sz="1600">
              <a:solidFill>
                <a:schemeClr val="dk1"/>
              </a:solidFill>
            </a:endParaRPr>
          </a:p>
          <a:p>
            <a:pPr marL="914400" lvl="0" indent="-330200" algn="l" rtl="0">
              <a:spcBef>
                <a:spcPts val="0"/>
              </a:spcBef>
              <a:spcAft>
                <a:spcPts val="0"/>
              </a:spcAft>
              <a:buClr>
                <a:schemeClr val="dk1"/>
              </a:buClr>
              <a:buSzPts val="1600"/>
              <a:buChar char="▪"/>
            </a:pPr>
            <a:r>
              <a:rPr lang="en-US" sz="1600" b="1">
                <a:solidFill>
                  <a:schemeClr val="dk1"/>
                </a:solidFill>
              </a:rPr>
              <a:t>Kualitas Cetak:</a:t>
            </a:r>
            <a:r>
              <a:rPr lang="en-US" sz="1600">
                <a:solidFill>
                  <a:schemeClr val="dk1"/>
                </a:solidFill>
              </a:rPr>
              <a:t> Teks kadaluarsa sering dicetak dengan </a:t>
            </a:r>
            <a:r>
              <a:rPr lang="en-US" sz="1600" i="1">
                <a:solidFill>
                  <a:schemeClr val="dk1"/>
                </a:solidFill>
              </a:rPr>
              <a:t>dot-matrix</a:t>
            </a:r>
            <a:r>
              <a:rPr lang="en-US" sz="1600">
                <a:solidFill>
                  <a:schemeClr val="dk1"/>
                </a:solidFill>
              </a:rPr>
              <a:t> atau pada permukaan yang tidak rata, sulit dibaca oleh OCR.</a:t>
            </a:r>
            <a:endParaRPr sz="1600">
              <a:solidFill>
                <a:schemeClr val="dk1"/>
              </a:solidFill>
            </a:endParaRPr>
          </a:p>
        </p:txBody>
      </p:sp>
      <p:sp>
        <p:nvSpPr>
          <p:cNvPr id="470" name="Google Shape;470;g3711bd63d4f_0_29"/>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a:solidFill>
                  <a:schemeClr val="dk1"/>
                </a:solidFill>
              </a:rPr>
              <a:t>Hasil Kinerja Ekstraksi Informasi</a:t>
            </a:r>
            <a:endParaRPr b="1">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Shape 474"/>
        <p:cNvGrpSpPr/>
        <p:nvPr/>
      </p:nvGrpSpPr>
      <p:grpSpPr>
        <a:xfrm>
          <a:off x="0" y="0"/>
          <a:ext cx="0" cy="0"/>
          <a:chOff x="0" y="0"/>
          <a:chExt cx="0" cy="0"/>
        </a:xfrm>
      </p:grpSpPr>
      <p:sp>
        <p:nvSpPr>
          <p:cNvPr id="475" name="Google Shape;475;p6"/>
          <p:cNvSpPr txBox="1">
            <a:spLocks noGrp="1"/>
          </p:cNvSpPr>
          <p:nvPr>
            <p:ph type="title"/>
          </p:nvPr>
        </p:nvSpPr>
        <p:spPr>
          <a:xfrm>
            <a:off x="4261975" y="211200"/>
            <a:ext cx="5558400" cy="9669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4400"/>
              <a:buFont typeface="Arial"/>
              <a:buNone/>
            </a:pPr>
            <a:r>
              <a:rPr lang="en-US" sz="4800" dirty="0">
                <a:solidFill>
                  <a:schemeClr val="dk1"/>
                </a:solidFill>
              </a:rPr>
              <a:t>Kesimpulan</a:t>
            </a:r>
            <a:endParaRPr dirty="0">
              <a:solidFill>
                <a:schemeClr val="dk1"/>
              </a:solidFill>
            </a:endParaRPr>
          </a:p>
        </p:txBody>
      </p:sp>
      <p:pic>
        <p:nvPicPr>
          <p:cNvPr id="476" name="Google Shape;476;p6" descr="A close up of a ceiling&#10;&#10;Description automatically generated"/>
          <p:cNvPicPr preferRelativeResize="0">
            <a:picLocks noGrp="1"/>
          </p:cNvPicPr>
          <p:nvPr>
            <p:ph type="body" idx="1"/>
          </p:nvPr>
        </p:nvPicPr>
        <p:blipFill rotWithShape="1">
          <a:blip r:embed="rId3">
            <a:alphaModFix/>
          </a:blip>
          <a:srcRect l="32196" r="32193"/>
          <a:stretch/>
        </p:blipFill>
        <p:spPr>
          <a:xfrm>
            <a:off x="0" y="363537"/>
            <a:ext cx="3224212" cy="5997575"/>
          </a:xfrm>
          <a:prstGeom prst="rect">
            <a:avLst/>
          </a:prstGeom>
          <a:noFill/>
          <a:ln>
            <a:noFill/>
          </a:ln>
        </p:spPr>
      </p:pic>
      <p:sp>
        <p:nvSpPr>
          <p:cNvPr id="477" name="Google Shape;477;p6"/>
          <p:cNvSpPr txBox="1">
            <a:spLocks noGrp="1"/>
          </p:cNvSpPr>
          <p:nvPr>
            <p:ph type="body" idx="1"/>
          </p:nvPr>
        </p:nvSpPr>
        <p:spPr>
          <a:xfrm>
            <a:off x="4261975" y="1368475"/>
            <a:ext cx="7531200" cy="5214000"/>
          </a:xfrm>
          <a:prstGeom prst="rect">
            <a:avLst/>
          </a:prstGeom>
          <a:noFill/>
          <a:ln>
            <a:noFill/>
          </a:ln>
        </p:spPr>
        <p:txBody>
          <a:bodyPr spcFirstLastPara="1" wrap="square" lIns="91425" tIns="45700" rIns="91425" bIns="45700" anchor="t" anchorCtr="0">
            <a:noAutofit/>
          </a:bodyPr>
          <a:lstStyle/>
          <a:p>
            <a:pPr marL="457200" lvl="0" indent="-228600" algn="l" rtl="0">
              <a:lnSpc>
                <a:spcPct val="150000"/>
              </a:lnSpc>
              <a:spcBef>
                <a:spcPts val="1000"/>
              </a:spcBef>
              <a:spcAft>
                <a:spcPts val="0"/>
              </a:spcAft>
              <a:buClr>
                <a:schemeClr val="dk1"/>
              </a:buClr>
              <a:buSzPts val="1800"/>
              <a:buFont typeface="Arial"/>
              <a:buNone/>
            </a:pPr>
            <a:r>
              <a:rPr lang="en-US" sz="1600">
                <a:solidFill>
                  <a:schemeClr val="dk1"/>
                </a:solidFill>
              </a:rPr>
              <a:t>Kesimpulan pada penelitian ini adalah :</a:t>
            </a:r>
            <a:endParaRPr sz="1600">
              <a:solidFill>
                <a:schemeClr val="dk1"/>
              </a:solidFill>
            </a:endParaRPr>
          </a:p>
          <a:p>
            <a:pPr marL="457200" lvl="0" indent="-330200" algn="l" rtl="0">
              <a:lnSpc>
                <a:spcPct val="150000"/>
              </a:lnSpc>
              <a:spcBef>
                <a:spcPts val="1000"/>
              </a:spcBef>
              <a:spcAft>
                <a:spcPts val="0"/>
              </a:spcAft>
              <a:buClr>
                <a:schemeClr val="dk1"/>
              </a:buClr>
              <a:buSzPts val="1600"/>
              <a:buFont typeface="Arial"/>
              <a:buChar char="●"/>
            </a:pPr>
            <a:r>
              <a:rPr lang="en-US" sz="1600">
                <a:solidFill>
                  <a:schemeClr val="dk1"/>
                </a:solidFill>
              </a:rPr>
              <a:t>MobileNetV2 dengan Transfer Learning Jauh Lebih Unggul: Terbukti jauh lebih efektif (akurasi 78,77%) dibandingkan melatih model kompleks seperti CRNN dari awal (akurasi 30,65%) pada dataset berukuran terbatas.</a:t>
            </a:r>
            <a:endParaRPr sz="1600">
              <a:solidFill>
                <a:schemeClr val="dk1"/>
              </a:solidFill>
            </a:endParaRPr>
          </a:p>
          <a:p>
            <a:pPr marL="457200" lvl="0" indent="-330200" algn="l" rtl="0">
              <a:lnSpc>
                <a:spcPct val="150000"/>
              </a:lnSpc>
              <a:spcBef>
                <a:spcPts val="0"/>
              </a:spcBef>
              <a:spcAft>
                <a:spcPts val="0"/>
              </a:spcAft>
              <a:buClr>
                <a:schemeClr val="dk1"/>
              </a:buClr>
              <a:buSzPts val="1600"/>
              <a:buFont typeface="Arial"/>
              <a:buChar char="●"/>
            </a:pPr>
            <a:r>
              <a:rPr lang="en-US" sz="1600">
                <a:solidFill>
                  <a:schemeClr val="dk1"/>
                </a:solidFill>
              </a:rPr>
              <a:t>Membangun Model dari Awal Tidak Efektif: Tanpa dataset yang masif, melatih model deep learning yang kompleks dari nol menyebabkan underfitting dan performa yang buruk.</a:t>
            </a:r>
            <a:endParaRPr sz="1600">
              <a:solidFill>
                <a:schemeClr val="dk1"/>
              </a:solidFill>
            </a:endParaRPr>
          </a:p>
          <a:p>
            <a:pPr marL="457200" lvl="0" indent="-330200" algn="l" rtl="0">
              <a:lnSpc>
                <a:spcPct val="150000"/>
              </a:lnSpc>
              <a:spcBef>
                <a:spcPts val="0"/>
              </a:spcBef>
              <a:spcAft>
                <a:spcPts val="0"/>
              </a:spcAft>
              <a:buClr>
                <a:schemeClr val="dk1"/>
              </a:buClr>
              <a:buSzPts val="1600"/>
              <a:buFont typeface="Arial"/>
              <a:buChar char="●"/>
            </a:pPr>
            <a:r>
              <a:rPr lang="en-US" sz="1600">
                <a:solidFill>
                  <a:schemeClr val="dk1"/>
                </a:solidFill>
              </a:rPr>
              <a:t>Pipeline Ekstraksi Berbasis Regex Tidak Andal: Sistem ekstraksi informasi menggunakan Tesseract + Regex sangat rapuh dan gagal menangani variasi format dan kualitas cetak yang umum pada kemasan produk.</a:t>
            </a:r>
            <a:endParaRPr sz="1600">
              <a:solidFill>
                <a:schemeClr val="dk1"/>
              </a:solidFill>
            </a:endParaRPr>
          </a:p>
          <a:p>
            <a:pPr marL="457200" lvl="0" indent="-330200" algn="l" rtl="0">
              <a:lnSpc>
                <a:spcPct val="150000"/>
              </a:lnSpc>
              <a:spcBef>
                <a:spcPts val="0"/>
              </a:spcBef>
              <a:spcAft>
                <a:spcPts val="0"/>
              </a:spcAft>
              <a:buClr>
                <a:schemeClr val="dk1"/>
              </a:buClr>
              <a:buSzPts val="1600"/>
              <a:buFont typeface="Arial"/>
              <a:buChar char="●"/>
            </a:pPr>
            <a:r>
              <a:rPr lang="en-US" sz="1600">
                <a:solidFill>
                  <a:schemeClr val="dk1"/>
                </a:solidFill>
              </a:rPr>
              <a:t>MobileNetV2 Lebih Praktis: Selain lebih akurat, model ini juga lebih ringan dan cepat, menjadikannya pilihan ideal untuk implementasi pada perangkat mobile.</a:t>
            </a:r>
            <a:endParaRPr sz="1600">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Shape 481"/>
        <p:cNvGrpSpPr/>
        <p:nvPr/>
      </p:nvGrpSpPr>
      <p:grpSpPr>
        <a:xfrm>
          <a:off x="0" y="0"/>
          <a:ext cx="0" cy="0"/>
          <a:chOff x="0" y="0"/>
          <a:chExt cx="0" cy="0"/>
        </a:xfrm>
      </p:grpSpPr>
      <p:sp>
        <p:nvSpPr>
          <p:cNvPr id="482" name="Google Shape;482;g370f4e648af_0_149"/>
          <p:cNvSpPr txBox="1">
            <a:spLocks noGrp="1"/>
          </p:cNvSpPr>
          <p:nvPr>
            <p:ph type="title"/>
          </p:nvPr>
        </p:nvSpPr>
        <p:spPr>
          <a:xfrm>
            <a:off x="838200" y="1085850"/>
            <a:ext cx="10515600" cy="768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4400"/>
              <a:buFont typeface="Arial"/>
              <a:buNone/>
            </a:pPr>
            <a:r>
              <a:rPr lang="en-US" sz="4800">
                <a:solidFill>
                  <a:schemeClr val="dk1"/>
                </a:solidFill>
              </a:rPr>
              <a:t>Saran</a:t>
            </a:r>
            <a:endParaRPr b="1">
              <a:latin typeface="Arial"/>
              <a:ea typeface="Arial"/>
              <a:cs typeface="Arial"/>
              <a:sym typeface="Arial"/>
            </a:endParaRPr>
          </a:p>
        </p:txBody>
      </p:sp>
      <p:sp>
        <p:nvSpPr>
          <p:cNvPr id="483" name="Google Shape;483;g370f4e648af_0_149"/>
          <p:cNvSpPr txBox="1">
            <a:spLocks noGrp="1"/>
          </p:cNvSpPr>
          <p:nvPr>
            <p:ph type="body" idx="4294967295"/>
          </p:nvPr>
        </p:nvSpPr>
        <p:spPr>
          <a:xfrm>
            <a:off x="838200" y="2351075"/>
            <a:ext cx="4620000" cy="1908300"/>
          </a:xfrm>
          <a:prstGeom prst="rect">
            <a:avLst/>
          </a:prstGeom>
          <a:noFill/>
          <a:ln>
            <a:noFill/>
          </a:ln>
        </p:spPr>
        <p:txBody>
          <a:bodyPr spcFirstLastPara="1" wrap="square" lIns="91425" tIns="45700" rIns="91425" bIns="45700" anchor="t" anchorCtr="0">
            <a:noAutofit/>
          </a:bodyPr>
          <a:lstStyle/>
          <a:p>
            <a:pPr marL="457200" lvl="0" indent="-330200" algn="l" rtl="0">
              <a:lnSpc>
                <a:spcPct val="90000"/>
              </a:lnSpc>
              <a:spcBef>
                <a:spcPts val="1000"/>
              </a:spcBef>
              <a:spcAft>
                <a:spcPts val="0"/>
              </a:spcAft>
              <a:buClr>
                <a:srgbClr val="F26E21"/>
              </a:buClr>
              <a:buSzPts val="1600"/>
              <a:buFont typeface="Arial"/>
              <a:buAutoNum type="arabicPeriod"/>
            </a:pPr>
            <a:r>
              <a:rPr lang="en-US" sz="1600">
                <a:solidFill>
                  <a:schemeClr val="dk1"/>
                </a:solidFill>
              </a:rPr>
              <a:t>Peningkatan Model Klasifikasi</a:t>
            </a:r>
            <a:endParaRPr sz="1200"/>
          </a:p>
          <a:p>
            <a:pPr marL="0" marR="0" lvl="0" indent="0" algn="l" rtl="0">
              <a:lnSpc>
                <a:spcPct val="100000"/>
              </a:lnSpc>
              <a:spcBef>
                <a:spcPts val="0"/>
              </a:spcBef>
              <a:spcAft>
                <a:spcPts val="0"/>
              </a:spcAft>
              <a:buNone/>
            </a:pPr>
            <a:r>
              <a:rPr lang="en-US"/>
              <a:t>	Diperlukan lebih banyak dataset dengan variasi yang lebih luas. Serta, eksplorasi arsitektur yang lebih modern seperti EfficientNetV2 atau Vision Transformer (ViT).</a:t>
            </a:r>
            <a:endParaRPr/>
          </a:p>
        </p:txBody>
      </p:sp>
      <p:sp>
        <p:nvSpPr>
          <p:cNvPr id="484" name="Google Shape;484;g370f4e648af_0_149"/>
          <p:cNvSpPr txBox="1">
            <a:spLocks noGrp="1"/>
          </p:cNvSpPr>
          <p:nvPr>
            <p:ph type="body" idx="4294967295"/>
          </p:nvPr>
        </p:nvSpPr>
        <p:spPr>
          <a:xfrm>
            <a:off x="6202500" y="2351075"/>
            <a:ext cx="4620000" cy="1908300"/>
          </a:xfrm>
          <a:prstGeom prst="rect">
            <a:avLst/>
          </a:prstGeom>
          <a:noFill/>
          <a:ln>
            <a:noFill/>
          </a:ln>
        </p:spPr>
        <p:txBody>
          <a:bodyPr spcFirstLastPara="1" wrap="square" lIns="91425" tIns="45700" rIns="91425" bIns="45700" anchor="t" anchorCtr="0">
            <a:noAutofit/>
          </a:bodyPr>
          <a:lstStyle/>
          <a:p>
            <a:pPr marL="457200" lvl="0" indent="-330200" algn="l" rtl="0">
              <a:lnSpc>
                <a:spcPct val="90000"/>
              </a:lnSpc>
              <a:spcBef>
                <a:spcPts val="1000"/>
              </a:spcBef>
              <a:spcAft>
                <a:spcPts val="0"/>
              </a:spcAft>
              <a:buClr>
                <a:srgbClr val="F26E21"/>
              </a:buClr>
              <a:buSzPts val="1600"/>
              <a:buFont typeface="Arial"/>
              <a:buAutoNum type="arabicPeriod" startAt="2"/>
            </a:pPr>
            <a:r>
              <a:rPr lang="en-US" sz="1600">
                <a:solidFill>
                  <a:schemeClr val="dk1"/>
                </a:solidFill>
              </a:rPr>
              <a:t>Revolusi Pipeline Ekstraksi Informasi</a:t>
            </a:r>
            <a:endParaRPr sz="1600"/>
          </a:p>
          <a:p>
            <a:pPr marL="0" marR="0" lvl="0" indent="0" algn="l" rtl="0">
              <a:lnSpc>
                <a:spcPct val="100000"/>
              </a:lnSpc>
              <a:spcBef>
                <a:spcPts val="0"/>
              </a:spcBef>
              <a:spcAft>
                <a:spcPts val="0"/>
              </a:spcAft>
              <a:buNone/>
            </a:pPr>
            <a:r>
              <a:rPr lang="en-US"/>
              <a:t>	Implementasikan model Named Entity Recognition (NER) sebagai pengganti Regex untuk mengenali entitas (tanggal, berat, dll.) berdasarkan konteks, bukan pola karakter yang kaku.</a:t>
            </a:r>
            <a:endParaRPr/>
          </a:p>
          <a:p>
            <a:pPr marL="0" marR="0" lvl="0" indent="457200" algn="l" rtl="0">
              <a:lnSpc>
                <a:spcPct val="100000"/>
              </a:lnSpc>
              <a:spcBef>
                <a:spcPts val="0"/>
              </a:spcBef>
              <a:spcAft>
                <a:spcPts val="0"/>
              </a:spcAft>
              <a:buNone/>
            </a:pPr>
            <a:r>
              <a:rPr lang="en-US"/>
              <a:t>Serta, mencoba engine seperti EasyOCR, PaddleOCR, atau layanan cloud (Google Vision AI, Azure OCR) yang mungkin lebih tangguh</a:t>
            </a:r>
            <a:endParaRPr/>
          </a:p>
        </p:txBody>
      </p:sp>
      <p:sp>
        <p:nvSpPr>
          <p:cNvPr id="485" name="Google Shape;485;g370f4e648af_0_149"/>
          <p:cNvSpPr txBox="1">
            <a:spLocks noGrp="1"/>
          </p:cNvSpPr>
          <p:nvPr>
            <p:ph type="body" idx="4294967295"/>
          </p:nvPr>
        </p:nvSpPr>
        <p:spPr>
          <a:xfrm>
            <a:off x="838200" y="4400550"/>
            <a:ext cx="4620000" cy="1908300"/>
          </a:xfrm>
          <a:prstGeom prst="rect">
            <a:avLst/>
          </a:prstGeom>
          <a:noFill/>
          <a:ln>
            <a:noFill/>
          </a:ln>
        </p:spPr>
        <p:txBody>
          <a:bodyPr spcFirstLastPara="1" wrap="square" lIns="91425" tIns="45700" rIns="91425" bIns="45700" anchor="t" anchorCtr="0">
            <a:noAutofit/>
          </a:bodyPr>
          <a:lstStyle/>
          <a:p>
            <a:pPr marL="457200" lvl="0" indent="-330200" algn="l" rtl="0">
              <a:lnSpc>
                <a:spcPct val="90000"/>
              </a:lnSpc>
              <a:spcBef>
                <a:spcPts val="1000"/>
              </a:spcBef>
              <a:spcAft>
                <a:spcPts val="0"/>
              </a:spcAft>
              <a:buClr>
                <a:srgbClr val="F26E21"/>
              </a:buClr>
              <a:buSzPts val="1600"/>
              <a:buFont typeface="Arial"/>
              <a:buAutoNum type="arabicPeriod" startAt="3"/>
            </a:pPr>
            <a:r>
              <a:rPr lang="en-US" sz="1600">
                <a:solidFill>
                  <a:schemeClr val="dk1"/>
                </a:solidFill>
              </a:rPr>
              <a:t>Validasi yang Lebih Komprehensif</a:t>
            </a:r>
            <a:endParaRPr sz="1600"/>
          </a:p>
          <a:p>
            <a:pPr marL="457200" marR="0" lvl="0" indent="0" algn="l" rtl="0">
              <a:lnSpc>
                <a:spcPct val="100000"/>
              </a:lnSpc>
              <a:spcBef>
                <a:spcPts val="0"/>
              </a:spcBef>
              <a:spcAft>
                <a:spcPts val="0"/>
              </a:spcAft>
              <a:buNone/>
            </a:pPr>
            <a:r>
              <a:rPr lang="en-US"/>
              <a:t>Menggunakan test set yang sepenuhnya terpisah untuk evaluasi akhir yang objektif.</a:t>
            </a:r>
            <a:endParaRPr/>
          </a:p>
        </p:txBody>
      </p:sp>
      <p:sp>
        <p:nvSpPr>
          <p:cNvPr id="486" name="Google Shape;486;g370f4e648af_0_149"/>
          <p:cNvSpPr txBox="1">
            <a:spLocks noGrp="1"/>
          </p:cNvSpPr>
          <p:nvPr>
            <p:ph type="body" idx="4294967295"/>
          </p:nvPr>
        </p:nvSpPr>
        <p:spPr>
          <a:xfrm>
            <a:off x="6202500" y="4400550"/>
            <a:ext cx="4620000" cy="1908300"/>
          </a:xfrm>
          <a:prstGeom prst="rect">
            <a:avLst/>
          </a:prstGeom>
          <a:noFill/>
          <a:ln>
            <a:noFill/>
          </a:ln>
        </p:spPr>
        <p:txBody>
          <a:bodyPr spcFirstLastPara="1" wrap="square" lIns="91425" tIns="45700" rIns="91425" bIns="45700" anchor="t" anchorCtr="0">
            <a:noAutofit/>
          </a:bodyPr>
          <a:lstStyle/>
          <a:p>
            <a:pPr marL="457200" lvl="0" indent="-330200" algn="l" rtl="0">
              <a:lnSpc>
                <a:spcPct val="90000"/>
              </a:lnSpc>
              <a:spcBef>
                <a:spcPts val="1000"/>
              </a:spcBef>
              <a:spcAft>
                <a:spcPts val="0"/>
              </a:spcAft>
              <a:buClr>
                <a:srgbClr val="F26E21"/>
              </a:buClr>
              <a:buSzPts val="1600"/>
              <a:buFont typeface="Arial"/>
              <a:buAutoNum type="arabicPeriod" startAt="4"/>
            </a:pPr>
            <a:r>
              <a:rPr lang="en-US" sz="1600">
                <a:solidFill>
                  <a:schemeClr val="dk1"/>
                </a:solidFill>
              </a:rPr>
              <a:t>Pengembangan Aplikasi Praktis</a:t>
            </a:r>
            <a:endParaRPr sz="1600"/>
          </a:p>
          <a:p>
            <a:pPr marL="0" marR="0" lvl="0" indent="457200" algn="l" rtl="0">
              <a:lnSpc>
                <a:spcPct val="100000"/>
              </a:lnSpc>
              <a:spcBef>
                <a:spcPts val="0"/>
              </a:spcBef>
              <a:spcAft>
                <a:spcPts val="0"/>
              </a:spcAft>
              <a:buNone/>
            </a:pPr>
            <a:r>
              <a:rPr lang="en-US"/>
              <a:t>Membuat prototipe aplikasi mobile menggunakan model MobileNetV2 yang telah dikonversi ke TensorFlow Lite (TF Lite).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Shape 490"/>
        <p:cNvGrpSpPr/>
        <p:nvPr/>
      </p:nvGrpSpPr>
      <p:grpSpPr>
        <a:xfrm>
          <a:off x="0" y="0"/>
          <a:ext cx="0" cy="0"/>
          <a:chOff x="0" y="0"/>
          <a:chExt cx="0" cy="0"/>
        </a:xfrm>
      </p:grpSpPr>
      <p:sp>
        <p:nvSpPr>
          <p:cNvPr id="491" name="Google Shape;491;p11"/>
          <p:cNvSpPr txBox="1">
            <a:spLocks noGrp="1"/>
          </p:cNvSpPr>
          <p:nvPr>
            <p:ph type="title"/>
          </p:nvPr>
        </p:nvSpPr>
        <p:spPr>
          <a:xfrm>
            <a:off x="920750" y="2036762"/>
            <a:ext cx="4306887" cy="132556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FFFFFF"/>
              </a:buClr>
              <a:buSzPct val="100000"/>
              <a:buFont typeface="Arial"/>
              <a:buNone/>
            </a:pPr>
            <a:r>
              <a:rPr lang="en-US"/>
              <a:t>Terima Kasih</a:t>
            </a:r>
            <a:endParaRPr sz="6000" b="1">
              <a:solidFill>
                <a:srgbClr val="FFFFFF"/>
              </a:solidFill>
              <a:latin typeface="Arial"/>
              <a:ea typeface="Arial"/>
              <a:cs typeface="Arial"/>
              <a:sym typeface="Arial"/>
            </a:endParaRPr>
          </a:p>
        </p:txBody>
      </p:sp>
      <p:pic>
        <p:nvPicPr>
          <p:cNvPr id="492" name="Google Shape;492;p11" descr="A view of a city&#10;&#10;Description automatically generated"/>
          <p:cNvPicPr preferRelativeResize="0">
            <a:picLocks noGrp="1"/>
          </p:cNvPicPr>
          <p:nvPr>
            <p:ph type="body" idx="1"/>
          </p:nvPr>
        </p:nvPicPr>
        <p:blipFill rotWithShape="1">
          <a:blip r:embed="rId3">
            <a:alphaModFix/>
          </a:blip>
          <a:srcRect l="19696" r="19696"/>
          <a:stretch/>
        </p:blipFill>
        <p:spPr>
          <a:xfrm>
            <a:off x="6096000" y="0"/>
            <a:ext cx="6096000" cy="68580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Shape 496"/>
        <p:cNvGrpSpPr/>
        <p:nvPr/>
      </p:nvGrpSpPr>
      <p:grpSpPr>
        <a:xfrm>
          <a:off x="0" y="0"/>
          <a:ext cx="0" cy="0"/>
          <a:chOff x="0" y="0"/>
          <a:chExt cx="0" cy="0"/>
        </a:xfrm>
      </p:grpSpPr>
      <p:sp>
        <p:nvSpPr>
          <p:cNvPr id="497" name="Google Shape;497;g370f4e648af_0_143"/>
          <p:cNvSpPr txBox="1">
            <a:spLocks noGrp="1"/>
          </p:cNvSpPr>
          <p:nvPr>
            <p:ph type="title"/>
          </p:nvPr>
        </p:nvSpPr>
        <p:spPr>
          <a:xfrm>
            <a:off x="4525962" y="1244600"/>
            <a:ext cx="7124700" cy="966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endParaRPr b="1">
              <a:latin typeface="Arial"/>
              <a:ea typeface="Arial"/>
              <a:cs typeface="Arial"/>
              <a:sym typeface="Arial"/>
            </a:endParaRPr>
          </a:p>
        </p:txBody>
      </p:sp>
      <p:pic>
        <p:nvPicPr>
          <p:cNvPr id="498" name="Google Shape;498;g370f4e648af_0_143" descr="A close up of a ceiling&#10;&#10;Description automatically generated"/>
          <p:cNvPicPr preferRelativeResize="0">
            <a:picLocks noGrp="1"/>
          </p:cNvPicPr>
          <p:nvPr>
            <p:ph type="body" idx="1"/>
          </p:nvPr>
        </p:nvPicPr>
        <p:blipFill rotWithShape="1">
          <a:blip r:embed="rId3">
            <a:alphaModFix/>
          </a:blip>
          <a:srcRect l="32195" r="32195"/>
          <a:stretch/>
        </p:blipFill>
        <p:spPr>
          <a:xfrm>
            <a:off x="0" y="363537"/>
            <a:ext cx="3224100" cy="5997600"/>
          </a:xfrm>
          <a:prstGeom prst="rect">
            <a:avLst/>
          </a:prstGeom>
          <a:noFill/>
          <a:ln>
            <a:noFill/>
          </a:ln>
        </p:spPr>
      </p:pic>
      <p:sp>
        <p:nvSpPr>
          <p:cNvPr id="499" name="Google Shape;499;g370f4e648af_0_143"/>
          <p:cNvSpPr txBox="1">
            <a:spLocks noGrp="1"/>
          </p:cNvSpPr>
          <p:nvPr>
            <p:ph type="body" idx="1"/>
          </p:nvPr>
        </p:nvSpPr>
        <p:spPr>
          <a:xfrm>
            <a:off x="4525962" y="2900362"/>
            <a:ext cx="7124700" cy="32940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endParaRPr sz="2000">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Shape 503"/>
        <p:cNvGrpSpPr/>
        <p:nvPr/>
      </p:nvGrpSpPr>
      <p:grpSpPr>
        <a:xfrm>
          <a:off x="0" y="0"/>
          <a:ext cx="0" cy="0"/>
          <a:chOff x="0" y="0"/>
          <a:chExt cx="0" cy="0"/>
        </a:xfrm>
      </p:grpSpPr>
      <p:sp>
        <p:nvSpPr>
          <p:cNvPr id="504" name="Google Shape;504;p7"/>
          <p:cNvSpPr txBox="1">
            <a:spLocks noGrp="1"/>
          </p:cNvSpPr>
          <p:nvPr>
            <p:ph type="title"/>
          </p:nvPr>
        </p:nvSpPr>
        <p:spPr>
          <a:xfrm>
            <a:off x="682625" y="1244600"/>
            <a:ext cx="7126287" cy="96678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endParaRPr b="1">
              <a:latin typeface="Arial"/>
              <a:ea typeface="Arial"/>
              <a:cs typeface="Arial"/>
              <a:sym typeface="Arial"/>
            </a:endParaRPr>
          </a:p>
        </p:txBody>
      </p:sp>
      <p:pic>
        <p:nvPicPr>
          <p:cNvPr id="505" name="Google Shape;505;p7" descr="A close up of text on a white background&#10;&#10;Description automatically generated"/>
          <p:cNvPicPr preferRelativeResize="0">
            <a:picLocks noGrp="1"/>
          </p:cNvPicPr>
          <p:nvPr>
            <p:ph type="body" idx="1"/>
          </p:nvPr>
        </p:nvPicPr>
        <p:blipFill rotWithShape="1">
          <a:blip r:embed="rId3">
            <a:alphaModFix/>
          </a:blip>
          <a:srcRect l="36663" r="36661"/>
          <a:stretch/>
        </p:blipFill>
        <p:spPr>
          <a:xfrm>
            <a:off x="8967787" y="363537"/>
            <a:ext cx="3224212" cy="5997575"/>
          </a:xfrm>
          <a:prstGeom prst="rect">
            <a:avLst/>
          </a:prstGeom>
          <a:noFill/>
          <a:ln>
            <a:noFill/>
          </a:ln>
        </p:spPr>
      </p:pic>
      <p:sp>
        <p:nvSpPr>
          <p:cNvPr id="506" name="Google Shape;506;p7"/>
          <p:cNvSpPr txBox="1">
            <a:spLocks noGrp="1"/>
          </p:cNvSpPr>
          <p:nvPr>
            <p:ph type="body" idx="1"/>
          </p:nvPr>
        </p:nvSpPr>
        <p:spPr>
          <a:xfrm>
            <a:off x="684212" y="2900362"/>
            <a:ext cx="7124700" cy="3294062"/>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endParaRPr sz="2000">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Shape 510"/>
        <p:cNvGrpSpPr/>
        <p:nvPr/>
      </p:nvGrpSpPr>
      <p:grpSpPr>
        <a:xfrm>
          <a:off x="0" y="0"/>
          <a:ext cx="0" cy="0"/>
          <a:chOff x="0" y="0"/>
          <a:chExt cx="0" cy="0"/>
        </a:xfrm>
      </p:grpSpPr>
      <p:sp>
        <p:nvSpPr>
          <p:cNvPr id="511" name="Google Shape;511;p8"/>
          <p:cNvSpPr txBox="1">
            <a:spLocks noGrp="1"/>
          </p:cNvSpPr>
          <p:nvPr>
            <p:ph type="body" idx="1"/>
          </p:nvPr>
        </p:nvSpPr>
        <p:spPr>
          <a:xfrm>
            <a:off x="838200" y="2428875"/>
            <a:ext cx="4984750" cy="3748087"/>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endParaRPr sz="2000">
              <a:latin typeface="Arial"/>
              <a:ea typeface="Arial"/>
              <a:cs typeface="Arial"/>
              <a:sym typeface="Arial"/>
            </a:endParaRPr>
          </a:p>
        </p:txBody>
      </p:sp>
      <p:sp>
        <p:nvSpPr>
          <p:cNvPr id="512" name="Google Shape;512;p8"/>
          <p:cNvSpPr txBox="1">
            <a:spLocks noGrp="1"/>
          </p:cNvSpPr>
          <p:nvPr>
            <p:ph type="title"/>
          </p:nvPr>
        </p:nvSpPr>
        <p:spPr>
          <a:xfrm>
            <a:off x="838200" y="1085850"/>
            <a:ext cx="10515600" cy="7683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endParaRPr b="1">
              <a:latin typeface="Arial"/>
              <a:ea typeface="Arial"/>
              <a:cs typeface="Arial"/>
              <a:sym typeface="Arial"/>
            </a:endParaRPr>
          </a:p>
        </p:txBody>
      </p:sp>
      <p:sp>
        <p:nvSpPr>
          <p:cNvPr id="513" name="Google Shape;513;p8"/>
          <p:cNvSpPr txBox="1">
            <a:spLocks noGrp="1"/>
          </p:cNvSpPr>
          <p:nvPr>
            <p:ph type="body" idx="1"/>
          </p:nvPr>
        </p:nvSpPr>
        <p:spPr>
          <a:xfrm>
            <a:off x="6369050" y="2428875"/>
            <a:ext cx="4984750" cy="3748087"/>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endParaRPr sz="2000">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Shape 517"/>
        <p:cNvGrpSpPr/>
        <p:nvPr/>
      </p:nvGrpSpPr>
      <p:grpSpPr>
        <a:xfrm>
          <a:off x="0" y="0"/>
          <a:ext cx="0" cy="0"/>
          <a:chOff x="0" y="0"/>
          <a:chExt cx="0" cy="0"/>
        </a:xfrm>
      </p:grpSpPr>
      <p:sp>
        <p:nvSpPr>
          <p:cNvPr id="518" name="Google Shape;518;p9"/>
          <p:cNvSpPr txBox="1">
            <a:spLocks noGrp="1"/>
          </p:cNvSpPr>
          <p:nvPr>
            <p:ph type="body" idx="1"/>
          </p:nvPr>
        </p:nvSpPr>
        <p:spPr>
          <a:xfrm>
            <a:off x="838200" y="2428875"/>
            <a:ext cx="10515600" cy="3748087"/>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F26E21"/>
              </a:buClr>
              <a:buSzPts val="2000"/>
              <a:buFont typeface="Noto Sans Symbols"/>
              <a:buNone/>
            </a:pPr>
            <a:endParaRPr sz="2000">
              <a:latin typeface="Arial"/>
              <a:ea typeface="Arial"/>
              <a:cs typeface="Arial"/>
              <a:sym typeface="Arial"/>
            </a:endParaRPr>
          </a:p>
        </p:txBody>
      </p:sp>
      <p:sp>
        <p:nvSpPr>
          <p:cNvPr id="519" name="Google Shape;519;p9"/>
          <p:cNvSpPr txBox="1">
            <a:spLocks noGrp="1"/>
          </p:cNvSpPr>
          <p:nvPr>
            <p:ph type="title"/>
          </p:nvPr>
        </p:nvSpPr>
        <p:spPr>
          <a:xfrm>
            <a:off x="838200" y="1085850"/>
            <a:ext cx="10515600" cy="7683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endParaRPr b="1">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Shape 523"/>
        <p:cNvGrpSpPr/>
        <p:nvPr/>
      </p:nvGrpSpPr>
      <p:grpSpPr>
        <a:xfrm>
          <a:off x="0" y="0"/>
          <a:ext cx="0" cy="0"/>
          <a:chOff x="0" y="0"/>
          <a:chExt cx="0" cy="0"/>
        </a:xfrm>
      </p:grpSpPr>
      <p:sp>
        <p:nvSpPr>
          <p:cNvPr id="524" name="Google Shape;524;p10"/>
          <p:cNvSpPr txBox="1">
            <a:spLocks noGrp="1"/>
          </p:cNvSpPr>
          <p:nvPr>
            <p:ph type="title"/>
          </p:nvPr>
        </p:nvSpPr>
        <p:spPr>
          <a:xfrm>
            <a:off x="838200" y="1085850"/>
            <a:ext cx="10515600" cy="7683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endParaRPr b="1">
              <a:latin typeface="Arial"/>
              <a:ea typeface="Arial"/>
              <a:cs typeface="Arial"/>
              <a:sym typeface="Arial"/>
            </a:endParaRPr>
          </a:p>
        </p:txBody>
      </p:sp>
      <p:sp>
        <p:nvSpPr>
          <p:cNvPr id="525" name="Google Shape;525;p10"/>
          <p:cNvSpPr txBox="1">
            <a:spLocks noGrp="1"/>
          </p:cNvSpPr>
          <p:nvPr>
            <p:ph type="body" idx="4294967295"/>
          </p:nvPr>
        </p:nvSpPr>
        <p:spPr>
          <a:xfrm>
            <a:off x="838200" y="2351087"/>
            <a:ext cx="3200400" cy="19081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526" name="Google Shape;526;p10"/>
          <p:cNvSpPr txBox="1">
            <a:spLocks noGrp="1"/>
          </p:cNvSpPr>
          <p:nvPr>
            <p:ph type="body" idx="4294967295"/>
          </p:nvPr>
        </p:nvSpPr>
        <p:spPr>
          <a:xfrm>
            <a:off x="4495800" y="2351087"/>
            <a:ext cx="3200400" cy="19081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527" name="Google Shape;527;p10"/>
          <p:cNvSpPr txBox="1">
            <a:spLocks noGrp="1"/>
          </p:cNvSpPr>
          <p:nvPr>
            <p:ph type="body" idx="4294967295"/>
          </p:nvPr>
        </p:nvSpPr>
        <p:spPr>
          <a:xfrm>
            <a:off x="8153400" y="2351087"/>
            <a:ext cx="3200400" cy="19081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528" name="Google Shape;528;p10"/>
          <p:cNvSpPr txBox="1">
            <a:spLocks noGrp="1"/>
          </p:cNvSpPr>
          <p:nvPr>
            <p:ph type="body" idx="4294967295"/>
          </p:nvPr>
        </p:nvSpPr>
        <p:spPr>
          <a:xfrm>
            <a:off x="838200" y="4400550"/>
            <a:ext cx="3200400" cy="19081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529" name="Google Shape;529;p10"/>
          <p:cNvSpPr txBox="1">
            <a:spLocks noGrp="1"/>
          </p:cNvSpPr>
          <p:nvPr>
            <p:ph type="body" idx="4294967295"/>
          </p:nvPr>
        </p:nvSpPr>
        <p:spPr>
          <a:xfrm>
            <a:off x="4495800" y="4400550"/>
            <a:ext cx="3200400" cy="19081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530" name="Google Shape;530;p10"/>
          <p:cNvSpPr txBox="1">
            <a:spLocks noGrp="1"/>
          </p:cNvSpPr>
          <p:nvPr>
            <p:ph type="body" idx="4294967295"/>
          </p:nvPr>
        </p:nvSpPr>
        <p:spPr>
          <a:xfrm>
            <a:off x="8153400" y="4400550"/>
            <a:ext cx="3200400" cy="19081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6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8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9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0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3093</TotalTime>
  <Words>3753</Words>
  <Application>Microsoft Office PowerPoint</Application>
  <PresentationFormat>Widescreen</PresentationFormat>
  <Paragraphs>760</Paragraphs>
  <Slides>65</Slides>
  <Notes>65</Notes>
  <HiddenSlides>36</HiddenSlides>
  <MMClips>0</MMClips>
  <ScaleCrop>false</ScaleCrop>
  <HeadingPairs>
    <vt:vector size="6" baseType="variant">
      <vt:variant>
        <vt:lpstr>Fonts Used</vt:lpstr>
      </vt:variant>
      <vt:variant>
        <vt:i4>6</vt:i4>
      </vt:variant>
      <vt:variant>
        <vt:lpstr>Theme</vt:lpstr>
      </vt:variant>
      <vt:variant>
        <vt:i4>8</vt:i4>
      </vt:variant>
      <vt:variant>
        <vt:lpstr>Slide Titles</vt:lpstr>
      </vt:variant>
      <vt:variant>
        <vt:i4>65</vt:i4>
      </vt:variant>
    </vt:vector>
  </HeadingPairs>
  <TitlesOfParts>
    <vt:vector size="79" baseType="lpstr">
      <vt:lpstr>Arial</vt:lpstr>
      <vt:lpstr>Noto Sans Symbols</vt:lpstr>
      <vt:lpstr>Tahoma</vt:lpstr>
      <vt:lpstr>Times New Roman</vt:lpstr>
      <vt:lpstr>Consolas</vt:lpstr>
      <vt:lpstr>Calibri</vt:lpstr>
      <vt:lpstr>1_Office Theme</vt:lpstr>
      <vt:lpstr>2_Office Theme</vt:lpstr>
      <vt:lpstr>6_Office Theme</vt:lpstr>
      <vt:lpstr>7_Office Theme</vt:lpstr>
      <vt:lpstr>8_Office Theme</vt:lpstr>
      <vt:lpstr>9_Office Theme</vt:lpstr>
      <vt:lpstr>10_Office Theme</vt:lpstr>
      <vt:lpstr>11_Office Theme</vt:lpstr>
      <vt:lpstr>PENGEMBANGAN FRAMEWORK SISTEM DETEKSI PELANGGARAN 9-BALL POOL MENGGUNAKAN YOLO DAN RULE-BASED REASONING PADA RASPBERRY PI</vt:lpstr>
      <vt:lpstr>Latar Belakang</vt:lpstr>
      <vt:lpstr>Rumusan Masalah</vt:lpstr>
      <vt:lpstr>Tujuan Penelitian</vt:lpstr>
      <vt:lpstr>Metodologi Penelitian</vt:lpstr>
      <vt:lpstr>Manfaat Penelitian</vt:lpstr>
      <vt:lpstr>Ruang Lingkup Masalah</vt:lpstr>
      <vt:lpstr>Tinjauan Teori</vt:lpstr>
      <vt:lpstr>Gambaran Umum Penelitian</vt:lpstr>
      <vt:lpstr>Studi Preseden</vt:lpstr>
      <vt:lpstr>Komponen Studi Preseden/Framework Sistem Deteksi Pelanggaran </vt:lpstr>
      <vt:lpstr>Software dan Hardware</vt:lpstr>
      <vt:lpstr>Contoh Dataset</vt:lpstr>
      <vt:lpstr>Augmentasi Data</vt:lpstr>
      <vt:lpstr>Kelas/Label</vt:lpstr>
      <vt:lpstr>Model Comparison</vt:lpstr>
      <vt:lpstr>Konfigurasi Training</vt:lpstr>
      <vt:lpstr>Area Deteksi Pelanggaran</vt:lpstr>
      <vt:lpstr>Logika Deteksi per Jenis Pelanggaran</vt:lpstr>
      <vt:lpstr>Alur Program</vt:lpstr>
      <vt:lpstr>Kompilasi .pt ke .hef</vt:lpstr>
      <vt:lpstr>Evaluasi Model, Sistem Pelanggaran, dan Kinerja pada Edge Device</vt:lpstr>
      <vt:lpstr>Hasil Evaluasi Model Deteksi Objek</vt:lpstr>
      <vt:lpstr>Evaluasi Deteksi Objek per Kelas</vt:lpstr>
      <vt:lpstr>Hasil Kinerja pada Edge Device</vt:lpstr>
      <vt:lpstr>Hasil Implementasi Sistem</vt:lpstr>
      <vt:lpstr>Hasil Pengujian Sistem Deteksi Pelanggaran</vt:lpstr>
      <vt:lpstr>PowerPoint Presentation</vt:lpstr>
      <vt:lpstr>PowerPoint Presentation</vt:lpstr>
      <vt:lpstr>Hasil Preprocessing Gambar</vt:lpstr>
      <vt:lpstr>Hasil Preprocessing Gambar</vt:lpstr>
      <vt:lpstr>Hasil Preprocessing Gambar</vt:lpstr>
      <vt:lpstr>Hasil Preprocessing Gambar</vt:lpstr>
      <vt:lpstr>Hasil &amp; Pembahasan - Rincian Arsitektur</vt:lpstr>
      <vt:lpstr>Hasil &amp; Pembahasan - Rincian Arsitektur</vt:lpstr>
      <vt:lpstr>Hasil &amp; Pembahasan - Rincian Arsitektur</vt:lpstr>
      <vt:lpstr>Hasil &amp; Pembahasan - Rincian Arsitektur</vt:lpstr>
      <vt:lpstr>Hasil &amp; Pembahasan - Rincian Arsitektur</vt:lpstr>
      <vt:lpstr>Hasil &amp; Pembahasan - Rincian Arsitektur</vt:lpstr>
      <vt:lpstr>Hasil &amp; Pembahasan - Kinerja Pelatihan Model</vt:lpstr>
      <vt:lpstr>Hasil &amp; Pembahasan - Kinerja Pelatihan Model</vt:lpstr>
      <vt:lpstr>Hasil &amp; Pembahasan - Kinerja Pelatihan Model</vt:lpstr>
      <vt:lpstr>Hasil &amp; Pembahasan - Kinerja Pelatihan Model</vt:lpstr>
      <vt:lpstr>Hasil &amp; Pembahasan - Kinerja Pelatihan Model</vt:lpstr>
      <vt:lpstr>Hasil &amp; Pembahasan - Kinerja Model Klasifikasi</vt:lpstr>
      <vt:lpstr>Hasil &amp; Pembahasan - Kinerja Model Klasifikasi</vt:lpstr>
      <vt:lpstr>Hasil &amp; Pembahasan - Kinerja Model Klasifikasi</vt:lpstr>
      <vt:lpstr>Hasil &amp; Pembahasan - Kinerja Model Klasifikasi</vt:lpstr>
      <vt:lpstr>Hasil &amp; Pembahasan - Kinerja Model Klasifikasi</vt:lpstr>
      <vt:lpstr>Hasil &amp; Pembahasan - Confusion Matrix</vt:lpstr>
      <vt:lpstr>Hasil &amp; Pembahasan - Confusion Matrix</vt:lpstr>
      <vt:lpstr>Hasil &amp; Pembahasan - Confusion Matrix</vt:lpstr>
      <vt:lpstr>Hasil &amp; Pembahasan - Confusion Matrix</vt:lpstr>
      <vt:lpstr>Hasil Kinerja Ekstraksi Informasi</vt:lpstr>
      <vt:lpstr>Hasil Kinerja Ekstraksi Informasi</vt:lpstr>
      <vt:lpstr>Hasil Kinerja Ekstraksi Informasi</vt:lpstr>
      <vt:lpstr>Hasil Kinerja Ekstraksi Informasi</vt:lpstr>
      <vt:lpstr>Kesimpulan</vt:lpstr>
      <vt:lpstr>Saran</vt:lpstr>
      <vt:lpstr>Terima Kasih</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PENGEMBANGAN FRAMEWORK SISTEM DETEKSIPELANGGARAN 9-BALL POOL MENGGUNAKAN YOLO DAN RULE-BASED REASONING PADA RASPBERRY PI</dc:title>
  <dc:creator>Pius Eliezer Latief</dc:creator>
  <cp:lastModifiedBy>David Haryanto</cp:lastModifiedBy>
  <cp:revision>85</cp:revision>
  <dcterms:created xsi:type="dcterms:W3CDTF">2023-05-23T17:55:11Z</dcterms:created>
  <dcterms:modified xsi:type="dcterms:W3CDTF">2026-07-15T15:35:19Z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0366369CA4C04B968DDB34CD1D4BEED3</vt:lpwstr>
  </property>
  <property fmtid="{D5CDD505-2E9C-101B-9397-08002B2CF9AE}" pid="3" name="KSOProductBuildVer">
    <vt:lpwstr>1033-11.2.0.11537</vt:lpwstr>
  </property>
</Properties>
</file>