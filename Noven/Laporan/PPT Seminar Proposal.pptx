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Titillium Web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jmc6SSMHpP6wVR3l8atd8dO7q0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TitilliumWeb-regular.fntdata"/><Relationship Id="rId21" Type="http://schemas.openxmlformats.org/officeDocument/2006/relationships/slide" Target="slides/slide16.xml"/><Relationship Id="rId24" Type="http://schemas.openxmlformats.org/officeDocument/2006/relationships/font" Target="fonts/TitilliumWeb-italic.fntdata"/><Relationship Id="rId23" Type="http://schemas.openxmlformats.org/officeDocument/2006/relationships/font" Target="fonts/TitilliumWeb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TitilliumWeb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e5e7a5eb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9e5e7a5eb9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72adeaa8b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a72adeaa8b_1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72adeaa8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a72adeaa8b_1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72adeaa8b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72adeaa8b_1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68ad94d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a68ad94d9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68ad94d9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a68ad94d98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72adeaa8b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a72adeaa8b_1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68ad94d9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a68ad94d98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72adeaa8b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a72adeaa8b_1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72adeaa8b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a72adeaa8b_1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" id="12" name="Google Shape;1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77978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3"/>
          <p:cNvSpPr txBox="1"/>
          <p:nvPr/>
        </p:nvSpPr>
        <p:spPr>
          <a:xfrm>
            <a:off x="442913" y="6248400"/>
            <a:ext cx="7000875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5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5263"/>
              <a:buFont typeface="Arial"/>
              <a:buNone/>
            </a:pPr>
            <a:r>
              <a:rPr b="1" i="0" lang="en-ID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PRADITA UNIVERSITY</a:t>
            </a:r>
            <a:endParaRPr/>
          </a:p>
        </p:txBody>
      </p:sp>
      <p:pic>
        <p:nvPicPr>
          <p:cNvPr descr="A close up of a sign&#10;&#10;Description automatically generated" id="14" name="Google Shape;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913" y="222250"/>
            <a:ext cx="1557337" cy="67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3"/>
          <p:cNvSpPr txBox="1"/>
          <p:nvPr>
            <p:ph type="ctrTitle"/>
          </p:nvPr>
        </p:nvSpPr>
        <p:spPr>
          <a:xfrm>
            <a:off x="443345" y="2988108"/>
            <a:ext cx="700116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6E21"/>
              </a:buClr>
              <a:buSzPts val="8000"/>
              <a:buFont typeface="Arial"/>
              <a:buNone/>
              <a:defRPr b="1" sz="8000">
                <a:solidFill>
                  <a:srgbClr val="F26E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" type="subTitle"/>
          </p:nvPr>
        </p:nvSpPr>
        <p:spPr>
          <a:xfrm>
            <a:off x="443344" y="2271424"/>
            <a:ext cx="7001163" cy="452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13"/>
          <p:cNvSpPr/>
          <p:nvPr>
            <p:ph idx="2" type="pic"/>
          </p:nvPr>
        </p:nvSpPr>
        <p:spPr>
          <a:xfrm>
            <a:off x="7823200" y="0"/>
            <a:ext cx="43688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_Layout 1">
  <p:cSld name="Title &amp; Content_Layout 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" id="22" name="Google Shape;2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700" y="0"/>
            <a:ext cx="5803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4"/>
          <p:cNvSpPr/>
          <p:nvPr/>
        </p:nvSpPr>
        <p:spPr>
          <a:xfrm>
            <a:off x="690563" y="3670300"/>
            <a:ext cx="1220787" cy="73025"/>
          </a:xfrm>
          <a:prstGeom prst="rect">
            <a:avLst/>
          </a:prstGeom>
          <a:solidFill>
            <a:srgbClr val="F9A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sign&#10;&#10;Description automatically generated" id="24" name="Google Shape;2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3325" y="387350"/>
            <a:ext cx="1557338" cy="67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4"/>
          <p:cNvSpPr txBox="1"/>
          <p:nvPr>
            <p:ph type="title"/>
          </p:nvPr>
        </p:nvSpPr>
        <p:spPr>
          <a:xfrm>
            <a:off x="563418" y="2103437"/>
            <a:ext cx="470130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" type="subTitle"/>
          </p:nvPr>
        </p:nvSpPr>
        <p:spPr>
          <a:xfrm>
            <a:off x="563418" y="4043867"/>
            <a:ext cx="4701309" cy="452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" name="Google Shape;27;p14"/>
          <p:cNvSpPr txBox="1"/>
          <p:nvPr>
            <p:ph idx="2" type="body"/>
          </p:nvPr>
        </p:nvSpPr>
        <p:spPr>
          <a:xfrm>
            <a:off x="6299200" y="1963809"/>
            <a:ext cx="5351462" cy="2930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_Layout 2">
  <p:cSld name="Title &amp; Content_Layout 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/>
          <p:nvPr/>
        </p:nvSpPr>
        <p:spPr>
          <a:xfrm>
            <a:off x="601663" y="2517775"/>
            <a:ext cx="1222375" cy="71438"/>
          </a:xfrm>
          <a:prstGeom prst="rect">
            <a:avLst/>
          </a:prstGeom>
          <a:solidFill>
            <a:srgbClr val="F9A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sign&#10;&#10;Description automatically generated" id="33" name="Google Shape;3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400" y="387350"/>
            <a:ext cx="1557338" cy="67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" id="34" name="Google Shape;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2488" y="0"/>
            <a:ext cx="37211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5"/>
          <p:cNvSpPr txBox="1"/>
          <p:nvPr>
            <p:ph type="title"/>
          </p:nvPr>
        </p:nvSpPr>
        <p:spPr>
          <a:xfrm>
            <a:off x="533400" y="1244501"/>
            <a:ext cx="7125929" cy="967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" type="body"/>
          </p:nvPr>
        </p:nvSpPr>
        <p:spPr>
          <a:xfrm>
            <a:off x="533400" y="2895130"/>
            <a:ext cx="7125929" cy="3328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_Layout 3_A">
  <p:cSld name="Title &amp; Content_Layout 3_A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/>
          <p:nvPr/>
        </p:nvSpPr>
        <p:spPr>
          <a:xfrm>
            <a:off x="5510213" y="2517775"/>
            <a:ext cx="1222375" cy="71438"/>
          </a:xfrm>
          <a:prstGeom prst="rect">
            <a:avLst/>
          </a:prstGeom>
          <a:solidFill>
            <a:srgbClr val="F9A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sign&#10;&#10;Description automatically generated" id="42" name="Google Shape;4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93325" y="387350"/>
            <a:ext cx="1557338" cy="67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" id="43" name="Google Shape;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868863"/>
            <a:ext cx="12192000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6"/>
          <p:cNvSpPr/>
          <p:nvPr>
            <p:ph idx="2" type="pic"/>
          </p:nvPr>
        </p:nvSpPr>
        <p:spPr>
          <a:xfrm flipH="1">
            <a:off x="-1173" y="0"/>
            <a:ext cx="5043948" cy="6428509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6"/>
          <p:cNvSpPr txBox="1"/>
          <p:nvPr>
            <p:ph type="title"/>
          </p:nvPr>
        </p:nvSpPr>
        <p:spPr>
          <a:xfrm>
            <a:off x="5469193" y="1244501"/>
            <a:ext cx="6182033" cy="967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5510979" y="2900363"/>
            <a:ext cx="6139683" cy="32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_Layout 3_B">
  <p:cSld name="Title &amp; Content_Layout 3_B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/>
          <p:nvPr/>
        </p:nvSpPr>
        <p:spPr>
          <a:xfrm>
            <a:off x="525463" y="2517775"/>
            <a:ext cx="1220787" cy="71438"/>
          </a:xfrm>
          <a:prstGeom prst="rect">
            <a:avLst/>
          </a:prstGeom>
          <a:solidFill>
            <a:srgbClr val="F9A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sign&#10;&#10;Description automatically generated" id="52" name="Google Shape;5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2600" y="222250"/>
            <a:ext cx="1557338" cy="67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5" id="53" name="Google Shape;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978400"/>
            <a:ext cx="12192000" cy="187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7"/>
          <p:cNvSpPr/>
          <p:nvPr>
            <p:ph idx="2" type="pic"/>
          </p:nvPr>
        </p:nvSpPr>
        <p:spPr>
          <a:xfrm>
            <a:off x="7148052" y="0"/>
            <a:ext cx="5043948" cy="6375161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7"/>
          <p:cNvSpPr txBox="1"/>
          <p:nvPr>
            <p:ph type="title"/>
          </p:nvPr>
        </p:nvSpPr>
        <p:spPr>
          <a:xfrm>
            <a:off x="483010" y="1244501"/>
            <a:ext cx="6182033" cy="967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24796" y="2900363"/>
            <a:ext cx="6139683" cy="32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_Layout 4_A">
  <p:cSld name="Title &amp; Content_Layout 4_A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/>
          <p:nvPr/>
        </p:nvSpPr>
        <p:spPr>
          <a:xfrm>
            <a:off x="4594225" y="2517775"/>
            <a:ext cx="1220788" cy="71438"/>
          </a:xfrm>
          <a:prstGeom prst="rect">
            <a:avLst/>
          </a:prstGeom>
          <a:solidFill>
            <a:srgbClr val="F9A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sign&#10;&#10;Description automatically generated" id="62" name="Google Shape;6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93325" y="222250"/>
            <a:ext cx="1557338" cy="67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" id="63" name="Google Shape;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7338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8"/>
          <p:cNvSpPr txBox="1"/>
          <p:nvPr>
            <p:ph type="title"/>
          </p:nvPr>
        </p:nvSpPr>
        <p:spPr>
          <a:xfrm>
            <a:off x="4525297" y="1244501"/>
            <a:ext cx="7125929" cy="967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0" y="363538"/>
            <a:ext cx="3224213" cy="599757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4525963" y="2900363"/>
            <a:ext cx="7124700" cy="32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6E21"/>
              </a:buClr>
              <a:buSzPts val="2000"/>
              <a:buFont typeface="Noto Sans Symbols"/>
              <a:buChar char="▪"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6E21"/>
              </a:buClr>
              <a:buSzPts val="1800"/>
              <a:buFont typeface="Noto Sans Symbols"/>
              <a:buChar char="▪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6E21"/>
              </a:buClr>
              <a:buSzPts val="1600"/>
              <a:buFont typeface="Noto Sans Symbols"/>
              <a:buChar char="▪"/>
              <a:defRPr sz="1600"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6E21"/>
              </a:buClr>
              <a:buSzPts val="1400"/>
              <a:buFont typeface="Noto Sans Symbols"/>
              <a:buChar char="▪"/>
              <a:defRPr sz="1400"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6E21"/>
              </a:buClr>
              <a:buSzPts val="1400"/>
              <a:buFont typeface="Noto Sans Symbols"/>
              <a:buChar char="▪"/>
              <a:defRPr sz="14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_Layout 4_B">
  <p:cSld name="Title &amp; Content_Layout 4_B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/>
          <p:nvPr/>
        </p:nvSpPr>
        <p:spPr>
          <a:xfrm>
            <a:off x="752475" y="2517775"/>
            <a:ext cx="1220788" cy="71438"/>
          </a:xfrm>
          <a:prstGeom prst="rect">
            <a:avLst/>
          </a:prstGeom>
          <a:solidFill>
            <a:srgbClr val="F9A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sign&#10;&#10;Description automatically generated" id="72" name="Google Shape;7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2625" y="150813"/>
            <a:ext cx="1557338" cy="67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" id="73" name="Google Shape;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2488" y="0"/>
            <a:ext cx="37338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9"/>
          <p:cNvSpPr txBox="1"/>
          <p:nvPr>
            <p:ph type="title"/>
          </p:nvPr>
        </p:nvSpPr>
        <p:spPr>
          <a:xfrm>
            <a:off x="682970" y="1244501"/>
            <a:ext cx="7125929" cy="967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/>
          <p:nvPr>
            <p:ph idx="2" type="pic"/>
          </p:nvPr>
        </p:nvSpPr>
        <p:spPr>
          <a:xfrm>
            <a:off x="8967787" y="363538"/>
            <a:ext cx="3224213" cy="599757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683636" y="2900363"/>
            <a:ext cx="7124700" cy="32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6E21"/>
              </a:buClr>
              <a:buSzPts val="2000"/>
              <a:buFont typeface="Noto Sans Symbols"/>
              <a:buChar char="▪"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6E21"/>
              </a:buClr>
              <a:buSzPts val="1800"/>
              <a:buFont typeface="Noto Sans Symbols"/>
              <a:buChar char="▪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6E21"/>
              </a:buClr>
              <a:buSzPts val="1600"/>
              <a:buFont typeface="Noto Sans Symbols"/>
              <a:buChar char="▪"/>
              <a:defRPr sz="1600"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6E21"/>
              </a:buClr>
              <a:buSzPts val="1400"/>
              <a:buFont typeface="Noto Sans Symbols"/>
              <a:buChar char="▪"/>
              <a:defRPr sz="1400"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6E21"/>
              </a:buClr>
              <a:buSzPts val="1400"/>
              <a:buFont typeface="Noto Sans Symbols"/>
              <a:buChar char="▪"/>
              <a:defRPr sz="14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_Layout 6">
  <p:cSld name="Title &amp; Content_Layout 6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/>
          <p:nvPr/>
        </p:nvSpPr>
        <p:spPr>
          <a:xfrm>
            <a:off x="838200" y="2081213"/>
            <a:ext cx="1220788" cy="71437"/>
          </a:xfrm>
          <a:prstGeom prst="rect">
            <a:avLst/>
          </a:prstGeom>
          <a:solidFill>
            <a:srgbClr val="F9A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sign&#10;&#10;Description automatically generated" id="82" name="Google Shape;8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96463" y="222250"/>
            <a:ext cx="1557337" cy="673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20"/>
          <p:cNvCxnSpPr/>
          <p:nvPr/>
        </p:nvCxnSpPr>
        <p:spPr>
          <a:xfrm>
            <a:off x="6096000" y="2428875"/>
            <a:ext cx="0" cy="3748088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8" id="84" name="Google Shape;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518150"/>
            <a:ext cx="12192000" cy="13462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0"/>
          <p:cNvSpPr txBox="1"/>
          <p:nvPr>
            <p:ph idx="1" type="body"/>
          </p:nvPr>
        </p:nvSpPr>
        <p:spPr>
          <a:xfrm>
            <a:off x="838200" y="2429163"/>
            <a:ext cx="4985327" cy="3747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6E21"/>
              </a:buClr>
              <a:buSzPts val="2000"/>
              <a:buFont typeface="Noto Sans Symbols"/>
              <a:buChar char="▪"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6E21"/>
              </a:buClr>
              <a:buSzPts val="1800"/>
              <a:buFont typeface="Noto Sans Symbols"/>
              <a:buChar char="▪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6E21"/>
              </a:buClr>
              <a:buSzPts val="1600"/>
              <a:buFont typeface="Noto Sans Symbols"/>
              <a:buChar char="▪"/>
              <a:defRPr sz="1600"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6E21"/>
              </a:buClr>
              <a:buSzPts val="1400"/>
              <a:buFont typeface="Noto Sans Symbols"/>
              <a:buChar char="▪"/>
              <a:defRPr sz="1400"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6E21"/>
              </a:buClr>
              <a:buSzPts val="1400"/>
              <a:buFont typeface="Noto Sans Symbols"/>
              <a:buChar char="▪"/>
              <a:defRPr sz="14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type="title"/>
          </p:nvPr>
        </p:nvSpPr>
        <p:spPr>
          <a:xfrm>
            <a:off x="838200" y="1086144"/>
            <a:ext cx="10515600" cy="768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0"/>
          <p:cNvSpPr txBox="1"/>
          <p:nvPr>
            <p:ph idx="2" type="body"/>
          </p:nvPr>
        </p:nvSpPr>
        <p:spPr>
          <a:xfrm>
            <a:off x="6368473" y="2429162"/>
            <a:ext cx="4985327" cy="3747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6E21"/>
              </a:buClr>
              <a:buSzPts val="2000"/>
              <a:buFont typeface="Noto Sans Symbols"/>
              <a:buChar char="▪"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6E21"/>
              </a:buClr>
              <a:buSzPts val="1800"/>
              <a:buFont typeface="Noto Sans Symbols"/>
              <a:buChar char="▪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6E21"/>
              </a:buClr>
              <a:buSzPts val="1600"/>
              <a:buFont typeface="Noto Sans Symbols"/>
              <a:buChar char="▪"/>
              <a:defRPr sz="1600"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6E21"/>
              </a:buClr>
              <a:buSzPts val="1400"/>
              <a:buFont typeface="Noto Sans Symbols"/>
              <a:buChar char="▪"/>
              <a:defRPr sz="1400"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6E21"/>
              </a:buClr>
              <a:buSzPts val="1400"/>
              <a:buFont typeface="Noto Sans Symbols"/>
              <a:buChar char="▪"/>
              <a:defRPr sz="14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_Layout 5">
  <p:cSld name="Title &amp; Content_Layout 5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/>
          <p:nvPr/>
        </p:nvSpPr>
        <p:spPr>
          <a:xfrm>
            <a:off x="838200" y="2081213"/>
            <a:ext cx="1220788" cy="71437"/>
          </a:xfrm>
          <a:prstGeom prst="rect">
            <a:avLst/>
          </a:prstGeom>
          <a:solidFill>
            <a:srgbClr val="F9A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sign&#10;&#10;Description automatically generated" id="93" name="Google Shape;9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96463" y="222250"/>
            <a:ext cx="1557337" cy="67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9" id="94" name="Google Shape;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157788"/>
            <a:ext cx="12192000" cy="172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1"/>
          <p:cNvSpPr txBox="1"/>
          <p:nvPr>
            <p:ph idx="1" type="body"/>
          </p:nvPr>
        </p:nvSpPr>
        <p:spPr>
          <a:xfrm>
            <a:off x="838200" y="2429163"/>
            <a:ext cx="10515600" cy="3747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6E21"/>
              </a:buClr>
              <a:buSzPts val="2000"/>
              <a:buFont typeface="Noto Sans Symbols"/>
              <a:buChar char="▪"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6E21"/>
              </a:buClr>
              <a:buSzPts val="1800"/>
              <a:buFont typeface="Noto Sans Symbols"/>
              <a:buChar char="▪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6E21"/>
              </a:buClr>
              <a:buSzPts val="1600"/>
              <a:buFont typeface="Noto Sans Symbols"/>
              <a:buChar char="▪"/>
              <a:defRPr sz="1600"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6E21"/>
              </a:buClr>
              <a:buSzPts val="1400"/>
              <a:buFont typeface="Noto Sans Symbols"/>
              <a:buChar char="▪"/>
              <a:defRPr sz="1400"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26E21"/>
              </a:buClr>
              <a:buSzPts val="1400"/>
              <a:buFont typeface="Noto Sans Symbols"/>
              <a:buChar char="▪"/>
              <a:defRPr sz="14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type="title"/>
          </p:nvPr>
        </p:nvSpPr>
        <p:spPr>
          <a:xfrm>
            <a:off x="838200" y="1086144"/>
            <a:ext cx="10515600" cy="768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llery Content_Layout 1">
  <p:cSld name="Gallery Content_Layout 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/>
          <p:nvPr/>
        </p:nvSpPr>
        <p:spPr>
          <a:xfrm>
            <a:off x="838200" y="2081213"/>
            <a:ext cx="1220788" cy="71437"/>
          </a:xfrm>
          <a:prstGeom prst="rect">
            <a:avLst/>
          </a:prstGeom>
          <a:solidFill>
            <a:srgbClr val="F9A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sign&#10;&#10;Description automatically generated" id="102" name="Google Shape;10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96463" y="222250"/>
            <a:ext cx="1557337" cy="67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2"/>
          <p:cNvSpPr txBox="1"/>
          <p:nvPr>
            <p:ph type="title"/>
          </p:nvPr>
        </p:nvSpPr>
        <p:spPr>
          <a:xfrm>
            <a:off x="838200" y="1086144"/>
            <a:ext cx="10515600" cy="768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2"/>
          <p:cNvSpPr/>
          <p:nvPr>
            <p:ph idx="2" type="pic"/>
          </p:nvPr>
        </p:nvSpPr>
        <p:spPr>
          <a:xfrm>
            <a:off x="838200" y="2351756"/>
            <a:ext cx="3200400" cy="1908175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2"/>
          <p:cNvSpPr/>
          <p:nvPr>
            <p:ph idx="3" type="pic"/>
          </p:nvPr>
        </p:nvSpPr>
        <p:spPr>
          <a:xfrm>
            <a:off x="4495800" y="2351756"/>
            <a:ext cx="3200400" cy="1908175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2"/>
          <p:cNvSpPr/>
          <p:nvPr>
            <p:ph idx="4" type="pic"/>
          </p:nvPr>
        </p:nvSpPr>
        <p:spPr>
          <a:xfrm>
            <a:off x="8153400" y="2351755"/>
            <a:ext cx="3200400" cy="1908175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2"/>
          <p:cNvSpPr/>
          <p:nvPr>
            <p:ph idx="5" type="pic"/>
          </p:nvPr>
        </p:nvSpPr>
        <p:spPr>
          <a:xfrm>
            <a:off x="838200" y="4401220"/>
            <a:ext cx="3200400" cy="1908175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2"/>
          <p:cNvSpPr/>
          <p:nvPr>
            <p:ph idx="6" type="pic"/>
          </p:nvPr>
        </p:nvSpPr>
        <p:spPr>
          <a:xfrm>
            <a:off x="4495800" y="4401220"/>
            <a:ext cx="3200400" cy="1908175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/>
          <p:nvPr>
            <p:ph idx="7" type="pic"/>
          </p:nvPr>
        </p:nvSpPr>
        <p:spPr>
          <a:xfrm>
            <a:off x="8153400" y="4401219"/>
            <a:ext cx="3200400" cy="1908175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_1">
  <p:cSld name="Thank you Slide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0" id="114" name="Google Shape;1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3"/>
          <p:cNvSpPr txBox="1"/>
          <p:nvPr>
            <p:ph type="title"/>
          </p:nvPr>
        </p:nvSpPr>
        <p:spPr>
          <a:xfrm>
            <a:off x="921327" y="2036545"/>
            <a:ext cx="430645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  <a:defRPr b="1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3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895350" y="3786908"/>
            <a:ext cx="4368800" cy="37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0" i="0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Relationship Id="rId5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"/>
          <p:cNvSpPr txBox="1"/>
          <p:nvPr>
            <p:ph type="ctrTitle"/>
          </p:nvPr>
        </p:nvSpPr>
        <p:spPr>
          <a:xfrm>
            <a:off x="442925" y="3203050"/>
            <a:ext cx="66612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Font typeface="Arial"/>
              <a:buNone/>
            </a:pPr>
            <a:r>
              <a:rPr lang="en-ID" sz="2600">
                <a:solidFill>
                  <a:srgbClr val="166433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PRODUK ANALISIS DAN REKOMENDASI PADA PLATFORM E-COMMERCE (SHOPEE) DENGAN MENGGUNAKAN RAG</a:t>
            </a:r>
            <a:endParaRPr sz="2600">
              <a:solidFill>
                <a:srgbClr val="16643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26" name="Google Shape;126;p1"/>
          <p:cNvSpPr txBox="1"/>
          <p:nvPr>
            <p:ph idx="1" type="subTitle"/>
          </p:nvPr>
        </p:nvSpPr>
        <p:spPr>
          <a:xfrm>
            <a:off x="442913" y="2271713"/>
            <a:ext cx="7000875" cy="452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D">
                <a:latin typeface="Titillium Web"/>
                <a:ea typeface="Titillium Web"/>
                <a:cs typeface="Titillium Web"/>
                <a:sym typeface="Titillium Web"/>
              </a:rPr>
              <a:t>Noven Austin - 2210101024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descr="A view of a city&#10;&#10;Description automatically generated" id="127" name="Google Shape;127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8278" r="28279" t="0"/>
          <a:stretch/>
        </p:blipFill>
        <p:spPr>
          <a:xfrm>
            <a:off x="7747000" y="0"/>
            <a:ext cx="4445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"/>
          <p:cNvSpPr txBox="1"/>
          <p:nvPr/>
        </p:nvSpPr>
        <p:spPr>
          <a:xfrm>
            <a:off x="338138" y="5568950"/>
            <a:ext cx="2014537" cy="246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PRU/SPMI/FR-BM-18/0222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e5e7a5eb9_0_20"/>
          <p:cNvSpPr txBox="1"/>
          <p:nvPr>
            <p:ph type="title"/>
          </p:nvPr>
        </p:nvSpPr>
        <p:spPr>
          <a:xfrm>
            <a:off x="563575" y="1994677"/>
            <a:ext cx="2501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ID" sz="50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Latar </a:t>
            </a:r>
            <a:endParaRPr sz="5000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ID" sz="50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belakang</a:t>
            </a:r>
            <a:endParaRPr sz="5000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134" name="Google Shape;134;g39e5e7a5eb9_0_20"/>
          <p:cNvPicPr preferRelativeResize="0"/>
          <p:nvPr/>
        </p:nvPicPr>
        <p:blipFill rotWithShape="1">
          <a:blip r:embed="rId3">
            <a:alphaModFix/>
          </a:blip>
          <a:srcRect b="0" l="0" r="497" t="0"/>
          <a:stretch/>
        </p:blipFill>
        <p:spPr>
          <a:xfrm>
            <a:off x="3370100" y="1863175"/>
            <a:ext cx="8742126" cy="4933799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72adeaa8b_1_4"/>
          <p:cNvSpPr txBox="1"/>
          <p:nvPr>
            <p:ph type="title"/>
          </p:nvPr>
        </p:nvSpPr>
        <p:spPr>
          <a:xfrm>
            <a:off x="563575" y="1994677"/>
            <a:ext cx="2501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ID" sz="50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Latar </a:t>
            </a:r>
            <a:endParaRPr sz="5000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ID" sz="50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belakang</a:t>
            </a:r>
            <a:endParaRPr sz="5000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140" name="Google Shape;140;g3a72adeaa8b_1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6025" y="1823025"/>
            <a:ext cx="8822225" cy="4972113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72adeaa8b_1_9"/>
          <p:cNvSpPr txBox="1"/>
          <p:nvPr>
            <p:ph type="title"/>
          </p:nvPr>
        </p:nvSpPr>
        <p:spPr>
          <a:xfrm>
            <a:off x="563575" y="1994677"/>
            <a:ext cx="2501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ID" sz="50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Latar </a:t>
            </a:r>
            <a:endParaRPr sz="5000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ID" sz="50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belakang</a:t>
            </a:r>
            <a:endParaRPr sz="5000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146" name="Google Shape;146;g3a72adeaa8b_1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900" y="1830675"/>
            <a:ext cx="8822228" cy="496321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72adeaa8b_1_16"/>
          <p:cNvSpPr txBox="1"/>
          <p:nvPr>
            <p:ph type="title"/>
          </p:nvPr>
        </p:nvSpPr>
        <p:spPr>
          <a:xfrm>
            <a:off x="563575" y="1994677"/>
            <a:ext cx="2501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ID" sz="50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Latar </a:t>
            </a:r>
            <a:endParaRPr sz="5000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ID" sz="50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belakang</a:t>
            </a:r>
            <a:endParaRPr sz="5000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2" name="Google Shape;152;g3a72adeaa8b_1_16"/>
          <p:cNvSpPr txBox="1"/>
          <p:nvPr>
            <p:ph idx="2" type="body"/>
          </p:nvPr>
        </p:nvSpPr>
        <p:spPr>
          <a:xfrm>
            <a:off x="5980125" y="1193000"/>
            <a:ext cx="6139800" cy="55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Sebuah survei dilakukan Zhong-Gang et al. mengungkapkan hampir 60% konsumen menjelajahi ulasan produk online setidaknya sekali seminggu dan 93% merasa bahwa ulasan tersebut membantu mereka dalam akurasi keputusan pembelian 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Sebuah riset menunjukkan dampak fatal dari ulasan negatif, keberadaan hanya satu ulasan negatif di halam produk dapat menurunkan probabilitas pembelian hingga 51,4%. Hal ini menegaskan bahwa ulasan negatif yang diabaikan dapat berdampak pada reputasi dan pendapatan toko.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Namun, ledakan jumlah ulasan menghadirkan tantangan tersendiri. Informasi yang tersedia melebihi kapasitas dimana manusia dapat memprosesnya secara manual. Mayoritas data ini, sekitar 80% hingga 90% dari total data, merupakan data tidak terstruktur yang sulit dikelola. Sementara itu, rata-rata kemampuan kognitif manusia dalam kecepatan membaca hanya berkisar 238 kata per menit.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Untuk mengatasi masalah kelebihan informasi ini, teknologi Natural Language Processing (NLP) dan Large Language Models (LLM) telah banyak diterapkan.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Konsep RAG memungkinkan sistem untuk mengambil informasi relevan dari ulasan produk secara </a:t>
            </a:r>
            <a:r>
              <a:rPr i="1" lang="en-ID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</a:t>
            </a:r>
            <a:r>
              <a:rPr lang="en-ID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 menggunakannya sebagai dasar untuk menghasilkan analisis serta rekomendasi yang akurat. 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"/>
          <p:cNvSpPr txBox="1"/>
          <p:nvPr>
            <p:ph type="title"/>
          </p:nvPr>
        </p:nvSpPr>
        <p:spPr>
          <a:xfrm>
            <a:off x="533400" y="1244600"/>
            <a:ext cx="7126288" cy="966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ID" sz="4200">
                <a:latin typeface="Titillium Web"/>
                <a:ea typeface="Titillium Web"/>
                <a:cs typeface="Titillium Web"/>
                <a:sym typeface="Titillium Web"/>
              </a:rPr>
              <a:t>Rumusan Masalah</a:t>
            </a:r>
            <a:endParaRPr sz="42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8" name="Google Shape;158;p3"/>
          <p:cNvSpPr txBox="1"/>
          <p:nvPr>
            <p:ph idx="1" type="body"/>
          </p:nvPr>
        </p:nvSpPr>
        <p:spPr>
          <a:xfrm>
            <a:off x="533400" y="2665278"/>
            <a:ext cx="7722900" cy="41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-ID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Bagaimana merancang dan membangun arsitektur sistem Retrieval-Augmented Generation (RAG) untuk menganalisis ulasan produk pada platform Shopee?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-ID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Bagaimana metode </a:t>
            </a:r>
            <a:r>
              <a:rPr i="1" lang="en-ID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</a:t>
            </a:r>
            <a:r>
              <a:rPr lang="en-ID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dapat diimplementasikan dalam sistem untuk meningkatkan kualitas analisis dan rekomendasi ulasan?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-ID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Bagaimana model besar bahasa (LLM) dapat diimplementasikan dalam sistem untuk meningkatkan kualitas analisis dan rekomendasi ulasan?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9" name="Google Shape;15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2875" y="1800950"/>
            <a:ext cx="3569125" cy="390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4" title="image_2025-10-30_062804671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8995" l="0" r="0" t="9003"/>
          <a:stretch/>
        </p:blipFill>
        <p:spPr>
          <a:xfrm flipH="1">
            <a:off x="-1588" y="0"/>
            <a:ext cx="5043488" cy="635158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4"/>
          <p:cNvSpPr txBox="1"/>
          <p:nvPr>
            <p:ph type="title"/>
          </p:nvPr>
        </p:nvSpPr>
        <p:spPr>
          <a:xfrm>
            <a:off x="5468938" y="1244600"/>
            <a:ext cx="6181725" cy="966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ID" sz="4200">
                <a:latin typeface="Titillium Web"/>
                <a:ea typeface="Titillium Web"/>
                <a:cs typeface="Titillium Web"/>
                <a:sym typeface="Titillium Web"/>
              </a:rPr>
              <a:t>Tujuan Penelitian</a:t>
            </a:r>
            <a:endParaRPr sz="42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6" name="Google Shape;166;p4"/>
          <p:cNvSpPr txBox="1"/>
          <p:nvPr>
            <p:ph idx="1" type="body"/>
          </p:nvPr>
        </p:nvSpPr>
        <p:spPr>
          <a:xfrm>
            <a:off x="5500485" y="2708950"/>
            <a:ext cx="5842152" cy="32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ID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Merancang arsitektur sistem Retrieval-Augmented Generation (RAG) yang mengintegrasikan komponen retrieval untuk pencarian konteks relevan dan </a:t>
            </a:r>
            <a:r>
              <a:rPr i="1" lang="en-ID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generation</a:t>
            </a:r>
            <a:r>
              <a:rPr lang="en-ID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berbasis </a:t>
            </a:r>
            <a:r>
              <a:rPr i="1" lang="en-ID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Language Model</a:t>
            </a:r>
            <a:r>
              <a:rPr lang="en-ID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(LLM) dalam satu </a:t>
            </a:r>
            <a:r>
              <a:rPr i="1" lang="en-ID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pipeline</a:t>
            </a:r>
            <a:r>
              <a:rPr lang="en-ID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guna menghasilkan analisis dan rekomendasi ulasan produk Shopee yang akurat.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ID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Menerapkan metode </a:t>
            </a:r>
            <a:r>
              <a:rPr i="1" lang="en-ID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</a:t>
            </a:r>
            <a:r>
              <a:rPr lang="en-ID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 model LLM untuk mengoptimalkan proses pengambilan informasi serta generasi teks agar sistem mampu memahami konteks ulasan pengguna dan menghasilkan ringkasan serta rekomendasi yang relevan.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ID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Mengevaluasi performa sistem RAG secara menyeluruh dengan mengukur efektivitas modul </a:t>
            </a:r>
            <a:r>
              <a:rPr i="1" lang="en-ID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</a:t>
            </a:r>
            <a:r>
              <a:rPr lang="en-ID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 kualitas keluaran generatif menggunakan metrik yang menilai presisi konteks, recall konteks, relevansi jawaban, dan kesetiaan.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7600" y="4964163"/>
            <a:ext cx="1685925" cy="124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5"/>
          <p:cNvSpPr txBox="1"/>
          <p:nvPr>
            <p:ph idx="1" type="body"/>
          </p:nvPr>
        </p:nvSpPr>
        <p:spPr>
          <a:xfrm>
            <a:off x="504000" y="2678213"/>
            <a:ext cx="61389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tillium Web"/>
              <a:buChar char="●"/>
            </a:pPr>
            <a:r>
              <a:rPr lang="en-ID" sz="13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Memperdalam pemahaman peneliti dalam bidang Natural Language Processing (NLP), Large Language Models (LLM), dan Retrieval-Augmented Generation (RAG).</a:t>
            </a:r>
            <a:endParaRPr sz="13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tillium Web"/>
              <a:buChar char="●"/>
            </a:pPr>
            <a:r>
              <a:rPr lang="en-ID" sz="13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Mengembangkan keterampilan dalam merancang, mengimplementasikan, dan mengevaluasi model Large Language Model (LLM) untuk analisis dan peringkasan ulasan produk secara otomatis.</a:t>
            </a:r>
            <a:endParaRPr sz="13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tillium Web"/>
              <a:buChar char="●"/>
            </a:pPr>
            <a:r>
              <a:rPr lang="en-ID" sz="13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Menyediakan solusi kecerdasan buatan yang membantu pemilik bisnis memperbaiki dan mengembangkan produk berdasarkan ulasan pembeli.</a:t>
            </a:r>
            <a:endParaRPr sz="13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tillium Web"/>
              <a:buChar char="●"/>
            </a:pPr>
            <a:r>
              <a:rPr lang="en-ID" sz="13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Menjadi referensi akademik bagi penelitian lanjutan terkait RAG, text summarization, dan sentiment analysis berbahasa Indonesia.</a:t>
            </a:r>
            <a:endParaRPr sz="13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173" name="Google Shape;173;p5" title="image_2025-10-30_062909013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28601" r="28606" t="0"/>
          <a:stretch/>
        </p:blipFill>
        <p:spPr>
          <a:xfrm>
            <a:off x="7148513" y="0"/>
            <a:ext cx="5043488" cy="635634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5"/>
          <p:cNvSpPr txBox="1"/>
          <p:nvPr>
            <p:ph type="title"/>
          </p:nvPr>
        </p:nvSpPr>
        <p:spPr>
          <a:xfrm>
            <a:off x="482600" y="1244600"/>
            <a:ext cx="6181725" cy="966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ID" sz="4200">
                <a:latin typeface="Titillium Web"/>
                <a:ea typeface="Titillium Web"/>
                <a:cs typeface="Titillium Web"/>
                <a:sym typeface="Titillium Web"/>
              </a:rPr>
              <a:t>Manfaat Penelitian</a:t>
            </a:r>
            <a:endParaRPr sz="42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>
            <p:ph type="title"/>
          </p:nvPr>
        </p:nvSpPr>
        <p:spPr>
          <a:xfrm>
            <a:off x="682625" y="1244600"/>
            <a:ext cx="7126288" cy="966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ID" sz="4200">
                <a:latin typeface="Titillium Web"/>
                <a:ea typeface="Titillium Web"/>
                <a:cs typeface="Titillium Web"/>
                <a:sym typeface="Titillium Web"/>
              </a:rPr>
              <a:t>Objek Penelitian</a:t>
            </a:r>
            <a:endParaRPr sz="42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80" name="Google Shape;180;p7"/>
          <p:cNvSpPr txBox="1"/>
          <p:nvPr>
            <p:ph idx="1" type="body"/>
          </p:nvPr>
        </p:nvSpPr>
        <p:spPr>
          <a:xfrm>
            <a:off x="684213" y="2900363"/>
            <a:ext cx="7124700" cy="32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0" marL="469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ID">
                <a:latin typeface="Titillium Web"/>
                <a:ea typeface="Titillium Web"/>
                <a:cs typeface="Titillium Web"/>
                <a:sym typeface="Titillium Web"/>
              </a:rPr>
              <a:t>Pemilik toko online dalam platform e-commerce Shopee yang ingin melihat ringkasan ulasan produk dari pembeli, guna memperbaiki dan mengembangkan produk.</a:t>
            </a:r>
            <a:endParaRPr/>
          </a:p>
        </p:txBody>
      </p:sp>
      <p:pic>
        <p:nvPicPr>
          <p:cNvPr id="181" name="Google Shape;181;p7" title="image_2025-10-30_062954338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2086" r="32082" t="0"/>
          <a:stretch/>
        </p:blipFill>
        <p:spPr>
          <a:xfrm>
            <a:off x="8967788" y="363538"/>
            <a:ext cx="3224218" cy="5997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68ad94d98_0_0"/>
          <p:cNvSpPr txBox="1"/>
          <p:nvPr>
            <p:ph idx="1" type="body"/>
          </p:nvPr>
        </p:nvSpPr>
        <p:spPr>
          <a:xfrm>
            <a:off x="838200" y="2428875"/>
            <a:ext cx="4984800" cy="3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ID">
                <a:latin typeface="Titillium Web"/>
                <a:ea typeface="Titillium Web"/>
                <a:cs typeface="Titillium Web"/>
                <a:sym typeface="Titillium Web"/>
              </a:rPr>
              <a:t>Metode:</a:t>
            </a:r>
            <a:endParaRPr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b="1" lang="en-ID" sz="1100">
                <a:solidFill>
                  <a:schemeClr val="dk1"/>
                </a:solidFill>
              </a:rPr>
              <a:t>Research &amp; Development (R&amp;D)</a:t>
            </a:r>
            <a:br>
              <a:rPr b="1" lang="en-ID" sz="1100">
                <a:solidFill>
                  <a:schemeClr val="dk1"/>
                </a:solidFill>
              </a:rPr>
            </a:br>
            <a:r>
              <a:rPr lang="en-ID" sz="1100">
                <a:solidFill>
                  <a:schemeClr val="dk1"/>
                </a:solidFill>
              </a:rPr>
              <a:t>(Karena tujuan utama penelitian adalah merancang dan mengimplementasikan prototipe sistem baru berbasis RAG untuk analisis ulasan).</a:t>
            </a:r>
            <a:endParaRPr sz="1100">
              <a:solidFill>
                <a:schemeClr val="dk1"/>
              </a:solidFill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b="1" lang="en-ID" sz="1100">
                <a:solidFill>
                  <a:schemeClr val="dk1"/>
                </a:solidFill>
              </a:rPr>
              <a:t>Kuantitatif</a:t>
            </a:r>
            <a:br>
              <a:rPr b="1" lang="en-ID" sz="1100">
                <a:solidFill>
                  <a:schemeClr val="dk1"/>
                </a:solidFill>
              </a:rPr>
            </a:br>
            <a:r>
              <a:rPr lang="en-ID" sz="1100">
                <a:solidFill>
                  <a:schemeClr val="dk1"/>
                </a:solidFill>
              </a:rPr>
              <a:t>(Karena penelitian ini menggunakan data numerik untuk mengukur kinerja sistem menggunakan metrik evaluasi seperti Akurasi, Presisi, Recall, dan F1-Score).</a:t>
            </a:r>
            <a:endParaRPr sz="1100">
              <a:solidFill>
                <a:schemeClr val="dk1"/>
              </a:solidFill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b="1" lang="en-ID" sz="1100">
                <a:solidFill>
                  <a:schemeClr val="dk1"/>
                </a:solidFill>
              </a:rPr>
              <a:t>Eksperimen</a:t>
            </a:r>
            <a:br>
              <a:rPr b="1" lang="en-ID" sz="1100">
                <a:solidFill>
                  <a:schemeClr val="dk1"/>
                </a:solidFill>
              </a:rPr>
            </a:br>
            <a:r>
              <a:rPr lang="en-ID" sz="1100">
                <a:solidFill>
                  <a:schemeClr val="dk1"/>
                </a:solidFill>
              </a:rPr>
              <a:t>(Karena dilakukan pengujian variabel terkontrol (seperti metode retrieval dan model LLM) untuk melihat efeknya terhadap kualitas rekomendasi dan ringkasan).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87" name="Google Shape;187;g3a68ad94d98_0_0"/>
          <p:cNvSpPr txBox="1"/>
          <p:nvPr>
            <p:ph type="title"/>
          </p:nvPr>
        </p:nvSpPr>
        <p:spPr>
          <a:xfrm>
            <a:off x="838200" y="1085850"/>
            <a:ext cx="105156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ID" sz="4200">
                <a:latin typeface="Titillium Web"/>
                <a:ea typeface="Titillium Web"/>
                <a:cs typeface="Titillium Web"/>
                <a:sym typeface="Titillium Web"/>
              </a:rPr>
              <a:t>Metode dan Model Penelitian</a:t>
            </a:r>
            <a:endParaRPr sz="42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88" name="Google Shape;188;g3a68ad94d98_0_0"/>
          <p:cNvSpPr txBox="1"/>
          <p:nvPr>
            <p:ph idx="2" type="body"/>
          </p:nvPr>
        </p:nvSpPr>
        <p:spPr>
          <a:xfrm>
            <a:off x="6369050" y="2428875"/>
            <a:ext cx="4984800" cy="3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ID">
                <a:latin typeface="Titillium Web"/>
                <a:ea typeface="Titillium Web"/>
                <a:cs typeface="Titillium Web"/>
                <a:sym typeface="Titillium Web"/>
              </a:rPr>
              <a:t>Model penelitian:</a:t>
            </a:r>
            <a:endParaRPr/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lang="en-ID" sz="1100">
                <a:solidFill>
                  <a:schemeClr val="dk1"/>
                </a:solidFill>
              </a:rPr>
              <a:t>Pengumpulan Data</a:t>
            </a:r>
            <a:br>
              <a:rPr b="1" lang="en-ID" sz="1100">
                <a:solidFill>
                  <a:schemeClr val="dk1"/>
                </a:solidFill>
              </a:rPr>
            </a:br>
            <a:r>
              <a:rPr lang="en-ID" sz="1100">
                <a:solidFill>
                  <a:schemeClr val="dk1"/>
                </a:solidFill>
              </a:rPr>
              <a:t>(Melakukan pengambilan dataset ulasan produk via API 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lang="en-ID" sz="1100">
                <a:solidFill>
                  <a:schemeClr val="dk1"/>
                </a:solidFill>
              </a:rPr>
              <a:t>Analisis dan Perancangan</a:t>
            </a:r>
            <a:br>
              <a:rPr b="1" lang="en-ID" sz="1100">
                <a:solidFill>
                  <a:schemeClr val="dk1"/>
                </a:solidFill>
              </a:rPr>
            </a:br>
            <a:r>
              <a:rPr lang="en-ID" sz="1100">
                <a:solidFill>
                  <a:schemeClr val="dk1"/>
                </a:solidFill>
              </a:rPr>
              <a:t>(Menganalisis metode retrieval/embedding, melakukan pembersihan data (data cleaning), dan merancang arsitektur model RAG 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lang="en-ID" sz="1100">
                <a:solidFill>
                  <a:schemeClr val="dk1"/>
                </a:solidFill>
              </a:rPr>
              <a:t>Implementasi</a:t>
            </a:r>
            <a:br>
              <a:rPr b="1" lang="en-ID" sz="1100">
                <a:solidFill>
                  <a:schemeClr val="dk1"/>
                </a:solidFill>
              </a:rPr>
            </a:br>
            <a:r>
              <a:rPr lang="en-ID" sz="1100">
                <a:solidFill>
                  <a:schemeClr val="dk1"/>
                </a:solidFill>
              </a:rPr>
              <a:t>(Membangun sistem RAG dan mengintegrasikan retrieval module dengan generative module menggunakan dataset yang telah disiapkan 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lang="en-ID" sz="1100">
                <a:solidFill>
                  <a:schemeClr val="dk1"/>
                </a:solidFill>
              </a:rPr>
              <a:t>Evaluasi dan Analisis</a:t>
            </a:r>
            <a:br>
              <a:rPr b="1" lang="en-ID" sz="1100">
                <a:solidFill>
                  <a:schemeClr val="dk1"/>
                </a:solidFill>
              </a:rPr>
            </a:br>
            <a:r>
              <a:rPr lang="en-ID" sz="1100">
                <a:solidFill>
                  <a:schemeClr val="dk1"/>
                </a:solidFill>
              </a:rPr>
              <a:t>(Mengukur efektivitas sistem menggunakan metrik performa dan menganalisis hasil rekomendasi serta ringkasan yang dihasilkan ).</a:t>
            </a:r>
            <a:endParaRPr sz="1100">
              <a:solidFill>
                <a:schemeClr val="dk1"/>
              </a:solidFill>
            </a:endParaRPr>
          </a:p>
          <a:p>
            <a:pPr indent="-101600" lvl="0" marL="22860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68ad94d98_0_6"/>
          <p:cNvSpPr txBox="1"/>
          <p:nvPr>
            <p:ph type="title"/>
          </p:nvPr>
        </p:nvSpPr>
        <p:spPr>
          <a:xfrm>
            <a:off x="838200" y="1434150"/>
            <a:ext cx="105156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ID" sz="4200">
                <a:latin typeface="Titillium Web"/>
                <a:ea typeface="Titillium Web"/>
                <a:cs typeface="Titillium Web"/>
                <a:sym typeface="Titillium Web"/>
              </a:rPr>
              <a:t>Alur Penelitian</a:t>
            </a:r>
            <a:endParaRPr sz="42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g3a72adeaa8b_1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00" y="-15662"/>
            <a:ext cx="12104601" cy="688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68ad94d98_0_11"/>
          <p:cNvSpPr txBox="1"/>
          <p:nvPr>
            <p:ph type="title"/>
          </p:nvPr>
        </p:nvSpPr>
        <p:spPr>
          <a:xfrm>
            <a:off x="838200" y="1085850"/>
            <a:ext cx="105156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ID" sz="4200">
                <a:latin typeface="Titillium Web"/>
                <a:ea typeface="Titillium Web"/>
                <a:cs typeface="Titillium Web"/>
                <a:sym typeface="Titillium Web"/>
              </a:rPr>
              <a:t>Jadwal Penelitian</a:t>
            </a:r>
            <a:endParaRPr sz="42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204" name="Google Shape;204;g3a68ad94d98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55800"/>
            <a:ext cx="11887202" cy="2758052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72adeaa8b_1_27"/>
          <p:cNvSpPr txBox="1"/>
          <p:nvPr>
            <p:ph type="title"/>
          </p:nvPr>
        </p:nvSpPr>
        <p:spPr>
          <a:xfrm>
            <a:off x="838200" y="1085850"/>
            <a:ext cx="105156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ID" sz="4200">
                <a:latin typeface="Titillium Web"/>
                <a:ea typeface="Titillium Web"/>
                <a:cs typeface="Titillium Web"/>
                <a:sym typeface="Titillium Web"/>
              </a:rPr>
              <a:t>Progres</a:t>
            </a:r>
            <a:endParaRPr sz="42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210" name="Google Shape;210;g3a72adeaa8b_1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2305050"/>
            <a:ext cx="6155900" cy="166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a72adeaa8b_1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200" y="4112050"/>
            <a:ext cx="6155901" cy="1692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a72adeaa8b_1_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6000" y="3738200"/>
            <a:ext cx="4878575" cy="52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72adeaa8b_1_46"/>
          <p:cNvSpPr txBox="1"/>
          <p:nvPr>
            <p:ph type="title"/>
          </p:nvPr>
        </p:nvSpPr>
        <p:spPr>
          <a:xfrm>
            <a:off x="838200" y="1085850"/>
            <a:ext cx="105156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ID" sz="4200">
                <a:latin typeface="Titillium Web"/>
                <a:ea typeface="Titillium Web"/>
                <a:cs typeface="Titillium Web"/>
                <a:sym typeface="Titillium Web"/>
              </a:rPr>
              <a:t>Progres</a:t>
            </a:r>
            <a:endParaRPr sz="42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218" name="Google Shape;218;g3a72adeaa8b_1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175" y="2197250"/>
            <a:ext cx="60960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3a72adeaa8b_1_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4175" y="2735425"/>
            <a:ext cx="5593026" cy="3495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 txBox="1"/>
          <p:nvPr>
            <p:ph type="title"/>
          </p:nvPr>
        </p:nvSpPr>
        <p:spPr>
          <a:xfrm>
            <a:off x="920750" y="2036763"/>
            <a:ext cx="4306888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rPr lang="en-ID">
                <a:latin typeface="Titillium Web"/>
                <a:ea typeface="Titillium Web"/>
                <a:cs typeface="Titillium Web"/>
                <a:sym typeface="Titillium Web"/>
              </a:rPr>
              <a:t>Terima Kasih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225" name="Google Shape;225;p11" title="image_2025-10-30_062722742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367" r="20373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1"/>
          <p:cNvSpPr txBox="1"/>
          <p:nvPr>
            <p:ph idx="1" type="body"/>
          </p:nvPr>
        </p:nvSpPr>
        <p:spPr>
          <a:xfrm>
            <a:off x="895350" y="3786188"/>
            <a:ext cx="43688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2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2023-05-23T17:55:11Z</dcterms:created>
  <dc:creator>Pius Eliezer Latief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0366369CA4C04B968DDB34CD1D4BEED3</vt:lpwstr>
  </property>
  <property fmtid="{D5CDD505-2E9C-101B-9397-08002B2CF9AE}" pid="3" name="KSOProductBuildVer">
    <vt:lpwstr>1033-11.2.0.11537</vt:lpwstr>
  </property>
</Properties>
</file>